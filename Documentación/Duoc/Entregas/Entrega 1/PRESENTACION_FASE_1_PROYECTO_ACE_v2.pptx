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Tomás Escalante — Bloque 1 (00:00 a 05:00).
Apertura: 'Buenos días. Presentamos ACE, Autonomous Content Engine, un proyecto de ingeniería de software desarrollado para una necesidad operativa real de Lumina Motion Studio.'
No leer los nombres del equipo: ya están en pantalla.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Tomás Escalante.
Pasar rápido (15 segundos). Solo marcar los tres bloques: problema y solución, planificación e ingeniería, y cierre con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Tomás Escalante.
Una sola idea: ACE centraliza la gestión y sostiene la reproducción sin internet.
Marco: asignatura PTY4614, Proyecto de Aplicación Práctica (Capstone), Ingeniería en Informática, Duoc UC Sede Antonio Varas.
No entrar todavía en tecnologías: eso viene en la slide 06, Mapa tecnológico.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Tomás Escalante.
Contexto y problema en una sola slide. Los tres dolores están tal cual en el informe (1.2.1):
1) Cargas y cambios manuales. 2) Fragmentación de herramientas. 3) Dependencia de conectividad.
Importante: no prometer cifras de ahorro. El informe dice explícitamente que los beneficios económicos se validan durante las pruebas con el cliente.
Si preguntan por pendrives: sí, parte de la operación usa carga manual en terreno, pero no cuantificamos qué porcentaje del parque.
Enlace a la siguiente: 'ACE ataca estos tres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Tomás Escalante. Esta es LA slide del bloque 1: dedicarle tiempo.
Explicar en lenguaje simple, sin tecnologías. Ir fila por fila: primero el dolor, después cómo ACE lo resuelve.
La tercera fila es la más importante y la que diferencia al proyecto: la pantalla no depende de internet para seguir emitiendo, porque el contenido ya está guardado en ella.
Si preguntan CÓMO se hace técnicamente: 'lo vemos en el mapa tecnológico, slide 06'. No adelantar Laravel, Reverb ni IndexedDB acá.
Decir 'sigue funcionando sin conexión con lo que ya tiene descargado', nunca 'funciona indefinidamente' ni 'tolerancia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Tomás Escalante (cierra bloque 1).
Son SEIS objetivos específicos, no cinco.
El objetivo general no está en pantalla a propósito: ya quedó explicado en la slide 03. Si el docente lo pide textual, es: 'Desarrollar una plataforma de gestión de cartelería digital para Lumina Motion que permita administrar de manera centralizada y remota las pantallas, el contenido y su programación en locaciones fijas, manteniendo la reproducción y permitiendo realizar cambios localmente cuando no exista conexión a internet.'
No leer los seis completos: nombrarlos y detenerse en OE4, que es el diferenciador.
OE5 es telemetría BÁSICA: conectividad, última comunicación y estado de sincronización. No es monitoreo de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Matías Salas — inicio del Bloque 2 (05:00 a 10:00).
Metodología iterativa e incremental inspirada en prácticas ágiles, en ciclos de dos semanas alineados a los hitos académicos. El informe (2.2.1) es deliberadamente prudente: la convención de ramas y pull requests se formaliza al iniciar la etapa de programación.
No decir 'Scrum' como si estuviéramos certificados: decir 'iterativo, inspirado en prácticas ágiles'.
Obsidian: es donde vive el backlog, las tareas y la documentación viva del proyecto. GitHub es para el código. Son dos herramientas con roles distintos.
PENDIENTE: incorporar Obsidian también al informe (sección 2.2.1).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Matías Salas.
Base: Anexo A - Carta Gantt ACE.xlsx (22 actividades entre el 10 de agosto y el 12 de diciembre de 2026). Las cuatro barras agrupan las seis etapas del Excel:
- Definición = etapa 1 (S1-S4)
- Diseño y construcción = etapas 2 y 3 (S5-S11)
- Resiliencia e integración = etapas 4 y 5 (S12-S15)
- Validación y defensa = etapa 6 (S16-S18)
No leer las 18 semanas. Nombrar las fases, los cuatro hitos y mencionar los dos checkpoints, que es lo que muestra control fino del plan:
- C1 (S6): decidir si la operación local se hace por NUC o desde un PC por LAN.
- C2 (S8): probar códecs, IndexedDB y reproducción en hardware real, temprano.
Fechas de hitos: H1 31-ago a 05-sep · H2 12 a 17-oct · H3 16 a 21-nov · H4 30-nov a 12-dic.
Si piden el detalle de una actividad, está en el Anexo A y en el informe (2.3 y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Matías Salas.
Ir por capa, no tecnología por tecnología. La pregunta que responde esta slide es '¿para qué sirve cada cosa?', no '¿qué usamos?'.
Justificaciones si preguntan:
- Laravel + MariaDB: el dominio es relacional y jerárquico (locación, sector, pantalla) y necesitamos transacciones para validar solapamientos horarios.
- Filament v5: acelera el panel administrativo sobre Laravel.
- Reverb + WebSockets: canal en tiempo real para cambios y telemetría.
- IndexedDB: almacenamiento local estructurado en el NUC; es lo que sostiene el offline.
- SHA-256: verificación de integridad antes de reproducir.
El informe no fija número de versión de Laravel; no comprometerse con uno en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Matías Salas.
Esta slide responde directamente al indicador de perfil de egreso. Está en el informe (1.3) como tabla completa.
No leer las cuatro: nombrarlas y dar UN ejemplo concreto de cada una. La comisión quiere ver que el proyecto no es solo código, sino que articula las competencias del plan.
Cada competencia tiene su evidencia asociada en el anexo de evidencias: C2 con el diagrama E-R y las migraciones, C3 con la colección Postman y OpenAPI, C4 con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Matías Salas.
Cuatro riesgos, cuatro mitigaciones. Están en el informe (1.5.4) con la misma redacción.
El de impacto alto es el único que amenaza el requisito no funcional central: si cae la red y no hay caché, hay pantalla en negro. Por eso la caché local no es un extra, es el corazón del diseño.
El riesgo de hardware se mitiga por dos vías: el emulador web nos desbloquea desde el día uno, y el checkpoint C2 de la semana 8 nos obliga a probar en NUC real temprano, no al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Paulo Loyola — inicio del Bloque 3 (10:00 a 15:00).
Seis controles, tomados del informe (2.6). La frase clave es 'proporcionales al alcance': no prometemos una auditoría de seguridad, definimos controles concretos y verificables para esta primera versión.
Distinción importante que puede preguntar la comisión: las personas entran con sesión de Laravel; los NUC NO usan sesión de usuario, usan un token de dispositivo revocable. Si un NUC se pierde o se cambia, se revoca ese token sin tocar las cuentas de nadie.
Si preguntan por datos personales: el sistema no gestiona datos del público; solo cuentas de operadores y administradores de Lumina.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Paulo Loyola.
IMPORTANTE: no dar cifras de ahorro ni decir que 'reduce a cero' nada. El informe (1.5.5) es explícito: el valor esperado es reducir fricción operativa, y los beneficios económicos se validan durante las pruebas.
Si el docente presiona por números: 'todavía no los tenemos medidos; forman parte de la validación con el cliente en la fase de pruebas'. Esa respuesta es más fuerte que inventar una cifra.
Tampoco nombrar productos comerciales de terceros como reemplazados: no está en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Paulo Loyola.
Mostrar, no leer. Señalar en pantalla:
- Agrupación por locación y sector.
- Semáforo de conexión de cada NUC.
- Indicador de contenido en caché.
- Playlist en emisión en ese momento.
Aclarar que es un prototipo de interfaz (mockup), no la aplicación construida. Estamos en Fase 1: esto define hacia dónde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Paulo Loyola.
Señalar:
- Vista semanal con una pista por pantalla o sector.
- Franjas horarias asignadas a playlists.
- Recurrencia semanal: la misma pauta se repite en los días elegidos.
El punto técnico fuerte: la validación bloquea solapamientos efectivos sobre un mismo destino. Eso se resuelve con transacciones en MariaDB, y por eso el modelo es relacional.
Prototipo de interfaz, no aplicación construida.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Paulo Loyola.
Señalar:
- Biblioteca acotada a la locación: un operador ve solo su contenido autorizado.
- Filtros por tipo de medio.
- Formatos admitidos: MP4 H.264, JPG, PNG y GIF.
- Cada archivo lleva su hash SHA-256 para verificar que llegó íntegro al NUC.
Prototipo de interfaz, no aplicación construida.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Paulo Loyola — cierre.
Cierre sugerido: 'La Fase 1 nos permitió definir el producto, el alcance y la planificación de ACE. La siguiente etapa construye la plataforma y el Player, verificando progresivamente la sincronización, los permisos y la continuidad offline. Quedamos atentos a sus preguntas.'
No prometer resultados que todavía no existen. Después de esta slide vienen los anexos: usarlos solo si preguntan.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Topología tomada de Documentación/Producto/Arquitectura.md.
Recorrido si lo piden:
1) El operador administra desde el panel Filament: locaciones, pantallas, medios, playlists y programación.
2) Laravel expone la API y persiste en MariaDB; los medios viven en el almacenamiento central.
3) Dos canales bajan a la locación: HTTPS/API para sincronizar y descargar por anticipado, y WSS/Reverb para empujar cambios en vivo y recibir telemetría.
4) El NUC verifica el checksum SHA-256, guarda medios y programación en IndexedDB y reproduce siempre desde esa caché, tanto online como offline.
Lo que queda ABIERTO y conviene decir si preguntan (está declarado como pendiente en el informe):
- Plataforma concreta del Player: PWA en modo kiosco, Electron u otra.
- Modalidad exacta de operación local por LAN: panel por NUC o un PC con panel único. Se decide en el checkpoint C1 de la semana 6.
- Proveedor de hosting y almacenamiento central.
No afirmar infraestructura de despliegue: todavía no está decidida.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Mostrar solo si la comisión pide definiciones. Todo el equipo debe dominar estos cinco términos.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Las seis evidencias están justificadas en el informe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Cuatro preguntas típicas. Las respuestas están alineadas al informe: ninguna promete resultados no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D18"/>
        </a:solidFill>
      </p:bgPr>
    </p:bg>
    <p:spTree>
      <p:nvGrpSpPr>
        <p:cNvPr id="1" name=""/>
        <p:cNvGrpSpPr/>
        <p:nvPr/>
      </p:nvGrpSpPr>
      <p:grpSpPr>
        <a:xfrm>
          <a:off x="0" y="0"/>
          <a:ext cx="0" cy="0"/>
          <a:chOff x="0" y="0"/>
          <a:chExt cx="0" cy="0"/>
        </a:xfrm>
      </p:grpSpPr>
      <p:sp>
        <p:nvSpPr>
          <p:cNvPr id="2" name="Text 0"/>
          <p:cNvSpPr txBox="1"/>
          <p:nvPr/>
        </p:nvSpPr>
        <p:spPr>
          <a:xfrm>
            <a:off x="685800" y="1874520"/>
            <a:ext cx="10817352" cy="274320"/>
          </a:xfrm>
          <a:prstGeom prst="rect">
            <a:avLst/>
          </a:prstGeom>
          <a:noFill/>
          <a:ln/>
        </p:spPr>
        <p:txBody>
          <a:bodyPr wrap="square" lIns="0" tIns="0" rIns="0" bIns="0" rtlCol="0" anchor="ctr"/>
          <a:lstStyle/>
          <a:p>
            <a:pPr indent="0" marL="0">
              <a:buNone/>
            </a:pPr>
            <a:r>
              <a:rPr lang="en-US" sz="1300" b="1" spc="200" kern="0" dirty="0">
                <a:solidFill>
                  <a:srgbClr val="E8590C"/>
                </a:solidFill>
                <a:latin typeface="Calibri" pitchFamily="34" charset="0"/>
                <a:ea typeface="Calibri" pitchFamily="34" charset="-122"/>
                <a:cs typeface="Calibri" pitchFamily="34" charset="-120"/>
              </a:rPr>
              <a:t>DEFENSA FASE 1  ·  PTY4614 CAPSTONE</a:t>
            </a:r>
            <a:endParaRPr lang="en-US" sz="1300" dirty="0"/>
          </a:p>
        </p:txBody>
      </p:sp>
      <p:sp>
        <p:nvSpPr>
          <p:cNvPr id="3" name="Text 1"/>
          <p:cNvSpPr txBox="1"/>
          <p:nvPr/>
        </p:nvSpPr>
        <p:spPr>
          <a:xfrm>
            <a:off x="685800" y="2240280"/>
            <a:ext cx="10817352" cy="86868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ACE · Autonomous Content Engine</a:t>
            </a:r>
            <a:endParaRPr lang="en-US" sz="4600" dirty="0"/>
          </a:p>
        </p:txBody>
      </p:sp>
      <p:sp>
        <p:nvSpPr>
          <p:cNvPr id="4" name="Text 2"/>
          <p:cNvSpPr txBox="1"/>
          <p:nvPr/>
        </p:nvSpPr>
        <p:spPr>
          <a:xfrm>
            <a:off x="685800" y="3200400"/>
            <a:ext cx="9692640" cy="457200"/>
          </a:xfrm>
          <a:prstGeom prst="rect">
            <a:avLst/>
          </a:prstGeom>
          <a:noFill/>
          <a:ln/>
        </p:spPr>
        <p:txBody>
          <a:bodyPr wrap="square" lIns="0" tIns="0" rIns="0" bIns="0" rtlCol="0" anchor="ctr"/>
          <a:lstStyle/>
          <a:p>
            <a:pPr indent="0" marL="0">
              <a:buNone/>
            </a:pPr>
            <a:r>
              <a:rPr lang="en-US" sz="2000" dirty="0">
                <a:solidFill>
                  <a:srgbClr val="98A2B3"/>
                </a:solidFill>
                <a:latin typeface="Calibri" pitchFamily="34" charset="0"/>
                <a:ea typeface="Calibri" pitchFamily="34" charset="-122"/>
                <a:cs typeface="Calibri" pitchFamily="34" charset="-120"/>
              </a:rPr>
              <a:t>Plataforma centralizada de gestión de cartelería digital con resiliencia offline</a:t>
            </a:r>
            <a:endParaRPr lang="en-US" sz="2000" dirty="0"/>
          </a:p>
        </p:txBody>
      </p:sp>
      <p:sp>
        <p:nvSpPr>
          <p:cNvPr id="5" name="Text 3"/>
          <p:cNvSpPr txBox="1"/>
          <p:nvPr/>
        </p:nvSpPr>
        <p:spPr>
          <a:xfrm>
            <a:off x="685800" y="4983480"/>
            <a:ext cx="10817352" cy="310896"/>
          </a:xfrm>
          <a:prstGeom prst="rect">
            <a:avLst/>
          </a:prstGeom>
          <a:noFill/>
          <a:ln/>
        </p:spPr>
        <p:txBody>
          <a:bodyPr wrap="square" lIns="0" tIns="0" rIns="0" bIns="0" rtlCol="0" anchor="ctr"/>
          <a:lstStyle/>
          <a:p>
            <a:pPr indent="0" marL="0">
              <a:buNone/>
            </a:pPr>
            <a:r>
              <a:rPr lang="en-US" sz="1600" dirty="0">
                <a:solidFill>
                  <a:srgbClr val="F2F4F7"/>
                </a:solidFill>
                <a:latin typeface="Calibri" pitchFamily="34" charset="0"/>
                <a:ea typeface="Calibri" pitchFamily="34" charset="-122"/>
                <a:cs typeface="Calibri" pitchFamily="34" charset="-120"/>
              </a:rPr>
              <a:t>Tomás Escalante  ·  Matías Salas  ·  Paulo Loyola</a:t>
            </a:r>
            <a:endParaRPr lang="en-US" sz="1600" dirty="0"/>
          </a:p>
        </p:txBody>
      </p:sp>
      <p:sp>
        <p:nvSpPr>
          <p:cNvPr id="6" name="Text 4"/>
          <p:cNvSpPr txBox="1"/>
          <p:nvPr/>
        </p:nvSpPr>
        <p:spPr>
          <a:xfrm>
            <a:off x="685800" y="5321808"/>
            <a:ext cx="10817352" cy="310896"/>
          </a:xfrm>
          <a:prstGeom prst="rect">
            <a:avLst/>
          </a:prstGeom>
          <a:noFill/>
          <a:ln/>
        </p:spPr>
        <p:txBody>
          <a:bodyPr wrap="square" lIns="0" tIns="0" rIns="0" bIns="0" rtlCol="0" anchor="ctr"/>
          <a:lstStyle/>
          <a:p>
            <a:pPr indent="0" marL="0">
              <a:buNone/>
            </a:pPr>
            <a:r>
              <a:rPr lang="en-US" sz="1300" dirty="0">
                <a:solidFill>
                  <a:srgbClr val="6B7688"/>
                </a:solidFill>
                <a:latin typeface="Calibri" pitchFamily="34" charset="0"/>
                <a:ea typeface="Calibri" pitchFamily="34" charset="-122"/>
                <a:cs typeface="Calibri" pitchFamily="34" charset="-120"/>
              </a:rPr>
              <a:t>Duoc UC · Escuela de Informática y Telecomunicaciones · Sede Antonio Varas · Segundo semestre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828"/>
        </a:solidFill>
      </p:bgPr>
    </p:bg>
    <p:spTree>
      <p:nvGrpSpPr>
        <p:cNvPr id="1" name=""/>
        <p:cNvGrpSpPr/>
        <p:nvPr/>
      </p:nvGrpSpPr>
      <p:grpSpPr>
        <a:xfrm>
          <a:off x="0" y="0"/>
          <a:ext cx="0" cy="0"/>
          <a:chOff x="0" y="0"/>
          <a:chExt cx="0" cy="0"/>
        </a:xfrm>
      </p:grpSpPr>
      <p:sp>
        <p:nvSpPr>
          <p:cNvPr id="2" name="Text 0"/>
          <p:cNvSpPr txBox="1"/>
          <p:nvPr/>
        </p:nvSpPr>
        <p:spPr>
          <a:xfrm>
            <a:off x="685800" y="640080"/>
            <a:ext cx="10817352" cy="548640"/>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Índice</a:t>
            </a:r>
            <a:endParaRPr lang="en-US" sz="3300" dirty="0"/>
          </a:p>
        </p:txBody>
      </p:sp>
      <p:sp>
        <p:nvSpPr>
          <p:cNvPr id="3" name="Text 1"/>
          <p:cNvSpPr txBox="1"/>
          <p:nvPr/>
        </p:nvSpPr>
        <p:spPr>
          <a:xfrm>
            <a:off x="685800" y="1874520"/>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01</a:t>
            </a:r>
            <a:pPr indent="0" marL="0">
              <a:buNone/>
            </a:pPr>
            <a:r>
              <a:rPr lang="en-US" sz="1750" dirty="0">
                <a:solidFill>
                  <a:srgbClr val="F2F4F7"/>
                </a:solidFill>
                <a:latin typeface="Calibri" pitchFamily="34" charset="0"/>
                <a:ea typeface="Calibri" pitchFamily="34" charset="-122"/>
                <a:cs typeface="Calibri" pitchFamily="34" charset="-120"/>
              </a:rPr>
              <a:t>   Introducción</a:t>
            </a:r>
            <a:endParaRPr lang="en-US" sz="1400" dirty="0"/>
          </a:p>
        </p:txBody>
      </p:sp>
      <p:sp>
        <p:nvSpPr>
          <p:cNvPr id="4" name="Text 2"/>
          <p:cNvSpPr txBox="1"/>
          <p:nvPr/>
        </p:nvSpPr>
        <p:spPr>
          <a:xfrm>
            <a:off x="685800" y="2496312"/>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02</a:t>
            </a:r>
            <a:pPr indent="0" marL="0">
              <a:buNone/>
            </a:pPr>
            <a:r>
              <a:rPr lang="en-US" sz="1750" dirty="0">
                <a:solidFill>
                  <a:srgbClr val="F2F4F7"/>
                </a:solidFill>
                <a:latin typeface="Calibri" pitchFamily="34" charset="0"/>
                <a:ea typeface="Calibri" pitchFamily="34" charset="-122"/>
                <a:cs typeface="Calibri" pitchFamily="34" charset="-120"/>
              </a:rPr>
              <a:t>   Contexto / Problemática</a:t>
            </a:r>
            <a:endParaRPr lang="en-US" sz="1400" dirty="0"/>
          </a:p>
        </p:txBody>
      </p:sp>
      <p:sp>
        <p:nvSpPr>
          <p:cNvPr id="5" name="Text 3"/>
          <p:cNvSpPr txBox="1"/>
          <p:nvPr/>
        </p:nvSpPr>
        <p:spPr>
          <a:xfrm>
            <a:off x="685800" y="3118104"/>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03</a:t>
            </a:r>
            <a:pPr indent="0" marL="0">
              <a:buNone/>
            </a:pPr>
            <a:r>
              <a:rPr lang="en-US" sz="1750" dirty="0">
                <a:solidFill>
                  <a:srgbClr val="F2F4F7"/>
                </a:solidFill>
                <a:latin typeface="Calibri" pitchFamily="34" charset="0"/>
                <a:ea typeface="Calibri" pitchFamily="34" charset="-122"/>
                <a:cs typeface="Calibri" pitchFamily="34" charset="-120"/>
              </a:rPr>
              <a:t>   Solución</a:t>
            </a:r>
            <a:endParaRPr lang="en-US" sz="1400" dirty="0"/>
          </a:p>
        </p:txBody>
      </p:sp>
      <p:sp>
        <p:nvSpPr>
          <p:cNvPr id="6" name="Text 4"/>
          <p:cNvSpPr txBox="1"/>
          <p:nvPr/>
        </p:nvSpPr>
        <p:spPr>
          <a:xfrm>
            <a:off x="685800" y="3739896"/>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04</a:t>
            </a:r>
            <a:pPr indent="0" marL="0">
              <a:buNone/>
            </a:pPr>
            <a:r>
              <a:rPr lang="en-US" sz="1750" dirty="0">
                <a:solidFill>
                  <a:srgbClr val="F2F4F7"/>
                </a:solidFill>
                <a:latin typeface="Calibri" pitchFamily="34" charset="0"/>
                <a:ea typeface="Calibri" pitchFamily="34" charset="-122"/>
                <a:cs typeface="Calibri" pitchFamily="34" charset="-120"/>
              </a:rPr>
              <a:t>   Objetivos</a:t>
            </a:r>
            <a:endParaRPr lang="en-US" sz="1400" dirty="0"/>
          </a:p>
        </p:txBody>
      </p:sp>
      <p:sp>
        <p:nvSpPr>
          <p:cNvPr id="7" name="Text 5"/>
          <p:cNvSpPr txBox="1"/>
          <p:nvPr/>
        </p:nvSpPr>
        <p:spPr>
          <a:xfrm>
            <a:off x="685800" y="4361688"/>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05</a:t>
            </a:r>
            <a:pPr indent="0" marL="0">
              <a:buNone/>
            </a:pPr>
            <a:r>
              <a:rPr lang="en-US" sz="1750" dirty="0">
                <a:solidFill>
                  <a:srgbClr val="F2F4F7"/>
                </a:solidFill>
                <a:latin typeface="Calibri" pitchFamily="34" charset="0"/>
                <a:ea typeface="Calibri" pitchFamily="34" charset="-122"/>
                <a:cs typeface="Calibri" pitchFamily="34" charset="-120"/>
              </a:rPr>
              <a:t>   Metodología, plan y roles</a:t>
            </a:r>
            <a:endParaRPr lang="en-US" sz="1400" dirty="0"/>
          </a:p>
        </p:txBody>
      </p:sp>
      <p:sp>
        <p:nvSpPr>
          <p:cNvPr id="8" name="Text 6"/>
          <p:cNvSpPr txBox="1"/>
          <p:nvPr/>
        </p:nvSpPr>
        <p:spPr>
          <a:xfrm>
            <a:off x="685800" y="4983480"/>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06</a:t>
            </a:r>
            <a:pPr indent="0" marL="0">
              <a:buNone/>
            </a:pPr>
            <a:r>
              <a:rPr lang="en-US" sz="1750" dirty="0">
                <a:solidFill>
                  <a:srgbClr val="F2F4F7"/>
                </a:solidFill>
                <a:latin typeface="Calibri" pitchFamily="34" charset="0"/>
                <a:ea typeface="Calibri" pitchFamily="34" charset="-122"/>
                <a:cs typeface="Calibri" pitchFamily="34" charset="-120"/>
              </a:rPr>
              <a:t>   Mapa tecnológico</a:t>
            </a:r>
            <a:endParaRPr lang="en-US" sz="1400" dirty="0"/>
          </a:p>
        </p:txBody>
      </p:sp>
      <p:sp>
        <p:nvSpPr>
          <p:cNvPr id="9" name="Text 7"/>
          <p:cNvSpPr txBox="1"/>
          <p:nvPr/>
        </p:nvSpPr>
        <p:spPr>
          <a:xfrm>
            <a:off x="6263640" y="1874520"/>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07</a:t>
            </a:r>
            <a:pPr indent="0" marL="0">
              <a:buNone/>
            </a:pPr>
            <a:r>
              <a:rPr lang="en-US" sz="1750" dirty="0">
                <a:solidFill>
                  <a:srgbClr val="F2F4F7"/>
                </a:solidFill>
                <a:latin typeface="Calibri" pitchFamily="34" charset="0"/>
                <a:ea typeface="Calibri" pitchFamily="34" charset="-122"/>
                <a:cs typeface="Calibri" pitchFamily="34" charset="-120"/>
              </a:rPr>
              <a:t>   Competencias</a:t>
            </a:r>
            <a:endParaRPr lang="en-US" sz="1400" dirty="0"/>
          </a:p>
        </p:txBody>
      </p:sp>
      <p:sp>
        <p:nvSpPr>
          <p:cNvPr id="10" name="Text 8"/>
          <p:cNvSpPr txBox="1"/>
          <p:nvPr/>
        </p:nvSpPr>
        <p:spPr>
          <a:xfrm>
            <a:off x="6263640" y="2496312"/>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08</a:t>
            </a:r>
            <a:pPr indent="0" marL="0">
              <a:buNone/>
            </a:pPr>
            <a:r>
              <a:rPr lang="en-US" sz="1750" dirty="0">
                <a:solidFill>
                  <a:srgbClr val="F2F4F7"/>
                </a:solidFill>
                <a:latin typeface="Calibri" pitchFamily="34" charset="0"/>
                <a:ea typeface="Calibri" pitchFamily="34" charset="-122"/>
                <a:cs typeface="Calibri" pitchFamily="34" charset="-120"/>
              </a:rPr>
              <a:t>   Riesgos</a:t>
            </a:r>
            <a:endParaRPr lang="en-US" sz="1400" dirty="0"/>
          </a:p>
        </p:txBody>
      </p:sp>
      <p:sp>
        <p:nvSpPr>
          <p:cNvPr id="11" name="Text 9"/>
          <p:cNvSpPr txBox="1"/>
          <p:nvPr/>
        </p:nvSpPr>
        <p:spPr>
          <a:xfrm>
            <a:off x="6263640" y="3118104"/>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09</a:t>
            </a:r>
            <a:pPr indent="0" marL="0">
              <a:buNone/>
            </a:pPr>
            <a:r>
              <a:rPr lang="en-US" sz="1750" dirty="0">
                <a:solidFill>
                  <a:srgbClr val="F2F4F7"/>
                </a:solidFill>
                <a:latin typeface="Calibri" pitchFamily="34" charset="0"/>
                <a:ea typeface="Calibri" pitchFamily="34" charset="-122"/>
                <a:cs typeface="Calibri" pitchFamily="34" charset="-120"/>
              </a:rPr>
              <a:t>   Seguridad</a:t>
            </a:r>
            <a:endParaRPr lang="en-US" sz="1400" dirty="0"/>
          </a:p>
        </p:txBody>
      </p:sp>
      <p:sp>
        <p:nvSpPr>
          <p:cNvPr id="12" name="Text 10"/>
          <p:cNvSpPr txBox="1"/>
          <p:nvPr/>
        </p:nvSpPr>
        <p:spPr>
          <a:xfrm>
            <a:off x="6263640" y="3739896"/>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10</a:t>
            </a:r>
            <a:pPr indent="0" marL="0">
              <a:buNone/>
            </a:pPr>
            <a:r>
              <a:rPr lang="en-US" sz="1750" dirty="0">
                <a:solidFill>
                  <a:srgbClr val="F2F4F7"/>
                </a:solidFill>
                <a:latin typeface="Calibri" pitchFamily="34" charset="0"/>
                <a:ea typeface="Calibri" pitchFamily="34" charset="-122"/>
                <a:cs typeface="Calibri" pitchFamily="34" charset="-120"/>
              </a:rPr>
              <a:t>   Modelo de negocio</a:t>
            </a:r>
            <a:endParaRPr lang="en-US" sz="1400" dirty="0"/>
          </a:p>
        </p:txBody>
      </p:sp>
      <p:sp>
        <p:nvSpPr>
          <p:cNvPr id="13" name="Text 11"/>
          <p:cNvSpPr txBox="1"/>
          <p:nvPr/>
        </p:nvSpPr>
        <p:spPr>
          <a:xfrm>
            <a:off x="6263640" y="4361688"/>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11</a:t>
            </a:r>
            <a:pPr indent="0" marL="0">
              <a:buNone/>
            </a:pPr>
            <a:r>
              <a:rPr lang="en-US" sz="1750" dirty="0">
                <a:solidFill>
                  <a:srgbClr val="F2F4F7"/>
                </a:solidFill>
                <a:latin typeface="Calibri" pitchFamily="34" charset="0"/>
                <a:ea typeface="Calibri" pitchFamily="34" charset="-122"/>
                <a:cs typeface="Calibri" pitchFamily="34" charset="-120"/>
              </a:rPr>
              <a:t>   Mockups</a:t>
            </a:r>
            <a:endParaRPr lang="en-US" sz="1400" dirty="0"/>
          </a:p>
        </p:txBody>
      </p:sp>
      <p:sp>
        <p:nvSpPr>
          <p:cNvPr id="14" name="Text 12"/>
          <p:cNvSpPr txBox="1"/>
          <p:nvPr/>
        </p:nvSpPr>
        <p:spPr>
          <a:xfrm>
            <a:off x="6263640" y="4983480"/>
            <a:ext cx="5212080" cy="438912"/>
          </a:xfrm>
          <a:prstGeom prst="rect">
            <a:avLst/>
          </a:prstGeom>
          <a:noFill/>
          <a:ln/>
        </p:spPr>
        <p:txBody>
          <a:bodyPr wrap="square" lIns="0" tIns="0" rIns="0" bIns="0" rtlCol="0" anchor="ctr"/>
          <a:lstStyle/>
          <a:p>
            <a:pPr indent="0" marL="0">
              <a:buNone/>
            </a:pPr>
            <a:r>
              <a:rPr lang="en-US" sz="1400" b="1" dirty="0">
                <a:solidFill>
                  <a:srgbClr val="E8590C"/>
                </a:solidFill>
                <a:latin typeface="Calibri" pitchFamily="34" charset="0"/>
                <a:ea typeface="Calibri" pitchFamily="34" charset="-122"/>
                <a:cs typeface="Calibri" pitchFamily="34" charset="-120"/>
              </a:rPr>
              <a:t>12</a:t>
            </a:r>
            <a:pPr indent="0" marL="0">
              <a:buNone/>
            </a:pPr>
            <a:r>
              <a:rPr lang="en-US" sz="1750" dirty="0">
                <a:solidFill>
                  <a:srgbClr val="F2F4F7"/>
                </a:solidFill>
                <a:latin typeface="Calibri" pitchFamily="34" charset="0"/>
                <a:ea typeface="Calibri" pitchFamily="34" charset="-122"/>
                <a:cs typeface="Calibri" pitchFamily="34" charset="-120"/>
              </a:rPr>
              <a:t>   Conclusión</a:t>
            </a:r>
            <a:endParaRPr lang="en-US" sz="1400" dirty="0"/>
          </a:p>
        </p:txBody>
      </p:sp>
      <p:sp>
        <p:nvSpPr>
          <p:cNvPr id="15" name="Text 13"/>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5B6474"/>
                </a:solidFill>
                <a:latin typeface="Calibri" pitchFamily="34" charset="0"/>
                <a:ea typeface="Calibri" pitchFamily="34" charset="-122"/>
                <a:cs typeface="Calibri" pitchFamily="34" charset="-120"/>
              </a:rPr>
              <a:t>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01</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Introducción</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Qué es ACE y en qué marco se desarrolla</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2</a:t>
            </a:r>
            <a:endParaRPr lang="en-US" sz="1050" dirty="0"/>
          </a:p>
        </p:txBody>
      </p:sp>
      <p:sp>
        <p:nvSpPr>
          <p:cNvPr id="7" name="Text 5"/>
          <p:cNvSpPr txBox="1"/>
          <p:nvPr/>
        </p:nvSpPr>
        <p:spPr>
          <a:xfrm>
            <a:off x="685800" y="1874520"/>
            <a:ext cx="10424160" cy="1188720"/>
          </a:xfrm>
          <a:prstGeom prst="rect">
            <a:avLst/>
          </a:prstGeom>
          <a:noFill/>
          <a:ln/>
        </p:spPr>
        <p:txBody>
          <a:bodyPr wrap="square" lIns="0" tIns="0" rIns="0" bIns="0" rtlCol="0" anchor="t"/>
          <a:lstStyle/>
          <a:p>
            <a:pPr indent="0" marL="0">
              <a:lnSpc>
                <a:spcPct val="120000"/>
              </a:lnSpc>
              <a:buNone/>
            </a:pPr>
            <a:r>
              <a:rPr lang="en-US" sz="2100" dirty="0">
                <a:solidFill>
                  <a:srgbClr val="101828"/>
                </a:solidFill>
                <a:latin typeface="Calibri" pitchFamily="34" charset="0"/>
                <a:ea typeface="Calibri" pitchFamily="34" charset="-122"/>
                <a:cs typeface="Calibri" pitchFamily="34" charset="-120"/>
              </a:rPr>
              <a:t>ACE administra pantallas, contenido y programación de forma centralizada y remota para Lumina Motion Studio, mantiene la reproducción y la posibilidad de cambios cuando no hay conexión a internet.</a:t>
            </a:r>
            <a:endParaRPr lang="en-US" sz="2100" dirty="0"/>
          </a:p>
        </p:txBody>
      </p:sp>
      <p:sp>
        <p:nvSpPr>
          <p:cNvPr id="8" name="Shape 6"/>
          <p:cNvSpPr/>
          <p:nvPr/>
        </p:nvSpPr>
        <p:spPr>
          <a:xfrm>
            <a:off x="685800" y="3611880"/>
            <a:ext cx="3422904" cy="1965960"/>
          </a:xfrm>
          <a:prstGeom prst="roundRect">
            <a:avLst>
              <a:gd name="adj" fmla="val 4651"/>
            </a:avLst>
          </a:prstGeom>
          <a:solidFill>
            <a:srgbClr val="F6F7F9"/>
          </a:solidFill>
          <a:ln/>
        </p:spPr>
      </p:sp>
      <p:sp>
        <p:nvSpPr>
          <p:cNvPr id="9" name="Text 7"/>
          <p:cNvSpPr txBox="1"/>
          <p:nvPr/>
        </p:nvSpPr>
        <p:spPr>
          <a:xfrm>
            <a:off x="1097280" y="3931920"/>
            <a:ext cx="2599944"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18 semanas</a:t>
            </a:r>
            <a:endParaRPr lang="en-US" sz="2800" dirty="0"/>
          </a:p>
        </p:txBody>
      </p:sp>
      <p:sp>
        <p:nvSpPr>
          <p:cNvPr id="10" name="Text 8"/>
          <p:cNvSpPr txBox="1"/>
          <p:nvPr/>
        </p:nvSpPr>
        <p:spPr>
          <a:xfrm>
            <a:off x="1097280" y="4526280"/>
            <a:ext cx="2599944" cy="868680"/>
          </a:xfrm>
          <a:prstGeom prst="rect">
            <a:avLst/>
          </a:prstGeom>
          <a:noFill/>
          <a:ln/>
        </p:spPr>
        <p:txBody>
          <a:bodyPr wrap="square" lIns="0" tIns="0" rIns="0" bIns="0" rtlCol="0" anchor="t"/>
          <a:lstStyle/>
          <a:p>
            <a:pPr indent="0" marL="0">
              <a:lnSpc>
                <a:spcPct val="110000"/>
              </a:lnSpc>
              <a:buNone/>
            </a:pPr>
            <a:r>
              <a:rPr lang="en-US" sz="1450" dirty="0">
                <a:solidFill>
                  <a:srgbClr val="475467"/>
                </a:solidFill>
                <a:latin typeface="Calibri" pitchFamily="34" charset="0"/>
                <a:ea typeface="Calibri" pitchFamily="34" charset="-122"/>
                <a:cs typeface="Calibri" pitchFamily="34" charset="-120"/>
              </a:rPr>
              <a:t>Cuatro hitos evaluativos y 22 actividades planificadas.</a:t>
            </a:r>
            <a:endParaRPr lang="en-US" sz="1450" dirty="0"/>
          </a:p>
        </p:txBody>
      </p:sp>
      <p:sp>
        <p:nvSpPr>
          <p:cNvPr id="11" name="Shape 9"/>
          <p:cNvSpPr/>
          <p:nvPr/>
        </p:nvSpPr>
        <p:spPr>
          <a:xfrm>
            <a:off x="4383024" y="3611880"/>
            <a:ext cx="3422904" cy="1965960"/>
          </a:xfrm>
          <a:prstGeom prst="roundRect">
            <a:avLst>
              <a:gd name="adj" fmla="val 4651"/>
            </a:avLst>
          </a:prstGeom>
          <a:solidFill>
            <a:srgbClr val="F6F7F9"/>
          </a:solidFill>
          <a:ln/>
        </p:spPr>
      </p:sp>
      <p:sp>
        <p:nvSpPr>
          <p:cNvPr id="12" name="Text 10"/>
          <p:cNvSpPr txBox="1"/>
          <p:nvPr/>
        </p:nvSpPr>
        <p:spPr>
          <a:xfrm>
            <a:off x="4794504" y="3931920"/>
            <a:ext cx="2599944"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6 objetivos</a:t>
            </a:r>
            <a:endParaRPr lang="en-US" sz="2800" dirty="0"/>
          </a:p>
        </p:txBody>
      </p:sp>
      <p:sp>
        <p:nvSpPr>
          <p:cNvPr id="13" name="Text 11"/>
          <p:cNvSpPr txBox="1"/>
          <p:nvPr/>
        </p:nvSpPr>
        <p:spPr>
          <a:xfrm>
            <a:off x="4794504" y="4526280"/>
            <a:ext cx="2599944" cy="868680"/>
          </a:xfrm>
          <a:prstGeom prst="rect">
            <a:avLst/>
          </a:prstGeom>
          <a:noFill/>
          <a:ln/>
        </p:spPr>
        <p:txBody>
          <a:bodyPr wrap="square" lIns="0" tIns="0" rIns="0" bIns="0" rtlCol="0" anchor="t"/>
          <a:lstStyle/>
          <a:p>
            <a:pPr indent="0" marL="0">
              <a:lnSpc>
                <a:spcPct val="110000"/>
              </a:lnSpc>
              <a:buNone/>
            </a:pPr>
            <a:r>
              <a:rPr lang="en-US" sz="1450" dirty="0">
                <a:solidFill>
                  <a:srgbClr val="475467"/>
                </a:solidFill>
                <a:latin typeface="Calibri" pitchFamily="34" charset="0"/>
                <a:ea typeface="Calibri" pitchFamily="34" charset="-122"/>
                <a:cs typeface="Calibri" pitchFamily="34" charset="-120"/>
              </a:rPr>
              <a:t>Específicos, desde la administración remota hasta la validación con el cliente.</a:t>
            </a:r>
            <a:endParaRPr lang="en-US" sz="1450" dirty="0"/>
          </a:p>
        </p:txBody>
      </p:sp>
      <p:sp>
        <p:nvSpPr>
          <p:cNvPr id="14" name="Shape 12"/>
          <p:cNvSpPr/>
          <p:nvPr/>
        </p:nvSpPr>
        <p:spPr>
          <a:xfrm>
            <a:off x="8080248" y="3611880"/>
            <a:ext cx="3422904" cy="1965960"/>
          </a:xfrm>
          <a:prstGeom prst="roundRect">
            <a:avLst>
              <a:gd name="adj" fmla="val 4651"/>
            </a:avLst>
          </a:prstGeom>
          <a:solidFill>
            <a:srgbClr val="F6F7F9"/>
          </a:solidFill>
          <a:ln/>
        </p:spPr>
      </p:sp>
      <p:sp>
        <p:nvSpPr>
          <p:cNvPr id="15" name="Text 13"/>
          <p:cNvSpPr txBox="1"/>
          <p:nvPr/>
        </p:nvSpPr>
        <p:spPr>
          <a:xfrm>
            <a:off x="8491728" y="3931920"/>
            <a:ext cx="2599944"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1 cliente real</a:t>
            </a:r>
            <a:endParaRPr lang="en-US" sz="2800" dirty="0"/>
          </a:p>
        </p:txBody>
      </p:sp>
      <p:sp>
        <p:nvSpPr>
          <p:cNvPr id="16" name="Text 14"/>
          <p:cNvSpPr txBox="1"/>
          <p:nvPr/>
        </p:nvSpPr>
        <p:spPr>
          <a:xfrm>
            <a:off x="8491728" y="4526280"/>
            <a:ext cx="2599944" cy="868680"/>
          </a:xfrm>
          <a:prstGeom prst="rect">
            <a:avLst/>
          </a:prstGeom>
          <a:noFill/>
          <a:ln/>
        </p:spPr>
        <p:txBody>
          <a:bodyPr wrap="square" lIns="0" tIns="0" rIns="0" bIns="0" rtlCol="0" anchor="t"/>
          <a:lstStyle/>
          <a:p>
            <a:pPr indent="0" marL="0">
              <a:lnSpc>
                <a:spcPct val="110000"/>
              </a:lnSpc>
              <a:buNone/>
            </a:pPr>
            <a:r>
              <a:rPr lang="en-US" sz="1450" dirty="0">
                <a:solidFill>
                  <a:srgbClr val="475467"/>
                </a:solidFill>
                <a:latin typeface="Calibri" pitchFamily="34" charset="0"/>
                <a:ea typeface="Calibri" pitchFamily="34" charset="-122"/>
                <a:cs typeface="Calibri" pitchFamily="34" charset="-120"/>
              </a:rPr>
              <a:t>Lumina Motion Studio, con contraparte técnica y pruebas en terreno.</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02</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Contexto / Problemática</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Dónde opera Lumina Motion y con qué restricciones</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3</a:t>
            </a:r>
            <a:endParaRPr lang="en-US" sz="1050" dirty="0"/>
          </a:p>
        </p:txBody>
      </p:sp>
      <p:sp>
        <p:nvSpPr>
          <p:cNvPr id="7" name="Text 5"/>
          <p:cNvSpPr txBox="1"/>
          <p:nvPr/>
        </p:nvSpPr>
        <p:spPr>
          <a:xfrm>
            <a:off x="685800" y="1783080"/>
            <a:ext cx="10424160" cy="502920"/>
          </a:xfrm>
          <a:prstGeom prst="rect">
            <a:avLst/>
          </a:prstGeom>
          <a:noFill/>
          <a:ln/>
        </p:spPr>
        <p:txBody>
          <a:bodyPr wrap="square" lIns="0" tIns="0" rIns="0" bIns="0" rtlCol="0" anchor="ctr"/>
          <a:lstStyle/>
          <a:p>
            <a:pPr indent="0" marL="0">
              <a:buNone/>
            </a:pPr>
            <a:r>
              <a:rPr lang="en-US" sz="1900" dirty="0">
                <a:solidFill>
                  <a:srgbClr val="101828"/>
                </a:solidFill>
                <a:latin typeface="Calibri" pitchFamily="34" charset="0"/>
                <a:ea typeface="Calibri" pitchFamily="34" charset="-122"/>
                <a:cs typeface="Calibri" pitchFamily="34" charset="-120"/>
              </a:rPr>
              <a:t>Lumina Motion Studio es un estudio multimedia que opera pantallas de cartelería digital en locaciones fijas.</a:t>
            </a:r>
            <a:endParaRPr lang="en-US" sz="1900" dirty="0"/>
          </a:p>
        </p:txBody>
      </p:sp>
      <p:sp>
        <p:nvSpPr>
          <p:cNvPr id="8" name="Shape 6"/>
          <p:cNvSpPr/>
          <p:nvPr/>
        </p:nvSpPr>
        <p:spPr>
          <a:xfrm>
            <a:off x="685800" y="2468880"/>
            <a:ext cx="3422904" cy="2377440"/>
          </a:xfrm>
          <a:prstGeom prst="roundRect">
            <a:avLst>
              <a:gd name="adj" fmla="val 3846"/>
            </a:avLst>
          </a:prstGeom>
          <a:solidFill>
            <a:srgbClr val="F6F7F9"/>
          </a:solidFill>
          <a:ln/>
        </p:spPr>
      </p:sp>
      <p:sp>
        <p:nvSpPr>
          <p:cNvPr id="9" name="Text 7"/>
          <p:cNvSpPr txBox="1"/>
          <p:nvPr/>
        </p:nvSpPr>
        <p:spPr>
          <a:xfrm>
            <a:off x="1097280" y="2743200"/>
            <a:ext cx="2599944" cy="621792"/>
          </a:xfrm>
          <a:prstGeom prst="rect">
            <a:avLst/>
          </a:prstGeom>
          <a:noFill/>
          <a:ln/>
        </p:spPr>
        <p:txBody>
          <a:bodyPr wrap="square" lIns="0" tIns="0" rIns="0" bIns="0" rtlCol="0" anchor="t"/>
          <a:lstStyle/>
          <a:p>
            <a:pPr indent="0" marL="0">
              <a:lnSpc>
                <a:spcPct val="105000"/>
              </a:lnSpc>
              <a:buNone/>
            </a:pPr>
            <a:r>
              <a:rPr lang="en-US" sz="1700" b="1" dirty="0">
                <a:solidFill>
                  <a:srgbClr val="101828"/>
                </a:solidFill>
                <a:latin typeface="Arial" pitchFamily="34" charset="0"/>
                <a:ea typeface="Arial" pitchFamily="34" charset="-122"/>
                <a:cs typeface="Arial" pitchFamily="34" charset="-120"/>
              </a:rPr>
              <a:t>Operación descentralizada</a:t>
            </a:r>
            <a:endParaRPr lang="en-US" sz="1700" dirty="0"/>
          </a:p>
        </p:txBody>
      </p:sp>
      <p:sp>
        <p:nvSpPr>
          <p:cNvPr id="10" name="Text 8"/>
          <p:cNvSpPr txBox="1"/>
          <p:nvPr/>
        </p:nvSpPr>
        <p:spPr>
          <a:xfrm>
            <a:off x="1097280" y="3419856"/>
            <a:ext cx="2599944" cy="1280160"/>
          </a:xfrm>
          <a:prstGeom prst="rect">
            <a:avLst/>
          </a:prstGeom>
          <a:noFill/>
          <a:ln/>
        </p:spPr>
        <p:txBody>
          <a:bodyPr wrap="square" lIns="0" tIns="0" rIns="0" bIns="0" rtlCol="0" anchor="t"/>
          <a:lstStyle/>
          <a:p>
            <a:pPr indent="0" marL="0">
              <a:lnSpc>
                <a:spcPct val="115000"/>
              </a:lnSpc>
              <a:buNone/>
            </a:pPr>
            <a:r>
              <a:rPr lang="en-US" sz="1550" dirty="0">
                <a:solidFill>
                  <a:srgbClr val="475467"/>
                </a:solidFill>
                <a:latin typeface="Calibri" pitchFamily="34" charset="0"/>
                <a:ea typeface="Calibri" pitchFamily="34" charset="-122"/>
                <a:cs typeface="Calibri" pitchFamily="34" charset="-120"/>
              </a:rPr>
              <a:t>Herramientas y procedimientos separados para gestionar el parque de pantallas.</a:t>
            </a:r>
            <a:endParaRPr lang="en-US" sz="1550" dirty="0"/>
          </a:p>
        </p:txBody>
      </p:sp>
      <p:sp>
        <p:nvSpPr>
          <p:cNvPr id="11" name="Shape 9"/>
          <p:cNvSpPr/>
          <p:nvPr/>
        </p:nvSpPr>
        <p:spPr>
          <a:xfrm>
            <a:off x="4383024" y="2468880"/>
            <a:ext cx="3422904" cy="2377440"/>
          </a:xfrm>
          <a:prstGeom prst="roundRect">
            <a:avLst>
              <a:gd name="adj" fmla="val 3846"/>
            </a:avLst>
          </a:prstGeom>
          <a:solidFill>
            <a:srgbClr val="F6F7F9"/>
          </a:solidFill>
          <a:ln/>
        </p:spPr>
      </p:sp>
      <p:sp>
        <p:nvSpPr>
          <p:cNvPr id="12" name="Text 10"/>
          <p:cNvSpPr txBox="1"/>
          <p:nvPr/>
        </p:nvSpPr>
        <p:spPr>
          <a:xfrm>
            <a:off x="4794504" y="2743200"/>
            <a:ext cx="2599944" cy="621792"/>
          </a:xfrm>
          <a:prstGeom prst="rect">
            <a:avLst/>
          </a:prstGeom>
          <a:noFill/>
          <a:ln/>
        </p:spPr>
        <p:txBody>
          <a:bodyPr wrap="square" lIns="0" tIns="0" rIns="0" bIns="0" rtlCol="0" anchor="t"/>
          <a:lstStyle/>
          <a:p>
            <a:pPr indent="0" marL="0">
              <a:lnSpc>
                <a:spcPct val="105000"/>
              </a:lnSpc>
              <a:buNone/>
            </a:pPr>
            <a:r>
              <a:rPr lang="en-US" sz="1700" b="1" dirty="0">
                <a:solidFill>
                  <a:srgbClr val="101828"/>
                </a:solidFill>
                <a:latin typeface="Arial" pitchFamily="34" charset="0"/>
                <a:ea typeface="Arial" pitchFamily="34" charset="-122"/>
                <a:cs typeface="Arial" pitchFamily="34" charset="-120"/>
              </a:rPr>
              <a:t>Intervención presencial</a:t>
            </a:r>
            <a:endParaRPr lang="en-US" sz="1700" dirty="0"/>
          </a:p>
        </p:txBody>
      </p:sp>
      <p:sp>
        <p:nvSpPr>
          <p:cNvPr id="13" name="Text 11"/>
          <p:cNvSpPr txBox="1"/>
          <p:nvPr/>
        </p:nvSpPr>
        <p:spPr>
          <a:xfrm>
            <a:off x="4794504" y="3419856"/>
            <a:ext cx="2599944" cy="1280160"/>
          </a:xfrm>
          <a:prstGeom prst="rect">
            <a:avLst/>
          </a:prstGeom>
          <a:noFill/>
          <a:ln/>
        </p:spPr>
        <p:txBody>
          <a:bodyPr wrap="square" lIns="0" tIns="0" rIns="0" bIns="0" rtlCol="0" anchor="t"/>
          <a:lstStyle/>
          <a:p>
            <a:pPr indent="0" marL="0">
              <a:lnSpc>
                <a:spcPct val="115000"/>
              </a:lnSpc>
              <a:buNone/>
            </a:pPr>
            <a:r>
              <a:rPr lang="en-US" sz="1550" dirty="0">
                <a:solidFill>
                  <a:srgbClr val="475467"/>
                </a:solidFill>
                <a:latin typeface="Calibri" pitchFamily="34" charset="0"/>
                <a:ea typeface="Calibri" pitchFamily="34" charset="-122"/>
                <a:cs typeface="Calibri" pitchFamily="34" charset="-120"/>
              </a:rPr>
              <a:t>Parte de los contenidos requiere carga o ajuste manual en la locación.</a:t>
            </a:r>
            <a:endParaRPr lang="en-US" sz="1550" dirty="0"/>
          </a:p>
        </p:txBody>
      </p:sp>
      <p:sp>
        <p:nvSpPr>
          <p:cNvPr id="14" name="Shape 12"/>
          <p:cNvSpPr/>
          <p:nvPr/>
        </p:nvSpPr>
        <p:spPr>
          <a:xfrm>
            <a:off x="8080248" y="2468880"/>
            <a:ext cx="3422904" cy="2377440"/>
          </a:xfrm>
          <a:prstGeom prst="roundRect">
            <a:avLst>
              <a:gd name="adj" fmla="val 3846"/>
            </a:avLst>
          </a:prstGeom>
          <a:solidFill>
            <a:srgbClr val="F6F7F9"/>
          </a:solidFill>
          <a:ln/>
        </p:spPr>
      </p:sp>
      <p:sp>
        <p:nvSpPr>
          <p:cNvPr id="15" name="Text 13"/>
          <p:cNvSpPr txBox="1"/>
          <p:nvPr/>
        </p:nvSpPr>
        <p:spPr>
          <a:xfrm>
            <a:off x="8491728" y="2743200"/>
            <a:ext cx="2599944" cy="621792"/>
          </a:xfrm>
          <a:prstGeom prst="rect">
            <a:avLst/>
          </a:prstGeom>
          <a:noFill/>
          <a:ln/>
        </p:spPr>
        <p:txBody>
          <a:bodyPr wrap="square" lIns="0" tIns="0" rIns="0" bIns="0" rtlCol="0" anchor="t"/>
          <a:lstStyle/>
          <a:p>
            <a:pPr indent="0" marL="0">
              <a:lnSpc>
                <a:spcPct val="105000"/>
              </a:lnSpc>
              <a:buNone/>
            </a:pPr>
            <a:r>
              <a:rPr lang="en-US" sz="1700" b="1" dirty="0">
                <a:solidFill>
                  <a:srgbClr val="101828"/>
                </a:solidFill>
                <a:latin typeface="Arial" pitchFamily="34" charset="0"/>
                <a:ea typeface="Arial" pitchFamily="34" charset="-122"/>
                <a:cs typeface="Arial" pitchFamily="34" charset="-120"/>
              </a:rPr>
              <a:t>Conectividad variable</a:t>
            </a:r>
            <a:endParaRPr lang="en-US" sz="1700" dirty="0"/>
          </a:p>
        </p:txBody>
      </p:sp>
      <p:sp>
        <p:nvSpPr>
          <p:cNvPr id="16" name="Text 14"/>
          <p:cNvSpPr txBox="1"/>
          <p:nvPr/>
        </p:nvSpPr>
        <p:spPr>
          <a:xfrm>
            <a:off x="8491728" y="3419856"/>
            <a:ext cx="2599944" cy="1280160"/>
          </a:xfrm>
          <a:prstGeom prst="rect">
            <a:avLst/>
          </a:prstGeom>
          <a:noFill/>
          <a:ln/>
        </p:spPr>
        <p:txBody>
          <a:bodyPr wrap="square" lIns="0" tIns="0" rIns="0" bIns="0" rtlCol="0" anchor="t"/>
          <a:lstStyle/>
          <a:p>
            <a:pPr indent="0" marL="0">
              <a:lnSpc>
                <a:spcPct val="115000"/>
              </a:lnSpc>
              <a:buNone/>
            </a:pPr>
            <a:r>
              <a:rPr lang="en-US" sz="1550" dirty="0">
                <a:solidFill>
                  <a:srgbClr val="475467"/>
                </a:solidFill>
                <a:latin typeface="Calibri" pitchFamily="34" charset="0"/>
                <a:ea typeface="Calibri" pitchFamily="34" charset="-122"/>
                <a:cs typeface="Calibri" pitchFamily="34" charset="-120"/>
              </a:rPr>
              <a:t>La red del recinto no está garantizada y puede caer durante la operación.</a:t>
            </a:r>
            <a:endParaRPr lang="en-US" sz="1550" dirty="0"/>
          </a:p>
        </p:txBody>
      </p:sp>
      <p:sp>
        <p:nvSpPr>
          <p:cNvPr id="17" name="Shape 15"/>
          <p:cNvSpPr/>
          <p:nvPr/>
        </p:nvSpPr>
        <p:spPr>
          <a:xfrm>
            <a:off x="685800" y="5074920"/>
            <a:ext cx="10817352" cy="868680"/>
          </a:xfrm>
          <a:prstGeom prst="roundRect">
            <a:avLst>
              <a:gd name="adj" fmla="val 10526"/>
            </a:avLst>
          </a:prstGeom>
          <a:solidFill>
            <a:srgbClr val="FDF0E8"/>
          </a:solidFill>
          <a:ln/>
        </p:spPr>
      </p:sp>
      <p:sp>
        <p:nvSpPr>
          <p:cNvPr id="18" name="Text 16"/>
          <p:cNvSpPr txBox="1"/>
          <p:nvPr/>
        </p:nvSpPr>
        <p:spPr>
          <a:xfrm>
            <a:off x="1143000" y="5074920"/>
            <a:ext cx="9902952" cy="868680"/>
          </a:xfrm>
          <a:prstGeom prst="rect">
            <a:avLst/>
          </a:prstGeom>
          <a:noFill/>
          <a:ln/>
        </p:spPr>
        <p:txBody>
          <a:bodyPr wrap="square" lIns="0" tIns="0" rIns="0" bIns="0" rtlCol="0" anchor="ctr"/>
          <a:lstStyle/>
          <a:p>
            <a:pPr indent="0" marL="0">
              <a:lnSpc>
                <a:spcPct val="120000"/>
              </a:lnSpc>
              <a:buNone/>
            </a:pPr>
            <a:r>
              <a:rPr lang="en-US" sz="1700" b="1" dirty="0">
                <a:solidFill>
                  <a:srgbClr val="E8590C"/>
                </a:solidFill>
                <a:latin typeface="Calibri" pitchFamily="34" charset="0"/>
                <a:ea typeface="Calibri" pitchFamily="34" charset="-122"/>
                <a:cs typeface="Calibri" pitchFamily="34" charset="-120"/>
              </a:rPr>
              <a:t>Consecuencia:  </a:t>
            </a:r>
            <a:pPr indent="0" marL="0">
              <a:lnSpc>
                <a:spcPct val="120000"/>
              </a:lnSpc>
              <a:buNone/>
            </a:pPr>
            <a:r>
              <a:rPr lang="en-US" sz="1700" dirty="0">
                <a:solidFill>
                  <a:srgbClr val="8A3A0B"/>
                </a:solidFill>
                <a:latin typeface="Calibri" pitchFamily="34" charset="0"/>
                <a:ea typeface="Calibri" pitchFamily="34" charset="-122"/>
                <a:cs typeface="Calibri" pitchFamily="34" charset="-120"/>
              </a:rPr>
              <a:t>más tiempo operativo y más riesgo de error en la coordinación de cambios.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03</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Solución</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Qué hace ACE y cómo resuelve cada punto</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4</a:t>
            </a:r>
            <a:endParaRPr lang="en-US" sz="1050" dirty="0"/>
          </a:p>
        </p:txBody>
      </p:sp>
      <p:sp>
        <p:nvSpPr>
          <p:cNvPr id="7" name="Text 5"/>
          <p:cNvSpPr txBox="1"/>
          <p:nvPr/>
        </p:nvSpPr>
        <p:spPr>
          <a:xfrm>
            <a:off x="1097280" y="1691640"/>
            <a:ext cx="3017520" cy="256032"/>
          </a:xfrm>
          <a:prstGeom prst="rect">
            <a:avLst/>
          </a:prstGeom>
          <a:noFill/>
          <a:ln/>
        </p:spPr>
        <p:txBody>
          <a:bodyPr wrap="square" lIns="0" tIns="0" rIns="0" bIns="0" rtlCol="0" anchor="ctr"/>
          <a:lstStyle/>
          <a:p>
            <a:pPr indent="0" marL="0">
              <a:buNone/>
            </a:pPr>
            <a:r>
              <a:rPr lang="en-US" sz="1150" b="1" spc="140" kern="0" dirty="0">
                <a:solidFill>
                  <a:srgbClr val="667085"/>
                </a:solidFill>
                <a:latin typeface="Calibri" pitchFamily="34" charset="0"/>
                <a:ea typeface="Calibri" pitchFamily="34" charset="-122"/>
                <a:cs typeface="Calibri" pitchFamily="34" charset="-120"/>
              </a:rPr>
              <a:t>HOY</a:t>
            </a:r>
            <a:endParaRPr lang="en-US" sz="1150" dirty="0"/>
          </a:p>
        </p:txBody>
      </p:sp>
      <p:sp>
        <p:nvSpPr>
          <p:cNvPr id="8" name="Text 6"/>
          <p:cNvSpPr txBox="1"/>
          <p:nvPr/>
        </p:nvSpPr>
        <p:spPr>
          <a:xfrm>
            <a:off x="4800600" y="1691640"/>
            <a:ext cx="3017520" cy="256032"/>
          </a:xfrm>
          <a:prstGeom prst="rect">
            <a:avLst/>
          </a:prstGeom>
          <a:noFill/>
          <a:ln/>
        </p:spPr>
        <p:txBody>
          <a:bodyPr wrap="square" lIns="0" tIns="0" rIns="0" bIns="0" rtlCol="0" anchor="ctr"/>
          <a:lstStyle/>
          <a:p>
            <a:pPr indent="0" marL="0">
              <a:buNone/>
            </a:pPr>
            <a:r>
              <a:rPr lang="en-US" sz="1150" b="1" spc="140" kern="0" dirty="0">
                <a:solidFill>
                  <a:srgbClr val="E8590C"/>
                </a:solidFill>
                <a:latin typeface="Calibri" pitchFamily="34" charset="0"/>
                <a:ea typeface="Calibri" pitchFamily="34" charset="-122"/>
                <a:cs typeface="Calibri" pitchFamily="34" charset="-120"/>
              </a:rPr>
              <a:t>CON ACE</a:t>
            </a:r>
            <a:endParaRPr lang="en-US" sz="1150" dirty="0"/>
          </a:p>
        </p:txBody>
      </p:sp>
      <p:sp>
        <p:nvSpPr>
          <p:cNvPr id="9" name="Shape 7"/>
          <p:cNvSpPr/>
          <p:nvPr/>
        </p:nvSpPr>
        <p:spPr>
          <a:xfrm>
            <a:off x="685800" y="2011680"/>
            <a:ext cx="10817352" cy="960120"/>
          </a:xfrm>
          <a:prstGeom prst="roundRect">
            <a:avLst>
              <a:gd name="adj" fmla="val 9524"/>
            </a:avLst>
          </a:prstGeom>
          <a:solidFill>
            <a:srgbClr val="F6F7F9"/>
          </a:solidFill>
          <a:ln/>
        </p:spPr>
      </p:sp>
      <p:sp>
        <p:nvSpPr>
          <p:cNvPr id="10" name="Text 8"/>
          <p:cNvSpPr txBox="1"/>
          <p:nvPr/>
        </p:nvSpPr>
        <p:spPr>
          <a:xfrm>
            <a:off x="1097280" y="2011680"/>
            <a:ext cx="3017520" cy="960120"/>
          </a:xfrm>
          <a:prstGeom prst="rect">
            <a:avLst/>
          </a:prstGeom>
          <a:noFill/>
          <a:ln/>
        </p:spPr>
        <p:txBody>
          <a:bodyPr wrap="square" lIns="0" tIns="0" rIns="0" bIns="0" rtlCol="0" anchor="ctr"/>
          <a:lstStyle/>
          <a:p>
            <a:pPr indent="0" marL="0">
              <a:lnSpc>
                <a:spcPct val="110000"/>
              </a:lnSpc>
              <a:buNone/>
            </a:pPr>
            <a:r>
              <a:rPr lang="en-US" sz="1500" dirty="0">
                <a:solidFill>
                  <a:srgbClr val="667085"/>
                </a:solidFill>
                <a:latin typeface="Calibri" pitchFamily="34" charset="0"/>
                <a:ea typeface="Calibri" pitchFamily="34" charset="-122"/>
                <a:cs typeface="Calibri" pitchFamily="34" charset="-120"/>
              </a:rPr>
              <a:t>Cada pantalla se administra por su lado.</a:t>
            </a:r>
            <a:endParaRPr lang="en-US" sz="1500" dirty="0"/>
          </a:p>
        </p:txBody>
      </p:sp>
      <p:sp>
        <p:nvSpPr>
          <p:cNvPr id="11" name="Shape 9"/>
          <p:cNvSpPr/>
          <p:nvPr/>
        </p:nvSpPr>
        <p:spPr>
          <a:xfrm>
            <a:off x="3977640" y="2491740"/>
            <a:ext cx="384048" cy="0"/>
          </a:xfrm>
          <a:prstGeom prst="line">
            <a:avLst/>
          </a:prstGeom>
          <a:noFill/>
          <a:ln w="25400">
            <a:solidFill>
              <a:srgbClr val="E8590C"/>
            </a:solidFill>
            <a:prstDash val="solid"/>
            <a:tailEnd type="triangle"/>
          </a:ln>
        </p:spPr>
      </p:sp>
      <p:sp>
        <p:nvSpPr>
          <p:cNvPr id="12" name="Text 10"/>
          <p:cNvSpPr txBox="1"/>
          <p:nvPr/>
        </p:nvSpPr>
        <p:spPr>
          <a:xfrm>
            <a:off x="4800600" y="2011680"/>
            <a:ext cx="6446520" cy="960120"/>
          </a:xfrm>
          <a:prstGeom prst="rect">
            <a:avLst/>
          </a:prstGeom>
          <a:noFill/>
          <a:ln/>
        </p:spPr>
        <p:txBody>
          <a:bodyPr wrap="square" lIns="0" tIns="0" rIns="0" bIns="0" rtlCol="0" anchor="ctr"/>
          <a:lstStyle/>
          <a:p>
            <a:pPr indent="0" marL="0">
              <a:lnSpc>
                <a:spcPct val="110000"/>
              </a:lnSpc>
              <a:buNone/>
            </a:pPr>
            <a:r>
              <a:rPr lang="en-US" sz="1650" b="1" dirty="0">
                <a:solidFill>
                  <a:srgbClr val="101828"/>
                </a:solidFill>
                <a:latin typeface="Calibri" pitchFamily="34" charset="0"/>
                <a:ea typeface="Calibri" pitchFamily="34" charset="-122"/>
                <a:cs typeface="Calibri" pitchFamily="34" charset="-120"/>
              </a:rPr>
              <a:t>Un solo panel para todas las pantallas, el contenido y los horarios.</a:t>
            </a:r>
            <a:endParaRPr lang="en-US" sz="1650" dirty="0"/>
          </a:p>
        </p:txBody>
      </p:sp>
      <p:sp>
        <p:nvSpPr>
          <p:cNvPr id="13" name="Shape 11"/>
          <p:cNvSpPr/>
          <p:nvPr/>
        </p:nvSpPr>
        <p:spPr>
          <a:xfrm>
            <a:off x="685800" y="3108960"/>
            <a:ext cx="10817352" cy="960120"/>
          </a:xfrm>
          <a:prstGeom prst="roundRect">
            <a:avLst>
              <a:gd name="adj" fmla="val 9524"/>
            </a:avLst>
          </a:prstGeom>
          <a:solidFill>
            <a:srgbClr val="F6F7F9"/>
          </a:solidFill>
          <a:ln/>
        </p:spPr>
      </p:sp>
      <p:sp>
        <p:nvSpPr>
          <p:cNvPr id="14" name="Text 12"/>
          <p:cNvSpPr txBox="1"/>
          <p:nvPr/>
        </p:nvSpPr>
        <p:spPr>
          <a:xfrm>
            <a:off x="1097280" y="3108960"/>
            <a:ext cx="3017520" cy="960120"/>
          </a:xfrm>
          <a:prstGeom prst="rect">
            <a:avLst/>
          </a:prstGeom>
          <a:noFill/>
          <a:ln/>
        </p:spPr>
        <p:txBody>
          <a:bodyPr wrap="square" lIns="0" tIns="0" rIns="0" bIns="0" rtlCol="0" anchor="ctr"/>
          <a:lstStyle/>
          <a:p>
            <a:pPr indent="0" marL="0">
              <a:lnSpc>
                <a:spcPct val="110000"/>
              </a:lnSpc>
              <a:buNone/>
            </a:pPr>
            <a:r>
              <a:rPr lang="en-US" sz="1500" dirty="0">
                <a:solidFill>
                  <a:srgbClr val="667085"/>
                </a:solidFill>
                <a:latin typeface="Calibri" pitchFamily="34" charset="0"/>
                <a:ea typeface="Calibri" pitchFamily="34" charset="-122"/>
                <a:cs typeface="Calibri" pitchFamily="34" charset="-120"/>
              </a:rPr>
              <a:t>Hay que ir a la locación para cambiar algo.</a:t>
            </a:r>
            <a:endParaRPr lang="en-US" sz="1500" dirty="0"/>
          </a:p>
        </p:txBody>
      </p:sp>
      <p:sp>
        <p:nvSpPr>
          <p:cNvPr id="15" name="Shape 13"/>
          <p:cNvSpPr/>
          <p:nvPr/>
        </p:nvSpPr>
        <p:spPr>
          <a:xfrm>
            <a:off x="3977640" y="3589020"/>
            <a:ext cx="384048" cy="0"/>
          </a:xfrm>
          <a:prstGeom prst="line">
            <a:avLst/>
          </a:prstGeom>
          <a:noFill/>
          <a:ln w="25400">
            <a:solidFill>
              <a:srgbClr val="E8590C"/>
            </a:solidFill>
            <a:prstDash val="solid"/>
            <a:tailEnd type="triangle"/>
          </a:ln>
        </p:spPr>
      </p:sp>
      <p:sp>
        <p:nvSpPr>
          <p:cNvPr id="16" name="Text 14"/>
          <p:cNvSpPr txBox="1"/>
          <p:nvPr/>
        </p:nvSpPr>
        <p:spPr>
          <a:xfrm>
            <a:off x="4800600" y="3108960"/>
            <a:ext cx="6446520" cy="960120"/>
          </a:xfrm>
          <a:prstGeom prst="rect">
            <a:avLst/>
          </a:prstGeom>
          <a:noFill/>
          <a:ln/>
        </p:spPr>
        <p:txBody>
          <a:bodyPr wrap="square" lIns="0" tIns="0" rIns="0" bIns="0" rtlCol="0" anchor="ctr"/>
          <a:lstStyle/>
          <a:p>
            <a:pPr indent="0" marL="0">
              <a:lnSpc>
                <a:spcPct val="110000"/>
              </a:lnSpc>
              <a:buNone/>
            </a:pPr>
            <a:r>
              <a:rPr lang="en-US" sz="1650" b="1" dirty="0">
                <a:solidFill>
                  <a:srgbClr val="101828"/>
                </a:solidFill>
                <a:latin typeface="Calibri" pitchFamily="34" charset="0"/>
                <a:ea typeface="Calibri" pitchFamily="34" charset="-122"/>
                <a:cs typeface="Calibri" pitchFamily="34" charset="-120"/>
              </a:rPr>
              <a:t>Los cambios se publican de forma remota y llegan solos a cada pantalla.</a:t>
            </a:r>
            <a:endParaRPr lang="en-US" sz="1650" dirty="0"/>
          </a:p>
        </p:txBody>
      </p:sp>
      <p:sp>
        <p:nvSpPr>
          <p:cNvPr id="17" name="Shape 15"/>
          <p:cNvSpPr/>
          <p:nvPr/>
        </p:nvSpPr>
        <p:spPr>
          <a:xfrm>
            <a:off x="685800" y="4206240"/>
            <a:ext cx="10817352" cy="960120"/>
          </a:xfrm>
          <a:prstGeom prst="roundRect">
            <a:avLst>
              <a:gd name="adj" fmla="val 9524"/>
            </a:avLst>
          </a:prstGeom>
          <a:solidFill>
            <a:srgbClr val="F6F7F9"/>
          </a:solidFill>
          <a:ln/>
        </p:spPr>
      </p:sp>
      <p:sp>
        <p:nvSpPr>
          <p:cNvPr id="18" name="Text 16"/>
          <p:cNvSpPr txBox="1"/>
          <p:nvPr/>
        </p:nvSpPr>
        <p:spPr>
          <a:xfrm>
            <a:off x="1097280" y="4206240"/>
            <a:ext cx="3017520" cy="960120"/>
          </a:xfrm>
          <a:prstGeom prst="rect">
            <a:avLst/>
          </a:prstGeom>
          <a:noFill/>
          <a:ln/>
        </p:spPr>
        <p:txBody>
          <a:bodyPr wrap="square" lIns="0" tIns="0" rIns="0" bIns="0" rtlCol="0" anchor="ctr"/>
          <a:lstStyle/>
          <a:p>
            <a:pPr indent="0" marL="0">
              <a:lnSpc>
                <a:spcPct val="110000"/>
              </a:lnSpc>
              <a:buNone/>
            </a:pPr>
            <a:r>
              <a:rPr lang="en-US" sz="1500" dirty="0">
                <a:solidFill>
                  <a:srgbClr val="667085"/>
                </a:solidFill>
                <a:latin typeface="Calibri" pitchFamily="34" charset="0"/>
                <a:ea typeface="Calibri" pitchFamily="34" charset="-122"/>
                <a:cs typeface="Calibri" pitchFamily="34" charset="-120"/>
              </a:rPr>
              <a:t>Si se cae internet, la operación se detiene.</a:t>
            </a:r>
            <a:endParaRPr lang="en-US" sz="1500" dirty="0"/>
          </a:p>
        </p:txBody>
      </p:sp>
      <p:sp>
        <p:nvSpPr>
          <p:cNvPr id="19" name="Shape 17"/>
          <p:cNvSpPr/>
          <p:nvPr/>
        </p:nvSpPr>
        <p:spPr>
          <a:xfrm>
            <a:off x="3977640" y="4686300"/>
            <a:ext cx="384048" cy="0"/>
          </a:xfrm>
          <a:prstGeom prst="line">
            <a:avLst/>
          </a:prstGeom>
          <a:noFill/>
          <a:ln w="25400">
            <a:solidFill>
              <a:srgbClr val="E8590C"/>
            </a:solidFill>
            <a:prstDash val="solid"/>
            <a:tailEnd type="triangle"/>
          </a:ln>
        </p:spPr>
      </p:sp>
      <p:sp>
        <p:nvSpPr>
          <p:cNvPr id="20" name="Text 18"/>
          <p:cNvSpPr txBox="1"/>
          <p:nvPr/>
        </p:nvSpPr>
        <p:spPr>
          <a:xfrm>
            <a:off x="4800600" y="4206240"/>
            <a:ext cx="6446520" cy="960120"/>
          </a:xfrm>
          <a:prstGeom prst="rect">
            <a:avLst/>
          </a:prstGeom>
          <a:noFill/>
          <a:ln/>
        </p:spPr>
        <p:txBody>
          <a:bodyPr wrap="square" lIns="0" tIns="0" rIns="0" bIns="0" rtlCol="0" anchor="ctr"/>
          <a:lstStyle/>
          <a:p>
            <a:pPr indent="0" marL="0">
              <a:lnSpc>
                <a:spcPct val="110000"/>
              </a:lnSpc>
              <a:buNone/>
            </a:pPr>
            <a:r>
              <a:rPr lang="en-US" sz="1650" b="1" dirty="0">
                <a:solidFill>
                  <a:srgbClr val="101828"/>
                </a:solidFill>
                <a:latin typeface="Calibri" pitchFamily="34" charset="0"/>
                <a:ea typeface="Calibri" pitchFamily="34" charset="-122"/>
                <a:cs typeface="Calibri" pitchFamily="34" charset="-120"/>
              </a:rPr>
              <a:t>Cada pantalla guarda su contenido y sigue funcionando sin conexión.</a:t>
            </a:r>
            <a:endParaRPr lang="en-US" sz="1650" dirty="0"/>
          </a:p>
        </p:txBody>
      </p:sp>
      <p:sp>
        <p:nvSpPr>
          <p:cNvPr id="21" name="Shape 19"/>
          <p:cNvSpPr/>
          <p:nvPr/>
        </p:nvSpPr>
        <p:spPr>
          <a:xfrm>
            <a:off x="685800" y="5349240"/>
            <a:ext cx="10817352" cy="868680"/>
          </a:xfrm>
          <a:prstGeom prst="roundRect">
            <a:avLst>
              <a:gd name="adj" fmla="val 10526"/>
            </a:avLst>
          </a:prstGeom>
          <a:solidFill>
            <a:srgbClr val="FDF0E8"/>
          </a:solidFill>
          <a:ln/>
        </p:spPr>
      </p:sp>
      <p:sp>
        <p:nvSpPr>
          <p:cNvPr id="22" name="Text 20"/>
          <p:cNvSpPr txBox="1"/>
          <p:nvPr/>
        </p:nvSpPr>
        <p:spPr>
          <a:xfrm>
            <a:off x="1143000" y="5349240"/>
            <a:ext cx="9902952" cy="868680"/>
          </a:xfrm>
          <a:prstGeom prst="rect">
            <a:avLst/>
          </a:prstGeom>
          <a:noFill/>
          <a:ln/>
        </p:spPr>
        <p:txBody>
          <a:bodyPr wrap="square" lIns="0" tIns="0" rIns="0" bIns="0" rtlCol="0" anchor="ctr"/>
          <a:lstStyle/>
          <a:p>
            <a:pPr indent="0" marL="0">
              <a:lnSpc>
                <a:spcPct val="120000"/>
              </a:lnSpc>
              <a:buNone/>
            </a:pPr>
            <a:r>
              <a:rPr lang="en-US" sz="1750" b="1" dirty="0">
                <a:solidFill>
                  <a:srgbClr val="8A3A0B"/>
                </a:solidFill>
                <a:latin typeface="Calibri" pitchFamily="34" charset="0"/>
                <a:ea typeface="Calibri" pitchFamily="34" charset="-122"/>
                <a:cs typeface="Calibri" pitchFamily="34" charset="-120"/>
              </a:rPr>
              <a:t>Una plataforma central para gestionar, y pantallas que siguen andando por su cuenta.</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04</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Objetivos</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Seis objetivos específicos que guían el desarrollo</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5</a:t>
            </a:r>
            <a:endParaRPr lang="en-US" sz="1050" dirty="0"/>
          </a:p>
        </p:txBody>
      </p:sp>
      <p:sp>
        <p:nvSpPr>
          <p:cNvPr id="7" name="Shape 5"/>
          <p:cNvSpPr/>
          <p:nvPr/>
        </p:nvSpPr>
        <p:spPr>
          <a:xfrm>
            <a:off x="685800" y="1810512"/>
            <a:ext cx="5248656" cy="1325880"/>
          </a:xfrm>
          <a:prstGeom prst="roundRect">
            <a:avLst>
              <a:gd name="adj" fmla="val 6897"/>
            </a:avLst>
          </a:prstGeom>
          <a:solidFill>
            <a:srgbClr val="F6F7F9"/>
          </a:solidFill>
          <a:ln/>
        </p:spPr>
      </p:sp>
      <p:sp>
        <p:nvSpPr>
          <p:cNvPr id="8" name="Text 6"/>
          <p:cNvSpPr txBox="1"/>
          <p:nvPr/>
        </p:nvSpPr>
        <p:spPr>
          <a:xfrm>
            <a:off x="1097280" y="2011680"/>
            <a:ext cx="4425696" cy="347472"/>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OE1</a:t>
            </a:r>
            <a:pPr indent="0" marL="0">
              <a:buNone/>
            </a:pPr>
            <a:r>
              <a:rPr lang="en-US" sz="1650" b="1" dirty="0">
                <a:solidFill>
                  <a:srgbClr val="101828"/>
                </a:solidFill>
                <a:latin typeface="Calibri" pitchFamily="34" charset="0"/>
                <a:ea typeface="Calibri" pitchFamily="34" charset="-122"/>
                <a:cs typeface="Calibri" pitchFamily="34" charset="-120"/>
              </a:rPr>
              <a:t>   Administración y permisos por locación</a:t>
            </a:r>
            <a:endParaRPr lang="en-US" sz="1350" dirty="0"/>
          </a:p>
        </p:txBody>
      </p:sp>
      <p:sp>
        <p:nvSpPr>
          <p:cNvPr id="9" name="Text 7"/>
          <p:cNvSpPr txBox="1"/>
          <p:nvPr/>
        </p:nvSpPr>
        <p:spPr>
          <a:xfrm>
            <a:off x="1097280" y="2377440"/>
            <a:ext cx="4425696" cy="621792"/>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Gestionar locaciones, sectores y pantallas, con acceso diferenciado para administradores y operadores.</a:t>
            </a:r>
            <a:endParaRPr lang="en-US" sz="1450" dirty="0"/>
          </a:p>
        </p:txBody>
      </p:sp>
      <p:sp>
        <p:nvSpPr>
          <p:cNvPr id="10" name="Shape 8"/>
          <p:cNvSpPr/>
          <p:nvPr/>
        </p:nvSpPr>
        <p:spPr>
          <a:xfrm>
            <a:off x="6254496" y="1810512"/>
            <a:ext cx="5248656" cy="1325880"/>
          </a:xfrm>
          <a:prstGeom prst="roundRect">
            <a:avLst>
              <a:gd name="adj" fmla="val 6897"/>
            </a:avLst>
          </a:prstGeom>
          <a:solidFill>
            <a:srgbClr val="F6F7F9"/>
          </a:solidFill>
          <a:ln/>
        </p:spPr>
      </p:sp>
      <p:sp>
        <p:nvSpPr>
          <p:cNvPr id="11" name="Text 9"/>
          <p:cNvSpPr txBox="1"/>
          <p:nvPr/>
        </p:nvSpPr>
        <p:spPr>
          <a:xfrm>
            <a:off x="6665976" y="2011680"/>
            <a:ext cx="4425696" cy="347472"/>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OE2</a:t>
            </a:r>
            <a:pPr indent="0" marL="0">
              <a:buNone/>
            </a:pPr>
            <a:r>
              <a:rPr lang="en-US" sz="1650" b="1" dirty="0">
                <a:solidFill>
                  <a:srgbClr val="101828"/>
                </a:solidFill>
                <a:latin typeface="Calibri" pitchFamily="34" charset="0"/>
                <a:ea typeface="Calibri" pitchFamily="34" charset="-122"/>
                <a:cs typeface="Calibri" pitchFamily="34" charset="-120"/>
              </a:rPr>
              <a:t>   Gestión de contenido y playlists</a:t>
            </a:r>
            <a:endParaRPr lang="en-US" sz="1350" dirty="0"/>
          </a:p>
        </p:txBody>
      </p:sp>
      <p:sp>
        <p:nvSpPr>
          <p:cNvPr id="12" name="Text 10"/>
          <p:cNvSpPr txBox="1"/>
          <p:nvPr/>
        </p:nvSpPr>
        <p:spPr>
          <a:xfrm>
            <a:off x="6665976" y="2377440"/>
            <a:ext cx="4425696" cy="621792"/>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Cargar medios y armar listas reutilizables, definiendo orden y tiempo de exhibición.</a:t>
            </a:r>
            <a:endParaRPr lang="en-US" sz="1450" dirty="0"/>
          </a:p>
        </p:txBody>
      </p:sp>
      <p:sp>
        <p:nvSpPr>
          <p:cNvPr id="13" name="Shape 11"/>
          <p:cNvSpPr/>
          <p:nvPr/>
        </p:nvSpPr>
        <p:spPr>
          <a:xfrm>
            <a:off x="685800" y="3282696"/>
            <a:ext cx="5248656" cy="1325880"/>
          </a:xfrm>
          <a:prstGeom prst="roundRect">
            <a:avLst>
              <a:gd name="adj" fmla="val 6897"/>
            </a:avLst>
          </a:prstGeom>
          <a:solidFill>
            <a:srgbClr val="F6F7F9"/>
          </a:solidFill>
          <a:ln/>
        </p:spPr>
      </p:sp>
      <p:sp>
        <p:nvSpPr>
          <p:cNvPr id="14" name="Text 12"/>
          <p:cNvSpPr txBox="1"/>
          <p:nvPr/>
        </p:nvSpPr>
        <p:spPr>
          <a:xfrm>
            <a:off x="1097280" y="3483864"/>
            <a:ext cx="4425696" cy="347472"/>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OE3</a:t>
            </a:r>
            <a:pPr indent="0" marL="0">
              <a:buNone/>
            </a:pPr>
            <a:r>
              <a:rPr lang="en-US" sz="1650" b="1" dirty="0">
                <a:solidFill>
                  <a:srgbClr val="101828"/>
                </a:solidFill>
                <a:latin typeface="Calibri" pitchFamily="34" charset="0"/>
                <a:ea typeface="Calibri" pitchFamily="34" charset="-122"/>
                <a:cs typeface="Calibri" pitchFamily="34" charset="-120"/>
              </a:rPr>
              <a:t>   Programación horaria segmentada</a:t>
            </a:r>
            <a:endParaRPr lang="en-US" sz="1350" dirty="0"/>
          </a:p>
        </p:txBody>
      </p:sp>
      <p:sp>
        <p:nvSpPr>
          <p:cNvPr id="15" name="Text 13"/>
          <p:cNvSpPr txBox="1"/>
          <p:nvPr/>
        </p:nvSpPr>
        <p:spPr>
          <a:xfrm>
            <a:off x="1097280" y="3849624"/>
            <a:ext cx="4425696" cy="621792"/>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Programar por fechas, horarios y recurrencia semanal, hacia una pantalla o un sector.</a:t>
            </a:r>
            <a:endParaRPr lang="en-US" sz="1450" dirty="0"/>
          </a:p>
        </p:txBody>
      </p:sp>
      <p:sp>
        <p:nvSpPr>
          <p:cNvPr id="16" name="Shape 14"/>
          <p:cNvSpPr/>
          <p:nvPr/>
        </p:nvSpPr>
        <p:spPr>
          <a:xfrm>
            <a:off x="6254496" y="3282696"/>
            <a:ext cx="5248656" cy="1325880"/>
          </a:xfrm>
          <a:prstGeom prst="roundRect">
            <a:avLst>
              <a:gd name="adj" fmla="val 6897"/>
            </a:avLst>
          </a:prstGeom>
          <a:solidFill>
            <a:srgbClr val="F6F7F9"/>
          </a:solidFill>
          <a:ln/>
        </p:spPr>
      </p:sp>
      <p:sp>
        <p:nvSpPr>
          <p:cNvPr id="17" name="Text 15"/>
          <p:cNvSpPr txBox="1"/>
          <p:nvPr/>
        </p:nvSpPr>
        <p:spPr>
          <a:xfrm>
            <a:off x="6665976" y="3483864"/>
            <a:ext cx="4425696" cy="347472"/>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OE4</a:t>
            </a:r>
            <a:pPr indent="0" marL="0">
              <a:buNone/>
            </a:pPr>
            <a:r>
              <a:rPr lang="en-US" sz="1650" b="1" dirty="0">
                <a:solidFill>
                  <a:srgbClr val="101828"/>
                </a:solidFill>
                <a:latin typeface="Calibri" pitchFamily="34" charset="0"/>
                <a:ea typeface="Calibri" pitchFamily="34" charset="-122"/>
                <a:cs typeface="Calibri" pitchFamily="34" charset="-120"/>
              </a:rPr>
              <a:t>   Resiliencia offline y operación local</a:t>
            </a:r>
            <a:endParaRPr lang="en-US" sz="1350" dirty="0"/>
          </a:p>
        </p:txBody>
      </p:sp>
      <p:sp>
        <p:nvSpPr>
          <p:cNvPr id="18" name="Text 16"/>
          <p:cNvSpPr txBox="1"/>
          <p:nvPr/>
        </p:nvSpPr>
        <p:spPr>
          <a:xfrm>
            <a:off x="6665976" y="3849624"/>
            <a:ext cx="4425696" cy="621792"/>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Reproducir y modificar contenido sin internet, con los archivos disponibles en la locación.</a:t>
            </a:r>
            <a:endParaRPr lang="en-US" sz="1450" dirty="0"/>
          </a:p>
        </p:txBody>
      </p:sp>
      <p:sp>
        <p:nvSpPr>
          <p:cNvPr id="19" name="Shape 17"/>
          <p:cNvSpPr/>
          <p:nvPr/>
        </p:nvSpPr>
        <p:spPr>
          <a:xfrm>
            <a:off x="685800" y="4754880"/>
            <a:ext cx="5248656" cy="1325880"/>
          </a:xfrm>
          <a:prstGeom prst="roundRect">
            <a:avLst>
              <a:gd name="adj" fmla="val 6897"/>
            </a:avLst>
          </a:prstGeom>
          <a:solidFill>
            <a:srgbClr val="F6F7F9"/>
          </a:solidFill>
          <a:ln/>
        </p:spPr>
      </p:sp>
      <p:sp>
        <p:nvSpPr>
          <p:cNvPr id="20" name="Text 18"/>
          <p:cNvSpPr txBox="1"/>
          <p:nvPr/>
        </p:nvSpPr>
        <p:spPr>
          <a:xfrm>
            <a:off x="1097280" y="4956048"/>
            <a:ext cx="4425696" cy="347472"/>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OE5</a:t>
            </a:r>
            <a:pPr indent="0" marL="0">
              <a:buNone/>
            </a:pPr>
            <a:r>
              <a:rPr lang="en-US" sz="1650" b="1" dirty="0">
                <a:solidFill>
                  <a:srgbClr val="101828"/>
                </a:solidFill>
                <a:latin typeface="Calibri" pitchFamily="34" charset="0"/>
                <a:ea typeface="Calibri" pitchFamily="34" charset="-122"/>
                <a:cs typeface="Calibri" pitchFamily="34" charset="-120"/>
              </a:rPr>
              <a:t>   Telemetría y estado de conectividad</a:t>
            </a:r>
            <a:endParaRPr lang="en-US" sz="1350" dirty="0"/>
          </a:p>
        </p:txBody>
      </p:sp>
      <p:sp>
        <p:nvSpPr>
          <p:cNvPr id="21" name="Text 19"/>
          <p:cNvSpPr txBox="1"/>
          <p:nvPr/>
        </p:nvSpPr>
        <p:spPr>
          <a:xfrm>
            <a:off x="1097280" y="5321808"/>
            <a:ext cx="4425696" cy="621792"/>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Consultar el estado de los NUC, su última comunicación y su estado de sincronización.</a:t>
            </a:r>
            <a:endParaRPr lang="en-US" sz="1450" dirty="0"/>
          </a:p>
        </p:txBody>
      </p:sp>
      <p:sp>
        <p:nvSpPr>
          <p:cNvPr id="22" name="Shape 20"/>
          <p:cNvSpPr/>
          <p:nvPr/>
        </p:nvSpPr>
        <p:spPr>
          <a:xfrm>
            <a:off x="6254496" y="4754880"/>
            <a:ext cx="5248656" cy="1325880"/>
          </a:xfrm>
          <a:prstGeom prst="roundRect">
            <a:avLst>
              <a:gd name="adj" fmla="val 6897"/>
            </a:avLst>
          </a:prstGeom>
          <a:solidFill>
            <a:srgbClr val="F6F7F9"/>
          </a:solidFill>
          <a:ln/>
        </p:spPr>
      </p:sp>
      <p:sp>
        <p:nvSpPr>
          <p:cNvPr id="23" name="Text 21"/>
          <p:cNvSpPr txBox="1"/>
          <p:nvPr/>
        </p:nvSpPr>
        <p:spPr>
          <a:xfrm>
            <a:off x="6665976" y="4956048"/>
            <a:ext cx="4425696" cy="347472"/>
          </a:xfrm>
          <a:prstGeom prst="rect">
            <a:avLst/>
          </a:prstGeom>
          <a:noFill/>
          <a:ln/>
        </p:spPr>
        <p:txBody>
          <a:bodyPr wrap="square" lIns="0" tIns="0" rIns="0" bIns="0" rtlCol="0" anchor="ctr"/>
          <a:lstStyle/>
          <a:p>
            <a:pPr indent="0" marL="0">
              <a:buNone/>
            </a:pPr>
            <a:r>
              <a:rPr lang="en-US" sz="1350" b="1" dirty="0">
                <a:solidFill>
                  <a:srgbClr val="E8590C"/>
                </a:solidFill>
                <a:latin typeface="Calibri" pitchFamily="34" charset="0"/>
                <a:ea typeface="Calibri" pitchFamily="34" charset="-122"/>
                <a:cs typeface="Calibri" pitchFamily="34" charset="-120"/>
              </a:rPr>
              <a:t>OE6</a:t>
            </a:r>
            <a:pPr indent="0" marL="0">
              <a:buNone/>
            </a:pPr>
            <a:r>
              <a:rPr lang="en-US" sz="1650" b="1" dirty="0">
                <a:solidFill>
                  <a:srgbClr val="101828"/>
                </a:solidFill>
                <a:latin typeface="Calibri" pitchFamily="34" charset="0"/>
                <a:ea typeface="Calibri" pitchFamily="34" charset="-122"/>
                <a:cs typeface="Calibri" pitchFamily="34" charset="-120"/>
              </a:rPr>
              <a:t>   Validación en entorno real y QA</a:t>
            </a:r>
            <a:endParaRPr lang="en-US" sz="1350" dirty="0"/>
          </a:p>
        </p:txBody>
      </p:sp>
      <p:sp>
        <p:nvSpPr>
          <p:cNvPr id="24" name="Text 22"/>
          <p:cNvSpPr txBox="1"/>
          <p:nvPr/>
        </p:nvSpPr>
        <p:spPr>
          <a:xfrm>
            <a:off x="6665976" y="5321808"/>
            <a:ext cx="4425696" cy="621792"/>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Verificar con Lumina Motion la gestión remota, los permisos y la operación con y sin conexión.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05</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Metodología y roles</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Trabajo iterativo en ciclos de dos semanas, alineado a los hitos académicos</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6</a:t>
            </a:r>
            <a:endParaRPr lang="en-US" sz="1050" dirty="0"/>
          </a:p>
        </p:txBody>
      </p:sp>
      <p:sp>
        <p:nvSpPr>
          <p:cNvPr id="7" name="Shape 5"/>
          <p:cNvSpPr/>
          <p:nvPr/>
        </p:nvSpPr>
        <p:spPr>
          <a:xfrm>
            <a:off x="685800" y="1828800"/>
            <a:ext cx="4343400" cy="3657600"/>
          </a:xfrm>
          <a:prstGeom prst="roundRect">
            <a:avLst>
              <a:gd name="adj" fmla="val 2500"/>
            </a:avLst>
          </a:prstGeom>
          <a:solidFill>
            <a:srgbClr val="F6F7F9"/>
          </a:solidFill>
          <a:ln/>
        </p:spPr>
      </p:sp>
      <p:sp>
        <p:nvSpPr>
          <p:cNvPr id="8" name="Text 6"/>
          <p:cNvSpPr txBox="1"/>
          <p:nvPr/>
        </p:nvSpPr>
        <p:spPr>
          <a:xfrm>
            <a:off x="1097280" y="2121408"/>
            <a:ext cx="3566160" cy="329184"/>
          </a:xfrm>
          <a:prstGeom prst="rect">
            <a:avLst/>
          </a:prstGeom>
          <a:noFill/>
          <a:ln/>
        </p:spPr>
        <p:txBody>
          <a:bodyPr wrap="square" lIns="0" tIns="0" rIns="0" bIns="0" rtlCol="0" anchor="ctr"/>
          <a:lstStyle/>
          <a:p>
            <a:pPr indent="0" marL="0">
              <a:buNone/>
            </a:pPr>
            <a:r>
              <a:rPr lang="en-US" sz="1700" b="1" dirty="0">
                <a:solidFill>
                  <a:srgbClr val="101828"/>
                </a:solidFill>
                <a:latin typeface="Arial" pitchFamily="34" charset="0"/>
                <a:ea typeface="Arial" pitchFamily="34" charset="-122"/>
                <a:cs typeface="Arial" pitchFamily="34" charset="-120"/>
              </a:rPr>
              <a:t>Cómo trabajamos</a:t>
            </a:r>
            <a:endParaRPr lang="en-US" sz="1700" dirty="0"/>
          </a:p>
        </p:txBody>
      </p:sp>
      <p:sp>
        <p:nvSpPr>
          <p:cNvPr id="9" name="Text 7"/>
          <p:cNvSpPr txBox="1"/>
          <p:nvPr/>
        </p:nvSpPr>
        <p:spPr>
          <a:xfrm>
            <a:off x="1097280" y="2578608"/>
            <a:ext cx="3566160" cy="2926080"/>
          </a:xfrm>
          <a:prstGeom prst="rect">
            <a:avLst/>
          </a:prstGeom>
          <a:noFill/>
          <a:ln/>
        </p:spPr>
        <p:txBody>
          <a:bodyPr wrap="square" lIns="0" tIns="0" rIns="0" bIns="0" rtlCol="0" anchor="t"/>
          <a:lstStyle/>
          <a:p>
            <a:pPr marL="342900" indent="-342900">
              <a:lnSpc>
                <a:spcPct val="110000"/>
              </a:lnSpc>
              <a:spcAft>
                <a:spcPts val="1000"/>
              </a:spcAft>
              <a:buSzPct val="100000"/>
              <a:buChar char="•"/>
            </a:pPr>
            <a:r>
              <a:rPr lang="en-US" sz="1500" dirty="0">
                <a:solidFill>
                  <a:srgbClr val="475467"/>
                </a:solidFill>
                <a:latin typeface="Calibri" pitchFamily="34" charset="0"/>
                <a:ea typeface="Calibri" pitchFamily="34" charset="-122"/>
                <a:cs typeface="Calibri" pitchFamily="34" charset="-120"/>
              </a:rPr>
              <a:t>Ciclos de dos semanas con incrementos verificables.</a:t>
            </a:r>
            <a:endParaRPr lang="en-US" sz="1500" dirty="0"/>
          </a:p>
          <a:p>
            <a:pPr marL="342900" indent="-342900">
              <a:lnSpc>
                <a:spcPct val="110000"/>
              </a:lnSpc>
              <a:spcAft>
                <a:spcPts val="1000"/>
              </a:spcAft>
              <a:buSzPct val="100000"/>
              <a:buChar char="•"/>
            </a:pPr>
            <a:r>
              <a:rPr lang="en-US" sz="1500" dirty="0">
                <a:solidFill>
                  <a:srgbClr val="475467"/>
                </a:solidFill>
                <a:latin typeface="Calibri" pitchFamily="34" charset="0"/>
                <a:ea typeface="Calibri" pitchFamily="34" charset="-122"/>
                <a:cs typeface="Calibri" pitchFamily="34" charset="-120"/>
              </a:rPr>
              <a:t>Reuniones semanales de sincronización.</a:t>
            </a:r>
            <a:endParaRPr lang="en-US" sz="1500" dirty="0"/>
          </a:p>
          <a:p>
            <a:pPr marL="342900" indent="-342900">
              <a:lnSpc>
                <a:spcPct val="110000"/>
              </a:lnSpc>
              <a:spcAft>
                <a:spcPts val="1000"/>
              </a:spcAft>
              <a:buSzPct val="100000"/>
              <a:buChar char="•"/>
            </a:pPr>
            <a:r>
              <a:rPr lang="en-US" sz="1500" dirty="0">
                <a:solidFill>
                  <a:srgbClr val="475467"/>
                </a:solidFill>
                <a:latin typeface="Calibri" pitchFamily="34" charset="0"/>
                <a:ea typeface="Calibri" pitchFamily="34" charset="-122"/>
                <a:cs typeface="Calibri" pitchFamily="34" charset="-120"/>
              </a:rPr>
              <a:t>Gestión de proyecto y tareas en Obsidian.</a:t>
            </a:r>
            <a:endParaRPr lang="en-US" sz="1500" dirty="0"/>
          </a:p>
          <a:p>
            <a:pPr marL="342900" indent="-342900">
              <a:lnSpc>
                <a:spcPct val="110000"/>
              </a:lnSpc>
              <a:spcAft>
                <a:spcPts val="1000"/>
              </a:spcAft>
              <a:buSzPct val="100000"/>
              <a:buChar char="•"/>
            </a:pPr>
            <a:r>
              <a:rPr lang="en-US" sz="1500" dirty="0">
                <a:solidFill>
                  <a:srgbClr val="475467"/>
                </a:solidFill>
                <a:latin typeface="Calibri" pitchFamily="34" charset="0"/>
                <a:ea typeface="Calibri" pitchFamily="34" charset="-122"/>
                <a:cs typeface="Calibri" pitchFamily="34" charset="-120"/>
              </a:rPr>
              <a:t>GitHub para versionamiento y trazabilidad del código.</a:t>
            </a:r>
            <a:endParaRPr lang="en-US" sz="1500" dirty="0"/>
          </a:p>
        </p:txBody>
      </p:sp>
      <p:sp>
        <p:nvSpPr>
          <p:cNvPr id="10" name="Shape 8"/>
          <p:cNvSpPr/>
          <p:nvPr/>
        </p:nvSpPr>
        <p:spPr>
          <a:xfrm>
            <a:off x="5376672" y="1828800"/>
            <a:ext cx="6126480" cy="3657600"/>
          </a:xfrm>
          <a:prstGeom prst="roundRect">
            <a:avLst>
              <a:gd name="adj" fmla="val 2500"/>
            </a:avLst>
          </a:prstGeom>
          <a:solidFill>
            <a:srgbClr val="F6F7F9"/>
          </a:solidFill>
          <a:ln/>
        </p:spPr>
      </p:sp>
      <p:sp>
        <p:nvSpPr>
          <p:cNvPr id="11" name="Text 9"/>
          <p:cNvSpPr txBox="1"/>
          <p:nvPr/>
        </p:nvSpPr>
        <p:spPr>
          <a:xfrm>
            <a:off x="5788152" y="2121408"/>
            <a:ext cx="5303520" cy="329184"/>
          </a:xfrm>
          <a:prstGeom prst="rect">
            <a:avLst/>
          </a:prstGeom>
          <a:noFill/>
          <a:ln/>
        </p:spPr>
        <p:txBody>
          <a:bodyPr wrap="square" lIns="0" tIns="0" rIns="0" bIns="0" rtlCol="0" anchor="ctr"/>
          <a:lstStyle/>
          <a:p>
            <a:pPr indent="0" marL="0">
              <a:buNone/>
            </a:pPr>
            <a:r>
              <a:rPr lang="en-US" sz="1700" b="1" dirty="0">
                <a:solidFill>
                  <a:srgbClr val="101828"/>
                </a:solidFill>
                <a:latin typeface="Arial" pitchFamily="34" charset="0"/>
                <a:ea typeface="Arial" pitchFamily="34" charset="-122"/>
                <a:cs typeface="Arial" pitchFamily="34" charset="-120"/>
              </a:rPr>
              <a:t>Quién hace qué</a:t>
            </a:r>
            <a:endParaRPr lang="en-US" sz="1700" dirty="0"/>
          </a:p>
        </p:txBody>
      </p:sp>
      <p:sp>
        <p:nvSpPr>
          <p:cNvPr id="12" name="Text 10"/>
          <p:cNvSpPr txBox="1"/>
          <p:nvPr/>
        </p:nvSpPr>
        <p:spPr>
          <a:xfrm>
            <a:off x="5788152" y="2651760"/>
            <a:ext cx="5303520" cy="310896"/>
          </a:xfrm>
          <a:prstGeom prst="rect">
            <a:avLst/>
          </a:prstGeom>
          <a:noFill/>
          <a:ln/>
        </p:spPr>
        <p:txBody>
          <a:bodyPr wrap="square" lIns="0" tIns="0" rIns="0" bIns="0" rtlCol="0" anchor="ctr"/>
          <a:lstStyle/>
          <a:p>
            <a:pPr indent="0" marL="0">
              <a:buNone/>
            </a:pPr>
            <a:r>
              <a:rPr lang="en-US" sz="1600" b="1" dirty="0">
                <a:solidFill>
                  <a:srgbClr val="E8590C"/>
                </a:solidFill>
                <a:latin typeface="Arial" pitchFamily="34" charset="0"/>
                <a:ea typeface="Arial" pitchFamily="34" charset="-122"/>
                <a:cs typeface="Arial" pitchFamily="34" charset="-120"/>
              </a:rPr>
              <a:t>Tomás Escalante</a:t>
            </a:r>
            <a:endParaRPr lang="en-US" sz="1600" dirty="0"/>
          </a:p>
        </p:txBody>
      </p:sp>
      <p:sp>
        <p:nvSpPr>
          <p:cNvPr id="13" name="Text 11"/>
          <p:cNvSpPr txBox="1"/>
          <p:nvPr/>
        </p:nvSpPr>
        <p:spPr>
          <a:xfrm>
            <a:off x="5788152" y="2962656"/>
            <a:ext cx="5303520" cy="54864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Arquitectura, backend, API y sincronización con los NUC.</a:t>
            </a:r>
            <a:endParaRPr lang="en-US" sz="1500" dirty="0"/>
          </a:p>
        </p:txBody>
      </p:sp>
      <p:sp>
        <p:nvSpPr>
          <p:cNvPr id="14" name="Text 12"/>
          <p:cNvSpPr txBox="1"/>
          <p:nvPr/>
        </p:nvSpPr>
        <p:spPr>
          <a:xfrm>
            <a:off x="5788152" y="3675888"/>
            <a:ext cx="5303520" cy="310896"/>
          </a:xfrm>
          <a:prstGeom prst="rect">
            <a:avLst/>
          </a:prstGeom>
          <a:noFill/>
          <a:ln/>
        </p:spPr>
        <p:txBody>
          <a:bodyPr wrap="square" lIns="0" tIns="0" rIns="0" bIns="0" rtlCol="0" anchor="ctr"/>
          <a:lstStyle/>
          <a:p>
            <a:pPr indent="0" marL="0">
              <a:buNone/>
            </a:pPr>
            <a:r>
              <a:rPr lang="en-US" sz="1600" b="1" dirty="0">
                <a:solidFill>
                  <a:srgbClr val="E8590C"/>
                </a:solidFill>
                <a:latin typeface="Arial" pitchFamily="34" charset="0"/>
                <a:ea typeface="Arial" pitchFamily="34" charset="-122"/>
                <a:cs typeface="Arial" pitchFamily="34" charset="-120"/>
              </a:rPr>
              <a:t>Matías Salas</a:t>
            </a:r>
            <a:endParaRPr lang="en-US" sz="1600" dirty="0"/>
          </a:p>
        </p:txBody>
      </p:sp>
      <p:sp>
        <p:nvSpPr>
          <p:cNvPr id="15" name="Text 13"/>
          <p:cNvSpPr txBox="1"/>
          <p:nvPr/>
        </p:nvSpPr>
        <p:spPr>
          <a:xfrm>
            <a:off x="5788152" y="3986784"/>
            <a:ext cx="5303520" cy="54864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Gestión del proyecto, Player local y vinculación con el cliente.</a:t>
            </a:r>
            <a:endParaRPr lang="en-US" sz="1500" dirty="0"/>
          </a:p>
        </p:txBody>
      </p:sp>
      <p:sp>
        <p:nvSpPr>
          <p:cNvPr id="16" name="Text 14"/>
          <p:cNvSpPr txBox="1"/>
          <p:nvPr/>
        </p:nvSpPr>
        <p:spPr>
          <a:xfrm>
            <a:off x="5788152" y="4700016"/>
            <a:ext cx="5303520" cy="310896"/>
          </a:xfrm>
          <a:prstGeom prst="rect">
            <a:avLst/>
          </a:prstGeom>
          <a:noFill/>
          <a:ln/>
        </p:spPr>
        <p:txBody>
          <a:bodyPr wrap="square" lIns="0" tIns="0" rIns="0" bIns="0" rtlCol="0" anchor="ctr"/>
          <a:lstStyle/>
          <a:p>
            <a:pPr indent="0" marL="0">
              <a:buNone/>
            </a:pPr>
            <a:r>
              <a:rPr lang="en-US" sz="1600" b="1" dirty="0">
                <a:solidFill>
                  <a:srgbClr val="E8590C"/>
                </a:solidFill>
                <a:latin typeface="Arial" pitchFamily="34" charset="0"/>
                <a:ea typeface="Arial" pitchFamily="34" charset="-122"/>
                <a:cs typeface="Arial" pitchFamily="34" charset="-120"/>
              </a:rPr>
              <a:t>Paulo Loyola</a:t>
            </a:r>
            <a:endParaRPr lang="en-US" sz="1600" dirty="0"/>
          </a:p>
        </p:txBody>
      </p:sp>
      <p:sp>
        <p:nvSpPr>
          <p:cNvPr id="17" name="Text 15"/>
          <p:cNvSpPr txBox="1"/>
          <p:nvPr/>
        </p:nvSpPr>
        <p:spPr>
          <a:xfrm>
            <a:off x="5788152" y="5010912"/>
            <a:ext cx="5303520" cy="54864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Panel administrativo, base de datos y documentación técnica.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05</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Plan de trabajo</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22 actividades en 18 semanas, con cuatro hitos y dos checkpoints técnicos</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7</a:t>
            </a:r>
            <a:endParaRPr lang="en-US" sz="1050" dirty="0"/>
          </a:p>
        </p:txBody>
      </p:sp>
      <p:sp>
        <p:nvSpPr>
          <p:cNvPr id="7" name="Text 5"/>
          <p:cNvSpPr txBox="1"/>
          <p:nvPr/>
        </p:nvSpPr>
        <p:spPr>
          <a:xfrm>
            <a:off x="685800" y="1719072"/>
            <a:ext cx="2342896" cy="512064"/>
          </a:xfrm>
          <a:prstGeom prst="rect">
            <a:avLst/>
          </a:prstGeom>
          <a:noFill/>
          <a:ln/>
        </p:spPr>
        <p:txBody>
          <a:bodyPr wrap="square" lIns="0" tIns="0" rIns="0" bIns="0" rtlCol="0" anchor="t"/>
          <a:lstStyle/>
          <a:p>
            <a:pPr indent="0" marL="0">
              <a:lnSpc>
                <a:spcPct val="100000"/>
              </a:lnSpc>
              <a:buNone/>
            </a:pPr>
            <a:r>
              <a:rPr lang="en-US" sz="1550" b="1" dirty="0">
                <a:solidFill>
                  <a:srgbClr val="101828"/>
                </a:solidFill>
                <a:latin typeface="Arial" pitchFamily="34" charset="0"/>
                <a:ea typeface="Arial" pitchFamily="34" charset="-122"/>
                <a:cs typeface="Arial" pitchFamily="34" charset="-120"/>
              </a:rPr>
              <a:t>Definición</a:t>
            </a:r>
            <a:endParaRPr lang="en-US" sz="1550" dirty="0"/>
          </a:p>
        </p:txBody>
      </p:sp>
      <p:sp>
        <p:nvSpPr>
          <p:cNvPr id="8" name="Text 6"/>
          <p:cNvSpPr txBox="1"/>
          <p:nvPr/>
        </p:nvSpPr>
        <p:spPr>
          <a:xfrm>
            <a:off x="685800" y="2249424"/>
            <a:ext cx="2342896" cy="219456"/>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S1 – S4</a:t>
            </a:r>
            <a:endParaRPr lang="en-US" sz="1250" dirty="0"/>
          </a:p>
        </p:txBody>
      </p:sp>
      <p:sp>
        <p:nvSpPr>
          <p:cNvPr id="9" name="Shape 7"/>
          <p:cNvSpPr/>
          <p:nvPr/>
        </p:nvSpPr>
        <p:spPr>
          <a:xfrm>
            <a:off x="685800" y="2514600"/>
            <a:ext cx="2342896" cy="420624"/>
          </a:xfrm>
          <a:prstGeom prst="roundRect">
            <a:avLst>
              <a:gd name="adj" fmla="val 13043"/>
            </a:avLst>
          </a:prstGeom>
          <a:solidFill>
            <a:srgbClr val="E8590C"/>
          </a:solidFill>
          <a:ln/>
        </p:spPr>
      </p:sp>
      <p:sp>
        <p:nvSpPr>
          <p:cNvPr id="10" name="Text 8"/>
          <p:cNvSpPr txBox="1"/>
          <p:nvPr/>
        </p:nvSpPr>
        <p:spPr>
          <a:xfrm>
            <a:off x="685800" y="3035808"/>
            <a:ext cx="2342896" cy="1325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Levantamiento con Lumina</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Alcance y factibilidad</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Stack y arquitectura</a:t>
            </a:r>
            <a:endParaRPr lang="en-US" sz="1250" dirty="0"/>
          </a:p>
        </p:txBody>
      </p:sp>
      <p:sp>
        <p:nvSpPr>
          <p:cNvPr id="11" name="Text 9"/>
          <p:cNvSpPr txBox="1"/>
          <p:nvPr/>
        </p:nvSpPr>
        <p:spPr>
          <a:xfrm>
            <a:off x="685800" y="4434840"/>
            <a:ext cx="2342896" cy="237744"/>
          </a:xfrm>
          <a:prstGeom prst="rect">
            <a:avLst/>
          </a:prstGeom>
          <a:noFill/>
          <a:ln/>
        </p:spPr>
        <p:txBody>
          <a:bodyPr wrap="square" lIns="0" tIns="0" rIns="0" bIns="0" rtlCol="0" anchor="ctr"/>
          <a:lstStyle/>
          <a:p>
            <a:pPr indent="0" marL="0">
              <a:buNone/>
            </a:pPr>
            <a:r>
              <a:rPr lang="en-US" sz="1200" b="1" spc="60" kern="0" dirty="0">
                <a:solidFill>
                  <a:srgbClr val="E8590C"/>
                </a:solidFill>
                <a:latin typeface="Calibri" pitchFamily="34" charset="0"/>
                <a:ea typeface="Calibri" pitchFamily="34" charset="-122"/>
                <a:cs typeface="Calibri" pitchFamily="34" charset="-120"/>
              </a:rPr>
              <a:t>HITO 1 · S4</a:t>
            </a:r>
            <a:endParaRPr lang="en-US" sz="1200" dirty="0"/>
          </a:p>
        </p:txBody>
      </p:sp>
      <p:sp>
        <p:nvSpPr>
          <p:cNvPr id="12" name="Text 10"/>
          <p:cNvSpPr txBox="1"/>
          <p:nvPr/>
        </p:nvSpPr>
        <p:spPr>
          <a:xfrm>
            <a:off x="685800" y="4681728"/>
            <a:ext cx="2342896" cy="457200"/>
          </a:xfrm>
          <a:prstGeom prst="rect">
            <a:avLst/>
          </a:prstGeom>
          <a:noFill/>
          <a:ln/>
        </p:spPr>
        <p:txBody>
          <a:bodyPr wrap="square" lIns="0" tIns="0" rIns="0" bIns="0" rtlCol="0" anchor="t"/>
          <a:lstStyle/>
          <a:p>
            <a:pPr indent="0" marL="0">
              <a:lnSpc>
                <a:spcPct val="105000"/>
              </a:lnSpc>
              <a:buNone/>
            </a:pPr>
            <a:r>
              <a:rPr lang="en-US" sz="1350" b="1" dirty="0">
                <a:solidFill>
                  <a:srgbClr val="101828"/>
                </a:solidFill>
                <a:latin typeface="Calibri" pitchFamily="34" charset="0"/>
                <a:ea typeface="Calibri" pitchFamily="34" charset="-122"/>
                <a:cs typeface="Calibri" pitchFamily="34" charset="-120"/>
              </a:rPr>
              <a:t>Informe y presentación Fase 1</a:t>
            </a:r>
            <a:endParaRPr lang="en-US" sz="1350" dirty="0"/>
          </a:p>
        </p:txBody>
      </p:sp>
      <p:sp>
        <p:nvSpPr>
          <p:cNvPr id="13" name="Text 11"/>
          <p:cNvSpPr txBox="1"/>
          <p:nvPr/>
        </p:nvSpPr>
        <p:spPr>
          <a:xfrm>
            <a:off x="3120136" y="1719072"/>
            <a:ext cx="4100068" cy="512064"/>
          </a:xfrm>
          <a:prstGeom prst="rect">
            <a:avLst/>
          </a:prstGeom>
          <a:noFill/>
          <a:ln/>
        </p:spPr>
        <p:txBody>
          <a:bodyPr wrap="square" lIns="0" tIns="0" rIns="0" bIns="0" rtlCol="0" anchor="t"/>
          <a:lstStyle/>
          <a:p>
            <a:pPr indent="0" marL="0">
              <a:lnSpc>
                <a:spcPct val="100000"/>
              </a:lnSpc>
              <a:buNone/>
            </a:pPr>
            <a:r>
              <a:rPr lang="en-US" sz="1550" b="1" dirty="0">
                <a:solidFill>
                  <a:srgbClr val="101828"/>
                </a:solidFill>
                <a:latin typeface="Arial" pitchFamily="34" charset="0"/>
                <a:ea typeface="Arial" pitchFamily="34" charset="-122"/>
                <a:cs typeface="Arial" pitchFamily="34" charset="-120"/>
              </a:rPr>
              <a:t>Diseño y construcción</a:t>
            </a:r>
            <a:endParaRPr lang="en-US" sz="1550" dirty="0"/>
          </a:p>
        </p:txBody>
      </p:sp>
      <p:sp>
        <p:nvSpPr>
          <p:cNvPr id="14" name="Text 12"/>
          <p:cNvSpPr txBox="1"/>
          <p:nvPr/>
        </p:nvSpPr>
        <p:spPr>
          <a:xfrm>
            <a:off x="3120136" y="2249424"/>
            <a:ext cx="4100068" cy="219456"/>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S5 – S11</a:t>
            </a:r>
            <a:endParaRPr lang="en-US" sz="1250" dirty="0"/>
          </a:p>
        </p:txBody>
      </p:sp>
      <p:sp>
        <p:nvSpPr>
          <p:cNvPr id="15" name="Shape 13"/>
          <p:cNvSpPr/>
          <p:nvPr/>
        </p:nvSpPr>
        <p:spPr>
          <a:xfrm>
            <a:off x="3120136" y="2514600"/>
            <a:ext cx="4100068" cy="420624"/>
          </a:xfrm>
          <a:prstGeom prst="roundRect">
            <a:avLst>
              <a:gd name="adj" fmla="val 13043"/>
            </a:avLst>
          </a:prstGeom>
          <a:solidFill>
            <a:srgbClr val="344054"/>
          </a:solidFill>
          <a:ln/>
        </p:spPr>
      </p:sp>
      <p:sp>
        <p:nvSpPr>
          <p:cNvPr id="16" name="Text 14"/>
          <p:cNvSpPr txBox="1"/>
          <p:nvPr/>
        </p:nvSpPr>
        <p:spPr>
          <a:xfrm>
            <a:off x="3120136" y="3035808"/>
            <a:ext cx="4100068" cy="1325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Modelado de datos y UI/UX</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Contratos API y operación local</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Backend, panel y Player base</a:t>
            </a:r>
            <a:endParaRPr lang="en-US" sz="1250" dirty="0"/>
          </a:p>
        </p:txBody>
      </p:sp>
      <p:sp>
        <p:nvSpPr>
          <p:cNvPr id="17" name="Text 15"/>
          <p:cNvSpPr txBox="1"/>
          <p:nvPr/>
        </p:nvSpPr>
        <p:spPr>
          <a:xfrm>
            <a:off x="3120136" y="4434840"/>
            <a:ext cx="4100068" cy="237744"/>
          </a:xfrm>
          <a:prstGeom prst="rect">
            <a:avLst/>
          </a:prstGeom>
          <a:noFill/>
          <a:ln/>
        </p:spPr>
        <p:txBody>
          <a:bodyPr wrap="square" lIns="0" tIns="0" rIns="0" bIns="0" rtlCol="0" anchor="ctr"/>
          <a:lstStyle/>
          <a:p>
            <a:pPr indent="0" marL="0">
              <a:buNone/>
            </a:pPr>
            <a:r>
              <a:rPr lang="en-US" sz="1200" b="1" spc="60" kern="0" dirty="0">
                <a:solidFill>
                  <a:srgbClr val="E8590C"/>
                </a:solidFill>
                <a:latin typeface="Calibri" pitchFamily="34" charset="0"/>
                <a:ea typeface="Calibri" pitchFamily="34" charset="-122"/>
                <a:cs typeface="Calibri" pitchFamily="34" charset="-120"/>
              </a:rPr>
              <a:t>HITO 2 · S10</a:t>
            </a:r>
            <a:endParaRPr lang="en-US" sz="1200" dirty="0"/>
          </a:p>
        </p:txBody>
      </p:sp>
      <p:sp>
        <p:nvSpPr>
          <p:cNvPr id="18" name="Text 16"/>
          <p:cNvSpPr txBox="1"/>
          <p:nvPr/>
        </p:nvSpPr>
        <p:spPr>
          <a:xfrm>
            <a:off x="3120136" y="4681728"/>
            <a:ext cx="4100068" cy="457200"/>
          </a:xfrm>
          <a:prstGeom prst="rect">
            <a:avLst/>
          </a:prstGeom>
          <a:noFill/>
          <a:ln/>
        </p:spPr>
        <p:txBody>
          <a:bodyPr wrap="square" lIns="0" tIns="0" rIns="0" bIns="0" rtlCol="0" anchor="t"/>
          <a:lstStyle/>
          <a:p>
            <a:pPr indent="0" marL="0">
              <a:lnSpc>
                <a:spcPct val="105000"/>
              </a:lnSpc>
              <a:buNone/>
            </a:pPr>
            <a:r>
              <a:rPr lang="en-US" sz="1350" b="1" dirty="0">
                <a:solidFill>
                  <a:srgbClr val="101828"/>
                </a:solidFill>
                <a:latin typeface="Calibri" pitchFamily="34" charset="0"/>
                <a:ea typeface="Calibri" pitchFamily="34" charset="-122"/>
                <a:cs typeface="Calibri" pitchFamily="34" charset="-120"/>
              </a:rPr>
              <a:t>Avance funcional demostrado</a:t>
            </a:r>
            <a:endParaRPr lang="en-US" sz="1350" dirty="0"/>
          </a:p>
        </p:txBody>
      </p:sp>
      <p:sp>
        <p:nvSpPr>
          <p:cNvPr id="19" name="Text 17"/>
          <p:cNvSpPr txBox="1"/>
          <p:nvPr/>
        </p:nvSpPr>
        <p:spPr>
          <a:xfrm>
            <a:off x="7311644" y="1719072"/>
            <a:ext cx="2342896" cy="512064"/>
          </a:xfrm>
          <a:prstGeom prst="rect">
            <a:avLst/>
          </a:prstGeom>
          <a:noFill/>
          <a:ln/>
        </p:spPr>
        <p:txBody>
          <a:bodyPr wrap="square" lIns="0" tIns="0" rIns="0" bIns="0" rtlCol="0" anchor="t"/>
          <a:lstStyle/>
          <a:p>
            <a:pPr indent="0" marL="0">
              <a:lnSpc>
                <a:spcPct val="100000"/>
              </a:lnSpc>
              <a:buNone/>
            </a:pPr>
            <a:r>
              <a:rPr lang="en-US" sz="1550" b="1" dirty="0">
                <a:solidFill>
                  <a:srgbClr val="101828"/>
                </a:solidFill>
                <a:latin typeface="Arial" pitchFamily="34" charset="0"/>
                <a:ea typeface="Arial" pitchFamily="34" charset="-122"/>
                <a:cs typeface="Arial" pitchFamily="34" charset="-120"/>
              </a:rPr>
              <a:t>Resiliencia e integración</a:t>
            </a:r>
            <a:endParaRPr lang="en-US" sz="1550" dirty="0"/>
          </a:p>
        </p:txBody>
      </p:sp>
      <p:sp>
        <p:nvSpPr>
          <p:cNvPr id="20" name="Text 18"/>
          <p:cNvSpPr txBox="1"/>
          <p:nvPr/>
        </p:nvSpPr>
        <p:spPr>
          <a:xfrm>
            <a:off x="7311644" y="2249424"/>
            <a:ext cx="2342896" cy="219456"/>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S12 – S15</a:t>
            </a:r>
            <a:endParaRPr lang="en-US" sz="1250" dirty="0"/>
          </a:p>
        </p:txBody>
      </p:sp>
      <p:sp>
        <p:nvSpPr>
          <p:cNvPr id="21" name="Shape 19"/>
          <p:cNvSpPr/>
          <p:nvPr/>
        </p:nvSpPr>
        <p:spPr>
          <a:xfrm>
            <a:off x="7311644" y="2514600"/>
            <a:ext cx="2342896" cy="420624"/>
          </a:xfrm>
          <a:prstGeom prst="roundRect">
            <a:avLst>
              <a:gd name="adj" fmla="val 13043"/>
            </a:avLst>
          </a:prstGeom>
          <a:solidFill>
            <a:srgbClr val="475467"/>
          </a:solidFill>
          <a:ln/>
        </p:spPr>
      </p:sp>
      <p:sp>
        <p:nvSpPr>
          <p:cNvPr id="22" name="Text 20"/>
          <p:cNvSpPr txBox="1"/>
          <p:nvPr/>
        </p:nvSpPr>
        <p:spPr>
          <a:xfrm>
            <a:off x="7311644" y="3035808"/>
            <a:ext cx="2342896" cy="1325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Programación horaria sin solapamientos</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Caché local y reproducción autónoma</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Telemetría, staging y manuales</a:t>
            </a:r>
            <a:endParaRPr lang="en-US" sz="1250" dirty="0"/>
          </a:p>
        </p:txBody>
      </p:sp>
      <p:sp>
        <p:nvSpPr>
          <p:cNvPr id="23" name="Text 21"/>
          <p:cNvSpPr txBox="1"/>
          <p:nvPr/>
        </p:nvSpPr>
        <p:spPr>
          <a:xfrm>
            <a:off x="7311644" y="4434840"/>
            <a:ext cx="2342896" cy="237744"/>
          </a:xfrm>
          <a:prstGeom prst="rect">
            <a:avLst/>
          </a:prstGeom>
          <a:noFill/>
          <a:ln/>
        </p:spPr>
        <p:txBody>
          <a:bodyPr wrap="square" lIns="0" tIns="0" rIns="0" bIns="0" rtlCol="0" anchor="ctr"/>
          <a:lstStyle/>
          <a:p>
            <a:pPr indent="0" marL="0">
              <a:buNone/>
            </a:pPr>
            <a:r>
              <a:rPr lang="en-US" sz="1200" b="1" spc="60" kern="0" dirty="0">
                <a:solidFill>
                  <a:srgbClr val="E8590C"/>
                </a:solidFill>
                <a:latin typeface="Calibri" pitchFamily="34" charset="0"/>
                <a:ea typeface="Calibri" pitchFamily="34" charset="-122"/>
                <a:cs typeface="Calibri" pitchFamily="34" charset="-120"/>
              </a:rPr>
              <a:t>HITO 3 · S15</a:t>
            </a:r>
            <a:endParaRPr lang="en-US" sz="1200" dirty="0"/>
          </a:p>
        </p:txBody>
      </p:sp>
      <p:sp>
        <p:nvSpPr>
          <p:cNvPr id="24" name="Text 22"/>
          <p:cNvSpPr txBox="1"/>
          <p:nvPr/>
        </p:nvSpPr>
        <p:spPr>
          <a:xfrm>
            <a:off x="7311644" y="4681728"/>
            <a:ext cx="2342896" cy="457200"/>
          </a:xfrm>
          <a:prstGeom prst="rect">
            <a:avLst/>
          </a:prstGeom>
          <a:noFill/>
          <a:ln/>
        </p:spPr>
        <p:txBody>
          <a:bodyPr wrap="square" lIns="0" tIns="0" rIns="0" bIns="0" rtlCol="0" anchor="t"/>
          <a:lstStyle/>
          <a:p>
            <a:pPr indent="0" marL="0">
              <a:lnSpc>
                <a:spcPct val="105000"/>
              </a:lnSpc>
              <a:buNone/>
            </a:pPr>
            <a:r>
              <a:rPr lang="en-US" sz="1350" b="1" dirty="0">
                <a:solidFill>
                  <a:srgbClr val="101828"/>
                </a:solidFill>
                <a:latin typeface="Calibri" pitchFamily="34" charset="0"/>
                <a:ea typeface="Calibri" pitchFamily="34" charset="-122"/>
                <a:cs typeface="Calibri" pitchFamily="34" charset="-120"/>
              </a:rPr>
              <a:t>Entrega final consolidada</a:t>
            </a:r>
            <a:endParaRPr lang="en-US" sz="1350" dirty="0"/>
          </a:p>
        </p:txBody>
      </p:sp>
      <p:sp>
        <p:nvSpPr>
          <p:cNvPr id="25" name="Text 23"/>
          <p:cNvSpPr txBox="1"/>
          <p:nvPr/>
        </p:nvSpPr>
        <p:spPr>
          <a:xfrm>
            <a:off x="9745980" y="1719072"/>
            <a:ext cx="1757172" cy="512064"/>
          </a:xfrm>
          <a:prstGeom prst="rect">
            <a:avLst/>
          </a:prstGeom>
          <a:noFill/>
          <a:ln/>
        </p:spPr>
        <p:txBody>
          <a:bodyPr wrap="square" lIns="0" tIns="0" rIns="0" bIns="0" rtlCol="0" anchor="t"/>
          <a:lstStyle/>
          <a:p>
            <a:pPr indent="0" marL="0">
              <a:lnSpc>
                <a:spcPct val="100000"/>
              </a:lnSpc>
              <a:buNone/>
            </a:pPr>
            <a:r>
              <a:rPr lang="en-US" sz="1550" b="1" dirty="0">
                <a:solidFill>
                  <a:srgbClr val="101828"/>
                </a:solidFill>
                <a:latin typeface="Arial" pitchFamily="34" charset="0"/>
                <a:ea typeface="Arial" pitchFamily="34" charset="-122"/>
                <a:cs typeface="Arial" pitchFamily="34" charset="-120"/>
              </a:rPr>
              <a:t>Validación y defensa</a:t>
            </a:r>
            <a:endParaRPr lang="en-US" sz="1550" dirty="0"/>
          </a:p>
        </p:txBody>
      </p:sp>
      <p:sp>
        <p:nvSpPr>
          <p:cNvPr id="26" name="Text 24"/>
          <p:cNvSpPr txBox="1"/>
          <p:nvPr/>
        </p:nvSpPr>
        <p:spPr>
          <a:xfrm>
            <a:off x="9745980" y="2249424"/>
            <a:ext cx="1757172" cy="219456"/>
          </a:xfrm>
          <a:prstGeom prst="rect">
            <a:avLst/>
          </a:prstGeom>
          <a:noFill/>
          <a:ln/>
        </p:spPr>
        <p:txBody>
          <a:bodyPr wrap="square" lIns="0" tIns="0" rIns="0" bIns="0" rtlCol="0" anchor="ctr"/>
          <a:lstStyle/>
          <a:p>
            <a:pPr indent="0" marL="0">
              <a:buNone/>
            </a:pPr>
            <a:r>
              <a:rPr lang="en-US" sz="1250" dirty="0">
                <a:solidFill>
                  <a:srgbClr val="667085"/>
                </a:solidFill>
                <a:latin typeface="Calibri" pitchFamily="34" charset="0"/>
                <a:ea typeface="Calibri" pitchFamily="34" charset="-122"/>
                <a:cs typeface="Calibri" pitchFamily="34" charset="-120"/>
              </a:rPr>
              <a:t>S16 – S18</a:t>
            </a:r>
            <a:endParaRPr lang="en-US" sz="1250" dirty="0"/>
          </a:p>
        </p:txBody>
      </p:sp>
      <p:sp>
        <p:nvSpPr>
          <p:cNvPr id="27" name="Shape 25"/>
          <p:cNvSpPr/>
          <p:nvPr/>
        </p:nvSpPr>
        <p:spPr>
          <a:xfrm>
            <a:off x="9745980" y="2514600"/>
            <a:ext cx="1757172" cy="420624"/>
          </a:xfrm>
          <a:prstGeom prst="roundRect">
            <a:avLst>
              <a:gd name="adj" fmla="val 13043"/>
            </a:avLst>
          </a:prstGeom>
          <a:solidFill>
            <a:srgbClr val="667085"/>
          </a:solidFill>
          <a:ln/>
        </p:spPr>
      </p:sp>
      <p:sp>
        <p:nvSpPr>
          <p:cNvPr id="28" name="Text 26"/>
          <p:cNvSpPr txBox="1"/>
          <p:nvPr/>
        </p:nvSpPr>
        <p:spPr>
          <a:xfrm>
            <a:off x="9745980" y="3035808"/>
            <a:ext cx="1757172" cy="13258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Pruebas de aceptación con Lumina</a:t>
            </a:r>
            <a:endParaRPr lang="en-US" sz="1250" dirty="0"/>
          </a:p>
          <a:p>
            <a:pPr marL="342900" indent="-342900">
              <a:lnSpc>
                <a:spcPct val="105000"/>
              </a:lnSpc>
              <a:spcAft>
                <a:spcPts val="500"/>
              </a:spcAft>
              <a:buSzPct val="100000"/>
              <a:buChar char="•"/>
            </a:pPr>
            <a:r>
              <a:rPr lang="en-US" sz="1250" dirty="0">
                <a:solidFill>
                  <a:srgbClr val="475467"/>
                </a:solidFill>
                <a:latin typeface="Calibri" pitchFamily="34" charset="0"/>
                <a:ea typeface="Calibri" pitchFamily="34" charset="-122"/>
                <a:cs typeface="Calibri" pitchFamily="34" charset="-120"/>
              </a:rPr>
              <a:t>Ensayos de defensa y demo</a:t>
            </a:r>
            <a:endParaRPr lang="en-US" sz="1250" dirty="0"/>
          </a:p>
        </p:txBody>
      </p:sp>
      <p:sp>
        <p:nvSpPr>
          <p:cNvPr id="29" name="Text 27"/>
          <p:cNvSpPr txBox="1"/>
          <p:nvPr/>
        </p:nvSpPr>
        <p:spPr>
          <a:xfrm>
            <a:off x="9745980" y="4434840"/>
            <a:ext cx="1757172" cy="237744"/>
          </a:xfrm>
          <a:prstGeom prst="rect">
            <a:avLst/>
          </a:prstGeom>
          <a:noFill/>
          <a:ln/>
        </p:spPr>
        <p:txBody>
          <a:bodyPr wrap="square" lIns="0" tIns="0" rIns="0" bIns="0" rtlCol="0" anchor="ctr"/>
          <a:lstStyle/>
          <a:p>
            <a:pPr indent="0" marL="0">
              <a:buNone/>
            </a:pPr>
            <a:r>
              <a:rPr lang="en-US" sz="1200" b="1" spc="60" kern="0" dirty="0">
                <a:solidFill>
                  <a:srgbClr val="E8590C"/>
                </a:solidFill>
                <a:latin typeface="Calibri" pitchFamily="34" charset="0"/>
                <a:ea typeface="Calibri" pitchFamily="34" charset="-122"/>
                <a:cs typeface="Calibri" pitchFamily="34" charset="-120"/>
              </a:rPr>
              <a:t>HITO 4 · S17-18</a:t>
            </a:r>
            <a:endParaRPr lang="en-US" sz="1200" dirty="0"/>
          </a:p>
        </p:txBody>
      </p:sp>
      <p:sp>
        <p:nvSpPr>
          <p:cNvPr id="30" name="Text 28"/>
          <p:cNvSpPr txBox="1"/>
          <p:nvPr/>
        </p:nvSpPr>
        <p:spPr>
          <a:xfrm>
            <a:off x="9745980" y="4681728"/>
            <a:ext cx="1757172" cy="457200"/>
          </a:xfrm>
          <a:prstGeom prst="rect">
            <a:avLst/>
          </a:prstGeom>
          <a:noFill/>
          <a:ln/>
        </p:spPr>
        <p:txBody>
          <a:bodyPr wrap="square" lIns="0" tIns="0" rIns="0" bIns="0" rtlCol="0" anchor="t"/>
          <a:lstStyle/>
          <a:p>
            <a:pPr indent="0" marL="0">
              <a:lnSpc>
                <a:spcPct val="105000"/>
              </a:lnSpc>
              <a:buNone/>
            </a:pPr>
            <a:r>
              <a:rPr lang="en-US" sz="1350" b="1" dirty="0">
                <a:solidFill>
                  <a:srgbClr val="101828"/>
                </a:solidFill>
                <a:latin typeface="Calibri" pitchFamily="34" charset="0"/>
                <a:ea typeface="Calibri" pitchFamily="34" charset="-122"/>
                <a:cs typeface="Calibri" pitchFamily="34" charset="-120"/>
              </a:rPr>
              <a:t>Examen y presentación final</a:t>
            </a:r>
            <a:endParaRPr lang="en-US" sz="1350" dirty="0"/>
          </a:p>
        </p:txBody>
      </p:sp>
      <p:sp>
        <p:nvSpPr>
          <p:cNvPr id="31" name="Shape 29"/>
          <p:cNvSpPr/>
          <p:nvPr/>
        </p:nvSpPr>
        <p:spPr>
          <a:xfrm>
            <a:off x="685800" y="5257800"/>
            <a:ext cx="10817352" cy="914400"/>
          </a:xfrm>
          <a:prstGeom prst="roundRect">
            <a:avLst>
              <a:gd name="adj" fmla="val 10000"/>
            </a:avLst>
          </a:prstGeom>
          <a:solidFill>
            <a:srgbClr val="FDF0E8"/>
          </a:solidFill>
          <a:ln/>
        </p:spPr>
      </p:sp>
      <p:sp>
        <p:nvSpPr>
          <p:cNvPr id="32" name="Text 30"/>
          <p:cNvSpPr txBox="1"/>
          <p:nvPr/>
        </p:nvSpPr>
        <p:spPr>
          <a:xfrm>
            <a:off x="1143000" y="5257800"/>
            <a:ext cx="9902952" cy="914400"/>
          </a:xfrm>
          <a:prstGeom prst="rect">
            <a:avLst/>
          </a:prstGeom>
          <a:noFill/>
          <a:ln/>
        </p:spPr>
        <p:txBody>
          <a:bodyPr wrap="square" lIns="0" tIns="0" rIns="0" bIns="0" rtlCol="0" anchor="ctr"/>
          <a:lstStyle/>
          <a:p>
            <a:pPr indent="0" marL="0">
              <a:lnSpc>
                <a:spcPct val="120000"/>
              </a:lnSpc>
              <a:buNone/>
            </a:pPr>
            <a:r>
              <a:rPr lang="en-US" sz="1550" b="1" dirty="0">
                <a:solidFill>
                  <a:srgbClr val="E8590C"/>
                </a:solidFill>
                <a:latin typeface="Calibri" pitchFamily="34" charset="0"/>
                <a:ea typeface="Calibri" pitchFamily="34" charset="-122"/>
                <a:cs typeface="Calibri" pitchFamily="34" charset="-120"/>
              </a:rPr>
              <a:t>Estamos aquí: semana 4, cerrando el Hito 1.</a:t>
            </a:r>
            <a:endParaRPr lang="en-US" sz="1550" dirty="0"/>
          </a:p>
          <a:p>
            <a:pPr indent="0" marL="0">
              <a:lnSpc>
                <a:spcPct val="120000"/>
              </a:lnSpc>
              <a:buNone/>
            </a:pPr>
            <a:r>
              <a:rPr lang="en-US" sz="1450" dirty="0">
                <a:solidFill>
                  <a:srgbClr val="8A3A0B"/>
                </a:solidFill>
                <a:latin typeface="Calibri" pitchFamily="34" charset="0"/>
                <a:ea typeface="Calibri" pitchFamily="34" charset="-122"/>
                <a:cs typeface="Calibri" pitchFamily="34" charset="-120"/>
              </a:rPr>
              <a:t>Checkpoints técnicos: decisión de operación local (S6) y compatibilidad de NUC, Player y caché (S8).</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06</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Mapa tecnológico</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Qué hace cada capa y con qué está construida</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8</a:t>
            </a:r>
            <a:endParaRPr lang="en-US" sz="1050" dirty="0"/>
          </a:p>
        </p:txBody>
      </p:sp>
      <p:sp>
        <p:nvSpPr>
          <p:cNvPr id="7" name="Shape 5"/>
          <p:cNvSpPr/>
          <p:nvPr/>
        </p:nvSpPr>
        <p:spPr>
          <a:xfrm>
            <a:off x="685800" y="1810512"/>
            <a:ext cx="5271516" cy="2057400"/>
          </a:xfrm>
          <a:prstGeom prst="roundRect">
            <a:avLst>
              <a:gd name="adj" fmla="val 4444"/>
            </a:avLst>
          </a:prstGeom>
          <a:solidFill>
            <a:srgbClr val="F6F7F9"/>
          </a:solidFill>
          <a:ln/>
        </p:spPr>
      </p:sp>
      <p:sp>
        <p:nvSpPr>
          <p:cNvPr id="8" name="Text 6"/>
          <p:cNvSpPr txBox="1"/>
          <p:nvPr/>
        </p:nvSpPr>
        <p:spPr>
          <a:xfrm>
            <a:off x="1097280" y="2048256"/>
            <a:ext cx="4448556" cy="310896"/>
          </a:xfrm>
          <a:prstGeom prst="rect">
            <a:avLst/>
          </a:prstGeom>
          <a:noFill/>
          <a:ln/>
        </p:spPr>
        <p:txBody>
          <a:bodyPr wrap="square" lIns="0" tIns="0" rIns="0" bIns="0" rtlCol="0" anchor="ctr"/>
          <a:lstStyle/>
          <a:p>
            <a:pPr indent="0" marL="0">
              <a:buNone/>
            </a:pPr>
            <a:r>
              <a:rPr lang="en-US" sz="1650" b="1" dirty="0">
                <a:solidFill>
                  <a:srgbClr val="101828"/>
                </a:solidFill>
                <a:latin typeface="Arial" pitchFamily="34" charset="0"/>
                <a:ea typeface="Arial" pitchFamily="34" charset="-122"/>
                <a:cs typeface="Arial" pitchFamily="34" charset="-120"/>
              </a:rPr>
              <a:t>Plataforma central</a:t>
            </a:r>
            <a:endParaRPr lang="en-US" sz="1650" dirty="0"/>
          </a:p>
        </p:txBody>
      </p:sp>
      <p:sp>
        <p:nvSpPr>
          <p:cNvPr id="9" name="Shape 7"/>
          <p:cNvSpPr/>
          <p:nvPr/>
        </p:nvSpPr>
        <p:spPr>
          <a:xfrm>
            <a:off x="1097280" y="2432304"/>
            <a:ext cx="1037844" cy="402336"/>
          </a:xfrm>
          <a:prstGeom prst="roundRect">
            <a:avLst>
              <a:gd name="adj" fmla="val 18182"/>
            </a:avLst>
          </a:prstGeom>
          <a:solidFill>
            <a:srgbClr val="FFFFFF"/>
          </a:solidFill>
          <a:ln w="12700">
            <a:solidFill>
              <a:srgbClr val="E4E7EC"/>
            </a:solidFill>
            <a:prstDash val="solid"/>
          </a:ln>
        </p:spPr>
      </p:sp>
      <p:sp>
        <p:nvSpPr>
          <p:cNvPr id="10" name="Text 8"/>
          <p:cNvSpPr txBox="1"/>
          <p:nvPr/>
        </p:nvSpPr>
        <p:spPr>
          <a:xfrm>
            <a:off x="1097280" y="2432304"/>
            <a:ext cx="1037844"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Laravel</a:t>
            </a:r>
            <a:endParaRPr lang="en-US" sz="1350" dirty="0"/>
          </a:p>
        </p:txBody>
      </p:sp>
      <p:sp>
        <p:nvSpPr>
          <p:cNvPr id="11" name="Shape 9"/>
          <p:cNvSpPr/>
          <p:nvPr/>
        </p:nvSpPr>
        <p:spPr>
          <a:xfrm>
            <a:off x="2263140" y="2432304"/>
            <a:ext cx="1421892" cy="402336"/>
          </a:xfrm>
          <a:prstGeom prst="roundRect">
            <a:avLst>
              <a:gd name="adj" fmla="val 18182"/>
            </a:avLst>
          </a:prstGeom>
          <a:solidFill>
            <a:srgbClr val="FFFFFF"/>
          </a:solidFill>
          <a:ln w="12700">
            <a:solidFill>
              <a:srgbClr val="E4E7EC"/>
            </a:solidFill>
            <a:prstDash val="solid"/>
          </a:ln>
        </p:spPr>
      </p:sp>
      <p:sp>
        <p:nvSpPr>
          <p:cNvPr id="12" name="Text 10"/>
          <p:cNvSpPr txBox="1"/>
          <p:nvPr/>
        </p:nvSpPr>
        <p:spPr>
          <a:xfrm>
            <a:off x="2263140" y="2432304"/>
            <a:ext cx="1421892"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Filament v5</a:t>
            </a:r>
            <a:endParaRPr lang="en-US" sz="1350" dirty="0"/>
          </a:p>
        </p:txBody>
      </p:sp>
      <p:sp>
        <p:nvSpPr>
          <p:cNvPr id="13" name="Shape 11"/>
          <p:cNvSpPr/>
          <p:nvPr/>
        </p:nvSpPr>
        <p:spPr>
          <a:xfrm>
            <a:off x="3813048" y="2432304"/>
            <a:ext cx="1037844" cy="402336"/>
          </a:xfrm>
          <a:prstGeom prst="roundRect">
            <a:avLst>
              <a:gd name="adj" fmla="val 18182"/>
            </a:avLst>
          </a:prstGeom>
          <a:solidFill>
            <a:srgbClr val="FFFFFF"/>
          </a:solidFill>
          <a:ln w="12700">
            <a:solidFill>
              <a:srgbClr val="E4E7EC"/>
            </a:solidFill>
            <a:prstDash val="solid"/>
          </a:ln>
        </p:spPr>
      </p:sp>
      <p:sp>
        <p:nvSpPr>
          <p:cNvPr id="14" name="Text 12"/>
          <p:cNvSpPr txBox="1"/>
          <p:nvPr/>
        </p:nvSpPr>
        <p:spPr>
          <a:xfrm>
            <a:off x="3813048" y="2432304"/>
            <a:ext cx="1037844"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MariaDB</a:t>
            </a:r>
            <a:endParaRPr lang="en-US" sz="1350" dirty="0"/>
          </a:p>
        </p:txBody>
      </p:sp>
      <p:sp>
        <p:nvSpPr>
          <p:cNvPr id="15" name="Text 13"/>
          <p:cNvSpPr txBox="1"/>
          <p:nvPr/>
        </p:nvSpPr>
        <p:spPr>
          <a:xfrm>
            <a:off x="1097280" y="2944368"/>
            <a:ext cx="4448556" cy="77724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Donde se administra todo: usuarios, pantallas, medios y programación. La base de datos relacional garantiza que dos pautas no se pisen en la misma franja horaria.</a:t>
            </a:r>
            <a:endParaRPr lang="en-US" sz="1400" dirty="0"/>
          </a:p>
        </p:txBody>
      </p:sp>
      <p:sp>
        <p:nvSpPr>
          <p:cNvPr id="16" name="Shape 14"/>
          <p:cNvSpPr/>
          <p:nvPr/>
        </p:nvSpPr>
        <p:spPr>
          <a:xfrm>
            <a:off x="6231636" y="1810512"/>
            <a:ext cx="5271516" cy="2057400"/>
          </a:xfrm>
          <a:prstGeom prst="roundRect">
            <a:avLst>
              <a:gd name="adj" fmla="val 4444"/>
            </a:avLst>
          </a:prstGeom>
          <a:solidFill>
            <a:srgbClr val="F6F7F9"/>
          </a:solidFill>
          <a:ln/>
        </p:spPr>
      </p:sp>
      <p:sp>
        <p:nvSpPr>
          <p:cNvPr id="17" name="Text 15"/>
          <p:cNvSpPr txBox="1"/>
          <p:nvPr/>
        </p:nvSpPr>
        <p:spPr>
          <a:xfrm>
            <a:off x="6643116" y="2048256"/>
            <a:ext cx="4448556" cy="310896"/>
          </a:xfrm>
          <a:prstGeom prst="rect">
            <a:avLst/>
          </a:prstGeom>
          <a:noFill/>
          <a:ln/>
        </p:spPr>
        <p:txBody>
          <a:bodyPr wrap="square" lIns="0" tIns="0" rIns="0" bIns="0" rtlCol="0" anchor="ctr"/>
          <a:lstStyle/>
          <a:p>
            <a:pPr indent="0" marL="0">
              <a:buNone/>
            </a:pPr>
            <a:r>
              <a:rPr lang="en-US" sz="1650" b="1" dirty="0">
                <a:solidFill>
                  <a:srgbClr val="101828"/>
                </a:solidFill>
                <a:latin typeface="Arial" pitchFamily="34" charset="0"/>
                <a:ea typeface="Arial" pitchFamily="34" charset="-122"/>
                <a:cs typeface="Arial" pitchFamily="34" charset="-120"/>
              </a:rPr>
              <a:t>Comunicación en tiempo real</a:t>
            </a:r>
            <a:endParaRPr lang="en-US" sz="1650" dirty="0"/>
          </a:p>
        </p:txBody>
      </p:sp>
      <p:sp>
        <p:nvSpPr>
          <p:cNvPr id="18" name="Shape 16"/>
          <p:cNvSpPr/>
          <p:nvPr/>
        </p:nvSpPr>
        <p:spPr>
          <a:xfrm>
            <a:off x="6643116" y="2432304"/>
            <a:ext cx="1709928" cy="402336"/>
          </a:xfrm>
          <a:prstGeom prst="roundRect">
            <a:avLst>
              <a:gd name="adj" fmla="val 18182"/>
            </a:avLst>
          </a:prstGeom>
          <a:solidFill>
            <a:srgbClr val="FFFFFF"/>
          </a:solidFill>
          <a:ln w="12700">
            <a:solidFill>
              <a:srgbClr val="E4E7EC"/>
            </a:solidFill>
            <a:prstDash val="solid"/>
          </a:ln>
        </p:spPr>
      </p:sp>
      <p:sp>
        <p:nvSpPr>
          <p:cNvPr id="19" name="Text 17"/>
          <p:cNvSpPr txBox="1"/>
          <p:nvPr/>
        </p:nvSpPr>
        <p:spPr>
          <a:xfrm>
            <a:off x="6643116" y="2432304"/>
            <a:ext cx="1709928"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Laravel Reverb</a:t>
            </a:r>
            <a:endParaRPr lang="en-US" sz="1350" dirty="0"/>
          </a:p>
        </p:txBody>
      </p:sp>
      <p:sp>
        <p:nvSpPr>
          <p:cNvPr id="20" name="Shape 18"/>
          <p:cNvSpPr/>
          <p:nvPr/>
        </p:nvSpPr>
        <p:spPr>
          <a:xfrm>
            <a:off x="8481060" y="2432304"/>
            <a:ext cx="1325880" cy="402336"/>
          </a:xfrm>
          <a:prstGeom prst="roundRect">
            <a:avLst>
              <a:gd name="adj" fmla="val 18182"/>
            </a:avLst>
          </a:prstGeom>
          <a:solidFill>
            <a:srgbClr val="FFFFFF"/>
          </a:solidFill>
          <a:ln w="12700">
            <a:solidFill>
              <a:srgbClr val="E4E7EC"/>
            </a:solidFill>
            <a:prstDash val="solid"/>
          </a:ln>
        </p:spPr>
      </p:sp>
      <p:sp>
        <p:nvSpPr>
          <p:cNvPr id="21" name="Text 19"/>
          <p:cNvSpPr txBox="1"/>
          <p:nvPr/>
        </p:nvSpPr>
        <p:spPr>
          <a:xfrm>
            <a:off x="8481060" y="2432304"/>
            <a:ext cx="1325880"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WebSockets</a:t>
            </a:r>
            <a:endParaRPr lang="en-US" sz="1350" dirty="0"/>
          </a:p>
        </p:txBody>
      </p:sp>
      <p:sp>
        <p:nvSpPr>
          <p:cNvPr id="22" name="Text 20"/>
          <p:cNvSpPr txBox="1"/>
          <p:nvPr/>
        </p:nvSpPr>
        <p:spPr>
          <a:xfrm>
            <a:off x="6643116" y="2944368"/>
            <a:ext cx="4448556" cy="77724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Canal permanente entre la plataforma y las pantallas: empuja los cambios de pauta y trae de vuelta el estado de cada NUC.</a:t>
            </a:r>
            <a:endParaRPr lang="en-US" sz="1400" dirty="0"/>
          </a:p>
        </p:txBody>
      </p:sp>
      <p:sp>
        <p:nvSpPr>
          <p:cNvPr id="23" name="Shape 21"/>
          <p:cNvSpPr/>
          <p:nvPr/>
        </p:nvSpPr>
        <p:spPr>
          <a:xfrm>
            <a:off x="685800" y="4014216"/>
            <a:ext cx="5271516" cy="2057400"/>
          </a:xfrm>
          <a:prstGeom prst="roundRect">
            <a:avLst>
              <a:gd name="adj" fmla="val 4444"/>
            </a:avLst>
          </a:prstGeom>
          <a:solidFill>
            <a:srgbClr val="F6F7F9"/>
          </a:solidFill>
          <a:ln/>
        </p:spPr>
      </p:sp>
      <p:sp>
        <p:nvSpPr>
          <p:cNvPr id="24" name="Text 22"/>
          <p:cNvSpPr txBox="1"/>
          <p:nvPr/>
        </p:nvSpPr>
        <p:spPr>
          <a:xfrm>
            <a:off x="1097280" y="4251960"/>
            <a:ext cx="4448556" cy="310896"/>
          </a:xfrm>
          <a:prstGeom prst="rect">
            <a:avLst/>
          </a:prstGeom>
          <a:noFill/>
          <a:ln/>
        </p:spPr>
        <p:txBody>
          <a:bodyPr wrap="square" lIns="0" tIns="0" rIns="0" bIns="0" rtlCol="0" anchor="ctr"/>
          <a:lstStyle/>
          <a:p>
            <a:pPr indent="0" marL="0">
              <a:buNone/>
            </a:pPr>
            <a:r>
              <a:rPr lang="en-US" sz="1650" b="1" dirty="0">
                <a:solidFill>
                  <a:srgbClr val="101828"/>
                </a:solidFill>
                <a:latin typeface="Arial" pitchFamily="34" charset="0"/>
                <a:ea typeface="Arial" pitchFamily="34" charset="-122"/>
                <a:cs typeface="Arial" pitchFamily="34" charset="-120"/>
              </a:rPr>
              <a:t>Player local en el NUC</a:t>
            </a:r>
            <a:endParaRPr lang="en-US" sz="1650" dirty="0"/>
          </a:p>
        </p:txBody>
      </p:sp>
      <p:sp>
        <p:nvSpPr>
          <p:cNvPr id="25" name="Shape 23"/>
          <p:cNvSpPr/>
          <p:nvPr/>
        </p:nvSpPr>
        <p:spPr>
          <a:xfrm>
            <a:off x="1097280" y="4636008"/>
            <a:ext cx="1229868" cy="402336"/>
          </a:xfrm>
          <a:prstGeom prst="roundRect">
            <a:avLst>
              <a:gd name="adj" fmla="val 18182"/>
            </a:avLst>
          </a:prstGeom>
          <a:solidFill>
            <a:srgbClr val="FFFFFF"/>
          </a:solidFill>
          <a:ln w="12700">
            <a:solidFill>
              <a:srgbClr val="E4E7EC"/>
            </a:solidFill>
            <a:prstDash val="solid"/>
          </a:ln>
        </p:spPr>
      </p:sp>
      <p:sp>
        <p:nvSpPr>
          <p:cNvPr id="26" name="Text 24"/>
          <p:cNvSpPr txBox="1"/>
          <p:nvPr/>
        </p:nvSpPr>
        <p:spPr>
          <a:xfrm>
            <a:off x="1097280" y="4636008"/>
            <a:ext cx="1229868"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IndexedDB</a:t>
            </a:r>
            <a:endParaRPr lang="en-US" sz="1350" dirty="0"/>
          </a:p>
        </p:txBody>
      </p:sp>
      <p:sp>
        <p:nvSpPr>
          <p:cNvPr id="27" name="Shape 25"/>
          <p:cNvSpPr/>
          <p:nvPr/>
        </p:nvSpPr>
        <p:spPr>
          <a:xfrm>
            <a:off x="2455164" y="4636008"/>
            <a:ext cx="1037844" cy="402336"/>
          </a:xfrm>
          <a:prstGeom prst="roundRect">
            <a:avLst>
              <a:gd name="adj" fmla="val 18182"/>
            </a:avLst>
          </a:prstGeom>
          <a:solidFill>
            <a:srgbClr val="FFFFFF"/>
          </a:solidFill>
          <a:ln w="12700">
            <a:solidFill>
              <a:srgbClr val="E4E7EC"/>
            </a:solidFill>
            <a:prstDash val="solid"/>
          </a:ln>
        </p:spPr>
      </p:sp>
      <p:sp>
        <p:nvSpPr>
          <p:cNvPr id="28" name="Text 26"/>
          <p:cNvSpPr txBox="1"/>
          <p:nvPr/>
        </p:nvSpPr>
        <p:spPr>
          <a:xfrm>
            <a:off x="2455164" y="4636008"/>
            <a:ext cx="1037844"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SHA-256</a:t>
            </a:r>
            <a:endParaRPr lang="en-US" sz="1350" dirty="0"/>
          </a:p>
        </p:txBody>
      </p:sp>
      <p:sp>
        <p:nvSpPr>
          <p:cNvPr id="29" name="Text 27"/>
          <p:cNvSpPr txBox="1"/>
          <p:nvPr/>
        </p:nvSpPr>
        <p:spPr>
          <a:xfrm>
            <a:off x="1097280" y="5148072"/>
            <a:ext cx="4448556" cy="77724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Guarda el contenido dentro de la pantalla y verifica que cada archivo llegó íntegro. Es lo que permite seguir emitiendo sin internet.</a:t>
            </a:r>
            <a:endParaRPr lang="en-US" sz="1400" dirty="0"/>
          </a:p>
        </p:txBody>
      </p:sp>
      <p:sp>
        <p:nvSpPr>
          <p:cNvPr id="30" name="Shape 28"/>
          <p:cNvSpPr/>
          <p:nvPr/>
        </p:nvSpPr>
        <p:spPr>
          <a:xfrm>
            <a:off x="6231636" y="4014216"/>
            <a:ext cx="5271516" cy="2057400"/>
          </a:xfrm>
          <a:prstGeom prst="roundRect">
            <a:avLst>
              <a:gd name="adj" fmla="val 4444"/>
            </a:avLst>
          </a:prstGeom>
          <a:solidFill>
            <a:srgbClr val="F6F7F9"/>
          </a:solidFill>
          <a:ln/>
        </p:spPr>
      </p:sp>
      <p:sp>
        <p:nvSpPr>
          <p:cNvPr id="31" name="Text 29"/>
          <p:cNvSpPr txBox="1"/>
          <p:nvPr/>
        </p:nvSpPr>
        <p:spPr>
          <a:xfrm>
            <a:off x="6643116" y="4251960"/>
            <a:ext cx="4448556" cy="310896"/>
          </a:xfrm>
          <a:prstGeom prst="rect">
            <a:avLst/>
          </a:prstGeom>
          <a:noFill/>
          <a:ln/>
        </p:spPr>
        <p:txBody>
          <a:bodyPr wrap="square" lIns="0" tIns="0" rIns="0" bIns="0" rtlCol="0" anchor="ctr"/>
          <a:lstStyle/>
          <a:p>
            <a:pPr indent="0" marL="0">
              <a:buNone/>
            </a:pPr>
            <a:r>
              <a:rPr lang="en-US" sz="1650" b="1" dirty="0">
                <a:solidFill>
                  <a:srgbClr val="101828"/>
                </a:solidFill>
                <a:latin typeface="Arial" pitchFamily="34" charset="0"/>
                <a:ea typeface="Arial" pitchFamily="34" charset="-122"/>
                <a:cs typeface="Arial" pitchFamily="34" charset="-120"/>
              </a:rPr>
              <a:t>Trabajo y trazabilidad</a:t>
            </a:r>
            <a:endParaRPr lang="en-US" sz="1650" dirty="0"/>
          </a:p>
        </p:txBody>
      </p:sp>
      <p:sp>
        <p:nvSpPr>
          <p:cNvPr id="32" name="Shape 30"/>
          <p:cNvSpPr/>
          <p:nvPr/>
        </p:nvSpPr>
        <p:spPr>
          <a:xfrm>
            <a:off x="6643116" y="4636008"/>
            <a:ext cx="941832" cy="402336"/>
          </a:xfrm>
          <a:prstGeom prst="roundRect">
            <a:avLst>
              <a:gd name="adj" fmla="val 18182"/>
            </a:avLst>
          </a:prstGeom>
          <a:solidFill>
            <a:srgbClr val="FFFFFF"/>
          </a:solidFill>
          <a:ln w="12700">
            <a:solidFill>
              <a:srgbClr val="E4E7EC"/>
            </a:solidFill>
            <a:prstDash val="solid"/>
          </a:ln>
        </p:spPr>
      </p:sp>
      <p:sp>
        <p:nvSpPr>
          <p:cNvPr id="33" name="Text 31"/>
          <p:cNvSpPr txBox="1"/>
          <p:nvPr/>
        </p:nvSpPr>
        <p:spPr>
          <a:xfrm>
            <a:off x="6643116" y="4636008"/>
            <a:ext cx="941832"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GitHub</a:t>
            </a:r>
            <a:endParaRPr lang="en-US" sz="1350" dirty="0"/>
          </a:p>
        </p:txBody>
      </p:sp>
      <p:sp>
        <p:nvSpPr>
          <p:cNvPr id="34" name="Shape 32"/>
          <p:cNvSpPr/>
          <p:nvPr/>
        </p:nvSpPr>
        <p:spPr>
          <a:xfrm>
            <a:off x="7712964" y="4636008"/>
            <a:ext cx="1133856" cy="402336"/>
          </a:xfrm>
          <a:prstGeom prst="roundRect">
            <a:avLst>
              <a:gd name="adj" fmla="val 18182"/>
            </a:avLst>
          </a:prstGeom>
          <a:solidFill>
            <a:srgbClr val="FFFFFF"/>
          </a:solidFill>
          <a:ln w="12700">
            <a:solidFill>
              <a:srgbClr val="E4E7EC"/>
            </a:solidFill>
            <a:prstDash val="solid"/>
          </a:ln>
        </p:spPr>
      </p:sp>
      <p:sp>
        <p:nvSpPr>
          <p:cNvPr id="35" name="Text 33"/>
          <p:cNvSpPr txBox="1"/>
          <p:nvPr/>
        </p:nvSpPr>
        <p:spPr>
          <a:xfrm>
            <a:off x="7712964" y="4636008"/>
            <a:ext cx="1133856" cy="402336"/>
          </a:xfrm>
          <a:prstGeom prst="rect">
            <a:avLst/>
          </a:prstGeom>
          <a:noFill/>
          <a:ln/>
        </p:spPr>
        <p:txBody>
          <a:bodyPr wrap="square" lIns="0" tIns="0" rIns="0" bIns="0" rtlCol="0" anchor="ctr"/>
          <a:lstStyle/>
          <a:p>
            <a:pPr algn="ctr" indent="0" marL="0">
              <a:buNone/>
            </a:pPr>
            <a:r>
              <a:rPr lang="en-US" sz="1350" b="1" dirty="0">
                <a:solidFill>
                  <a:srgbClr val="475467"/>
                </a:solidFill>
                <a:latin typeface="Calibri" pitchFamily="34" charset="0"/>
                <a:ea typeface="Calibri" pitchFamily="34" charset="-122"/>
                <a:cs typeface="Calibri" pitchFamily="34" charset="-120"/>
              </a:rPr>
              <a:t>Obsidian</a:t>
            </a:r>
            <a:endParaRPr lang="en-US" sz="1350" dirty="0"/>
          </a:p>
        </p:txBody>
      </p:sp>
      <p:sp>
        <p:nvSpPr>
          <p:cNvPr id="36" name="Text 34"/>
          <p:cNvSpPr txBox="1"/>
          <p:nvPr/>
        </p:nvSpPr>
        <p:spPr>
          <a:xfrm>
            <a:off x="6643116" y="5148072"/>
            <a:ext cx="4448556" cy="77724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GitHub versiona el código y deja evidencia de los aportes. Obsidian concentra el backlog, las tareas y la documentación del proyecto.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07</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Competencias del perfil de egreso</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Cómo tributa ACE a las cuatro competencias del plan de estudio</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9</a:t>
            </a:r>
            <a:endParaRPr lang="en-US" sz="1050" dirty="0"/>
          </a:p>
        </p:txBody>
      </p:sp>
      <p:sp>
        <p:nvSpPr>
          <p:cNvPr id="7" name="Shape 5"/>
          <p:cNvSpPr/>
          <p:nvPr/>
        </p:nvSpPr>
        <p:spPr>
          <a:xfrm>
            <a:off x="685800" y="1810512"/>
            <a:ext cx="5271516" cy="2057400"/>
          </a:xfrm>
          <a:prstGeom prst="roundRect">
            <a:avLst>
              <a:gd name="adj" fmla="val 4444"/>
            </a:avLst>
          </a:prstGeom>
          <a:solidFill>
            <a:srgbClr val="F6F7F9"/>
          </a:solidFill>
          <a:ln/>
        </p:spPr>
      </p:sp>
      <p:sp>
        <p:nvSpPr>
          <p:cNvPr id="8" name="Shape 6"/>
          <p:cNvSpPr/>
          <p:nvPr/>
        </p:nvSpPr>
        <p:spPr>
          <a:xfrm>
            <a:off x="1097280" y="2066544"/>
            <a:ext cx="457200" cy="457200"/>
          </a:xfrm>
          <a:prstGeom prst="roundRect">
            <a:avLst>
              <a:gd name="adj" fmla="val 20000"/>
            </a:avLst>
          </a:prstGeom>
          <a:solidFill>
            <a:srgbClr val="E8590C"/>
          </a:solidFill>
          <a:ln/>
        </p:spPr>
      </p:sp>
      <p:sp>
        <p:nvSpPr>
          <p:cNvPr id="9" name="Text 7"/>
          <p:cNvSpPr txBox="1"/>
          <p:nvPr/>
        </p:nvSpPr>
        <p:spPr>
          <a:xfrm>
            <a:off x="1097280" y="2066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C1</a:t>
            </a:r>
            <a:endParaRPr lang="en-US" sz="1500" dirty="0"/>
          </a:p>
        </p:txBody>
      </p:sp>
      <p:sp>
        <p:nvSpPr>
          <p:cNvPr id="10" name="Text 8"/>
          <p:cNvSpPr txBox="1"/>
          <p:nvPr/>
        </p:nvSpPr>
        <p:spPr>
          <a:xfrm>
            <a:off x="1691640" y="2029968"/>
            <a:ext cx="3854196" cy="530352"/>
          </a:xfrm>
          <a:prstGeom prst="rect">
            <a:avLst/>
          </a:prstGeom>
          <a:noFill/>
          <a:ln/>
        </p:spPr>
        <p:txBody>
          <a:bodyPr wrap="square" lIns="0" tIns="0" rIns="0" bIns="0" rtlCol="0" anchor="ctr"/>
          <a:lstStyle/>
          <a:p>
            <a:pPr indent="0" marL="0">
              <a:lnSpc>
                <a:spcPct val="105000"/>
              </a:lnSpc>
              <a:buNone/>
            </a:pPr>
            <a:r>
              <a:rPr lang="en-US" sz="1550" b="1" dirty="0">
                <a:solidFill>
                  <a:srgbClr val="101828"/>
                </a:solidFill>
                <a:latin typeface="Arial" pitchFamily="34" charset="0"/>
                <a:ea typeface="Arial" pitchFamily="34" charset="-122"/>
                <a:cs typeface="Arial" pitchFamily="34" charset="-120"/>
              </a:rPr>
              <a:t>Desarrollo e integración de software</a:t>
            </a:r>
            <a:endParaRPr lang="en-US" sz="1550" dirty="0"/>
          </a:p>
        </p:txBody>
      </p:sp>
      <p:sp>
        <p:nvSpPr>
          <p:cNvPr id="11" name="Text 9"/>
          <p:cNvSpPr txBox="1"/>
          <p:nvPr/>
        </p:nvSpPr>
        <p:spPr>
          <a:xfrm>
            <a:off x="1097280" y="2679192"/>
            <a:ext cx="4448556" cy="105156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Monolito modular en Laravel con panel Filament v5, API REST y WebSockets para comunicarse con los NUC, aplicando estándares de calidad y mantenibilidad.</a:t>
            </a:r>
            <a:endParaRPr lang="en-US" sz="1400" dirty="0"/>
          </a:p>
        </p:txBody>
      </p:sp>
      <p:sp>
        <p:nvSpPr>
          <p:cNvPr id="12" name="Shape 10"/>
          <p:cNvSpPr/>
          <p:nvPr/>
        </p:nvSpPr>
        <p:spPr>
          <a:xfrm>
            <a:off x="6231636" y="1810512"/>
            <a:ext cx="5271516" cy="2057400"/>
          </a:xfrm>
          <a:prstGeom prst="roundRect">
            <a:avLst>
              <a:gd name="adj" fmla="val 4444"/>
            </a:avLst>
          </a:prstGeom>
          <a:solidFill>
            <a:srgbClr val="F6F7F9"/>
          </a:solidFill>
          <a:ln/>
        </p:spPr>
      </p:sp>
      <p:sp>
        <p:nvSpPr>
          <p:cNvPr id="13" name="Shape 11"/>
          <p:cNvSpPr/>
          <p:nvPr/>
        </p:nvSpPr>
        <p:spPr>
          <a:xfrm>
            <a:off x="6643116" y="2066544"/>
            <a:ext cx="457200" cy="457200"/>
          </a:xfrm>
          <a:prstGeom prst="roundRect">
            <a:avLst>
              <a:gd name="adj" fmla="val 20000"/>
            </a:avLst>
          </a:prstGeom>
          <a:solidFill>
            <a:srgbClr val="E8590C"/>
          </a:solidFill>
          <a:ln/>
        </p:spPr>
      </p:sp>
      <p:sp>
        <p:nvSpPr>
          <p:cNvPr id="14" name="Text 12"/>
          <p:cNvSpPr txBox="1"/>
          <p:nvPr/>
        </p:nvSpPr>
        <p:spPr>
          <a:xfrm>
            <a:off x="6643116" y="2066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C2</a:t>
            </a:r>
            <a:endParaRPr lang="en-US" sz="1500" dirty="0"/>
          </a:p>
        </p:txBody>
      </p:sp>
      <p:sp>
        <p:nvSpPr>
          <p:cNvPr id="15" name="Text 13"/>
          <p:cNvSpPr txBox="1"/>
          <p:nvPr/>
        </p:nvSpPr>
        <p:spPr>
          <a:xfrm>
            <a:off x="7237476" y="2029968"/>
            <a:ext cx="3854196" cy="530352"/>
          </a:xfrm>
          <a:prstGeom prst="rect">
            <a:avLst/>
          </a:prstGeom>
          <a:noFill/>
          <a:ln/>
        </p:spPr>
        <p:txBody>
          <a:bodyPr wrap="square" lIns="0" tIns="0" rIns="0" bIns="0" rtlCol="0" anchor="ctr"/>
          <a:lstStyle/>
          <a:p>
            <a:pPr indent="0" marL="0">
              <a:lnSpc>
                <a:spcPct val="105000"/>
              </a:lnSpc>
              <a:buNone/>
            </a:pPr>
            <a:r>
              <a:rPr lang="en-US" sz="1550" b="1" dirty="0">
                <a:solidFill>
                  <a:srgbClr val="101828"/>
                </a:solidFill>
                <a:latin typeface="Arial" pitchFamily="34" charset="0"/>
                <a:ea typeface="Arial" pitchFamily="34" charset="-122"/>
                <a:cs typeface="Arial" pitchFamily="34" charset="-120"/>
              </a:rPr>
              <a:t>Modelamiento y administración de bases de datos</a:t>
            </a:r>
            <a:endParaRPr lang="en-US" sz="1550" dirty="0"/>
          </a:p>
        </p:txBody>
      </p:sp>
      <p:sp>
        <p:nvSpPr>
          <p:cNvPr id="16" name="Text 14"/>
          <p:cNvSpPr txBox="1"/>
          <p:nvPr/>
        </p:nvSpPr>
        <p:spPr>
          <a:xfrm>
            <a:off x="6643116" y="2679192"/>
            <a:ext cx="4448556" cy="105156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Modelo relacional normalizado en MariaDB para locaciones, sectores, pantallas, medios, playlists y programación, con migraciones y caché IndexedDB en los Players.</a:t>
            </a:r>
            <a:endParaRPr lang="en-US" sz="1400" dirty="0"/>
          </a:p>
        </p:txBody>
      </p:sp>
      <p:sp>
        <p:nvSpPr>
          <p:cNvPr id="17" name="Shape 15"/>
          <p:cNvSpPr/>
          <p:nvPr/>
        </p:nvSpPr>
        <p:spPr>
          <a:xfrm>
            <a:off x="685800" y="4014216"/>
            <a:ext cx="5271516" cy="2057400"/>
          </a:xfrm>
          <a:prstGeom prst="roundRect">
            <a:avLst>
              <a:gd name="adj" fmla="val 4444"/>
            </a:avLst>
          </a:prstGeom>
          <a:solidFill>
            <a:srgbClr val="F6F7F9"/>
          </a:solidFill>
          <a:ln/>
        </p:spPr>
      </p:sp>
      <p:sp>
        <p:nvSpPr>
          <p:cNvPr id="18" name="Shape 16"/>
          <p:cNvSpPr/>
          <p:nvPr/>
        </p:nvSpPr>
        <p:spPr>
          <a:xfrm>
            <a:off x="1097280" y="4270248"/>
            <a:ext cx="457200" cy="457200"/>
          </a:xfrm>
          <a:prstGeom prst="roundRect">
            <a:avLst>
              <a:gd name="adj" fmla="val 20000"/>
            </a:avLst>
          </a:prstGeom>
          <a:solidFill>
            <a:srgbClr val="E8590C"/>
          </a:solidFill>
          <a:ln/>
        </p:spPr>
      </p:sp>
      <p:sp>
        <p:nvSpPr>
          <p:cNvPr id="19" name="Text 17"/>
          <p:cNvSpPr txBox="1"/>
          <p:nvPr/>
        </p:nvSpPr>
        <p:spPr>
          <a:xfrm>
            <a:off x="1097280" y="42702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C3</a:t>
            </a:r>
            <a:endParaRPr lang="en-US" sz="1500" dirty="0"/>
          </a:p>
        </p:txBody>
      </p:sp>
      <p:sp>
        <p:nvSpPr>
          <p:cNvPr id="20" name="Text 18"/>
          <p:cNvSpPr txBox="1"/>
          <p:nvPr/>
        </p:nvSpPr>
        <p:spPr>
          <a:xfrm>
            <a:off x="1691640" y="4233672"/>
            <a:ext cx="3854196" cy="530352"/>
          </a:xfrm>
          <a:prstGeom prst="rect">
            <a:avLst/>
          </a:prstGeom>
          <a:noFill/>
          <a:ln/>
        </p:spPr>
        <p:txBody>
          <a:bodyPr wrap="square" lIns="0" tIns="0" rIns="0" bIns="0" rtlCol="0" anchor="ctr"/>
          <a:lstStyle/>
          <a:p>
            <a:pPr indent="0" marL="0">
              <a:lnSpc>
                <a:spcPct val="105000"/>
              </a:lnSpc>
              <a:buNone/>
            </a:pPr>
            <a:r>
              <a:rPr lang="en-US" sz="1550" b="1" dirty="0">
                <a:solidFill>
                  <a:srgbClr val="101828"/>
                </a:solidFill>
                <a:latin typeface="Arial" pitchFamily="34" charset="0"/>
                <a:ea typeface="Arial" pitchFamily="34" charset="-122"/>
                <a:cs typeface="Arial" pitchFamily="34" charset="-120"/>
              </a:rPr>
              <a:t>Arquitectura y comunicaciones</a:t>
            </a:r>
            <a:endParaRPr lang="en-US" sz="1550" dirty="0"/>
          </a:p>
        </p:txBody>
      </p:sp>
      <p:sp>
        <p:nvSpPr>
          <p:cNvPr id="21" name="Text 19"/>
          <p:cNvSpPr txBox="1"/>
          <p:nvPr/>
        </p:nvSpPr>
        <p:spPr>
          <a:xfrm>
            <a:off x="1097280" y="4882896"/>
            <a:ext cx="4448556" cy="105156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Arquitectura distribuida entre plataforma central y Players, con sincronización por API y Laravel Reverb, y telemetría de conectividad de cada NUC.</a:t>
            </a:r>
            <a:endParaRPr lang="en-US" sz="1400" dirty="0"/>
          </a:p>
        </p:txBody>
      </p:sp>
      <p:sp>
        <p:nvSpPr>
          <p:cNvPr id="22" name="Shape 20"/>
          <p:cNvSpPr/>
          <p:nvPr/>
        </p:nvSpPr>
        <p:spPr>
          <a:xfrm>
            <a:off x="6231636" y="4014216"/>
            <a:ext cx="5271516" cy="2057400"/>
          </a:xfrm>
          <a:prstGeom prst="roundRect">
            <a:avLst>
              <a:gd name="adj" fmla="val 4444"/>
            </a:avLst>
          </a:prstGeom>
          <a:solidFill>
            <a:srgbClr val="F6F7F9"/>
          </a:solidFill>
          <a:ln/>
        </p:spPr>
      </p:sp>
      <p:sp>
        <p:nvSpPr>
          <p:cNvPr id="23" name="Shape 21"/>
          <p:cNvSpPr/>
          <p:nvPr/>
        </p:nvSpPr>
        <p:spPr>
          <a:xfrm>
            <a:off x="6643116" y="4270248"/>
            <a:ext cx="457200" cy="457200"/>
          </a:xfrm>
          <a:prstGeom prst="roundRect">
            <a:avLst>
              <a:gd name="adj" fmla="val 20000"/>
            </a:avLst>
          </a:prstGeom>
          <a:solidFill>
            <a:srgbClr val="E8590C"/>
          </a:solidFill>
          <a:ln/>
        </p:spPr>
      </p:sp>
      <p:sp>
        <p:nvSpPr>
          <p:cNvPr id="24" name="Text 22"/>
          <p:cNvSpPr txBox="1"/>
          <p:nvPr/>
        </p:nvSpPr>
        <p:spPr>
          <a:xfrm>
            <a:off x="6643116" y="42702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C4</a:t>
            </a:r>
            <a:endParaRPr lang="en-US" sz="1500" dirty="0"/>
          </a:p>
        </p:txBody>
      </p:sp>
      <p:sp>
        <p:nvSpPr>
          <p:cNvPr id="25" name="Text 23"/>
          <p:cNvSpPr txBox="1"/>
          <p:nvPr/>
        </p:nvSpPr>
        <p:spPr>
          <a:xfrm>
            <a:off x="7237476" y="4233672"/>
            <a:ext cx="3854196" cy="530352"/>
          </a:xfrm>
          <a:prstGeom prst="rect">
            <a:avLst/>
          </a:prstGeom>
          <a:noFill/>
          <a:ln/>
        </p:spPr>
        <p:txBody>
          <a:bodyPr wrap="square" lIns="0" tIns="0" rIns="0" bIns="0" rtlCol="0" anchor="ctr"/>
          <a:lstStyle/>
          <a:p>
            <a:pPr indent="0" marL="0">
              <a:lnSpc>
                <a:spcPct val="105000"/>
              </a:lnSpc>
              <a:buNone/>
            </a:pPr>
            <a:r>
              <a:rPr lang="en-US" sz="1550" b="1" dirty="0">
                <a:solidFill>
                  <a:srgbClr val="101828"/>
                </a:solidFill>
                <a:latin typeface="Arial" pitchFamily="34" charset="0"/>
                <a:ea typeface="Arial" pitchFamily="34" charset="-122"/>
                <a:cs typeface="Arial" pitchFamily="34" charset="-120"/>
              </a:rPr>
              <a:t>Gestión de proyectos y aseguramiento de la calidad</a:t>
            </a:r>
            <a:endParaRPr lang="en-US" sz="1550" dirty="0"/>
          </a:p>
        </p:txBody>
      </p:sp>
      <p:sp>
        <p:nvSpPr>
          <p:cNvPr id="26" name="Text 24"/>
          <p:cNvSpPr txBox="1"/>
          <p:nvPr/>
        </p:nvSpPr>
        <p:spPr>
          <a:xfrm>
            <a:off x="6643116" y="4882896"/>
            <a:ext cx="4448556" cy="1051560"/>
          </a:xfrm>
          <a:prstGeom prst="rect">
            <a:avLst/>
          </a:prstGeom>
          <a:noFill/>
          <a:ln/>
        </p:spPr>
        <p:txBody>
          <a:bodyPr wrap="square" lIns="0" tIns="0" rIns="0" bIns="0" rtlCol="0" anchor="t"/>
          <a:lstStyle/>
          <a:p>
            <a:pPr indent="0" marL="0">
              <a:lnSpc>
                <a:spcPct val="112000"/>
              </a:lnSpc>
              <a:buNone/>
            </a:pPr>
            <a:r>
              <a:rPr lang="en-US" sz="1400" dirty="0">
                <a:solidFill>
                  <a:srgbClr val="475467"/>
                </a:solidFill>
                <a:latin typeface="Calibri" pitchFamily="34" charset="0"/>
                <a:ea typeface="Calibri" pitchFamily="34" charset="-122"/>
                <a:cs typeface="Calibri" pitchFamily="34" charset="-120"/>
              </a:rPr>
              <a:t>Trabajo iterativo por hitos, trazabilidad de requerimientos en GitHub y Obsidian, y pruebas progresivas de integración y de continuidad offline.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08</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Riesgos y mitigación</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Obstaculizadores identificados en el análisis de factibilidad</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10</a:t>
            </a:r>
            <a:endParaRPr lang="en-US" sz="1050" dirty="0"/>
          </a:p>
        </p:txBody>
      </p:sp>
      <p:sp>
        <p:nvSpPr>
          <p:cNvPr id="7" name="Text 5"/>
          <p:cNvSpPr txBox="1"/>
          <p:nvPr/>
        </p:nvSpPr>
        <p:spPr>
          <a:xfrm>
            <a:off x="685800" y="1828800"/>
            <a:ext cx="3566160" cy="274320"/>
          </a:xfrm>
          <a:prstGeom prst="rect">
            <a:avLst/>
          </a:prstGeom>
          <a:noFill/>
          <a:ln/>
        </p:spPr>
        <p:txBody>
          <a:bodyPr wrap="square" lIns="0" tIns="0" rIns="0" bIns="0" rtlCol="0" anchor="ctr"/>
          <a:lstStyle/>
          <a:p>
            <a:pPr indent="0" marL="0">
              <a:buNone/>
            </a:pPr>
            <a:r>
              <a:rPr lang="en-US" sz="1150" b="1" spc="140" kern="0" dirty="0">
                <a:solidFill>
                  <a:srgbClr val="E8590C"/>
                </a:solidFill>
                <a:latin typeface="Calibri" pitchFamily="34" charset="0"/>
                <a:ea typeface="Calibri" pitchFamily="34" charset="-122"/>
                <a:cs typeface="Calibri" pitchFamily="34" charset="-120"/>
              </a:rPr>
              <a:t>RIESGO</a:t>
            </a:r>
            <a:endParaRPr lang="en-US" sz="1150" dirty="0"/>
          </a:p>
        </p:txBody>
      </p:sp>
      <p:sp>
        <p:nvSpPr>
          <p:cNvPr id="8" name="Text 6"/>
          <p:cNvSpPr txBox="1"/>
          <p:nvPr/>
        </p:nvSpPr>
        <p:spPr>
          <a:xfrm>
            <a:off x="4434840" y="1828800"/>
            <a:ext cx="1051560" cy="274320"/>
          </a:xfrm>
          <a:prstGeom prst="rect">
            <a:avLst/>
          </a:prstGeom>
          <a:noFill/>
          <a:ln/>
        </p:spPr>
        <p:txBody>
          <a:bodyPr wrap="square" lIns="0" tIns="0" rIns="0" bIns="0" rtlCol="0" anchor="ctr"/>
          <a:lstStyle/>
          <a:p>
            <a:pPr indent="0" marL="0">
              <a:buNone/>
            </a:pPr>
            <a:r>
              <a:rPr lang="en-US" sz="1150" b="1" spc="140" kern="0" dirty="0">
                <a:solidFill>
                  <a:srgbClr val="E8590C"/>
                </a:solidFill>
                <a:latin typeface="Calibri" pitchFamily="34" charset="0"/>
                <a:ea typeface="Calibri" pitchFamily="34" charset="-122"/>
                <a:cs typeface="Calibri" pitchFamily="34" charset="-120"/>
              </a:rPr>
              <a:t>IMPACTO</a:t>
            </a:r>
            <a:endParaRPr lang="en-US" sz="1150" dirty="0"/>
          </a:p>
        </p:txBody>
      </p:sp>
      <p:sp>
        <p:nvSpPr>
          <p:cNvPr id="9" name="Text 7"/>
          <p:cNvSpPr txBox="1"/>
          <p:nvPr/>
        </p:nvSpPr>
        <p:spPr>
          <a:xfrm>
            <a:off x="5760720" y="1828800"/>
            <a:ext cx="5742432" cy="274320"/>
          </a:xfrm>
          <a:prstGeom prst="rect">
            <a:avLst/>
          </a:prstGeom>
          <a:noFill/>
          <a:ln/>
        </p:spPr>
        <p:txBody>
          <a:bodyPr wrap="square" lIns="0" tIns="0" rIns="0" bIns="0" rtlCol="0" anchor="ctr"/>
          <a:lstStyle/>
          <a:p>
            <a:pPr indent="0" marL="0">
              <a:buNone/>
            </a:pPr>
            <a:r>
              <a:rPr lang="en-US" sz="1150" b="1" spc="140" kern="0" dirty="0">
                <a:solidFill>
                  <a:srgbClr val="E8590C"/>
                </a:solidFill>
                <a:latin typeface="Calibri" pitchFamily="34" charset="0"/>
                <a:ea typeface="Calibri" pitchFamily="34" charset="-122"/>
                <a:cs typeface="Calibri" pitchFamily="34" charset="-120"/>
              </a:rPr>
              <a:t>MITIGACIÓN</a:t>
            </a:r>
            <a:endParaRPr lang="en-US" sz="1150" dirty="0"/>
          </a:p>
        </p:txBody>
      </p:sp>
      <p:sp>
        <p:nvSpPr>
          <p:cNvPr id="10" name="Shape 8"/>
          <p:cNvSpPr/>
          <p:nvPr/>
        </p:nvSpPr>
        <p:spPr>
          <a:xfrm>
            <a:off x="685800" y="2212848"/>
            <a:ext cx="10817352" cy="896112"/>
          </a:xfrm>
          <a:prstGeom prst="roundRect">
            <a:avLst>
              <a:gd name="adj" fmla="val 10204"/>
            </a:avLst>
          </a:prstGeom>
          <a:solidFill>
            <a:srgbClr val="F6F7F9"/>
          </a:solidFill>
          <a:ln/>
        </p:spPr>
      </p:sp>
      <p:sp>
        <p:nvSpPr>
          <p:cNvPr id="11" name="Text 9"/>
          <p:cNvSpPr txBox="1"/>
          <p:nvPr/>
        </p:nvSpPr>
        <p:spPr>
          <a:xfrm>
            <a:off x="1051560" y="2212848"/>
            <a:ext cx="3291840" cy="896112"/>
          </a:xfrm>
          <a:prstGeom prst="rect">
            <a:avLst/>
          </a:prstGeom>
          <a:noFill/>
          <a:ln/>
        </p:spPr>
        <p:txBody>
          <a:bodyPr wrap="square" lIns="0" tIns="0" rIns="0" bIns="0" rtlCol="0" anchor="ctr"/>
          <a:lstStyle/>
          <a:p>
            <a:pPr indent="0" marL="0">
              <a:lnSpc>
                <a:spcPct val="105000"/>
              </a:lnSpc>
              <a:buNone/>
            </a:pPr>
            <a:r>
              <a:rPr lang="en-US" sz="1500" b="1" dirty="0">
                <a:solidFill>
                  <a:srgbClr val="101828"/>
                </a:solidFill>
                <a:latin typeface="Arial" pitchFamily="34" charset="0"/>
                <a:ea typeface="Arial" pitchFamily="34" charset="-122"/>
                <a:cs typeface="Arial" pitchFamily="34" charset="-120"/>
              </a:rPr>
              <a:t>Pérdida de red en el recinto</a:t>
            </a:r>
            <a:endParaRPr lang="en-US" sz="1500" dirty="0"/>
          </a:p>
        </p:txBody>
      </p:sp>
      <p:sp>
        <p:nvSpPr>
          <p:cNvPr id="12" name="Shape 10"/>
          <p:cNvSpPr/>
          <p:nvPr/>
        </p:nvSpPr>
        <p:spPr>
          <a:xfrm>
            <a:off x="4434840" y="2468880"/>
            <a:ext cx="868680" cy="384048"/>
          </a:xfrm>
          <a:prstGeom prst="roundRect">
            <a:avLst>
              <a:gd name="adj" fmla="val 19048"/>
            </a:avLst>
          </a:prstGeom>
          <a:solidFill>
            <a:srgbClr val="E8590C"/>
          </a:solidFill>
          <a:ln/>
        </p:spPr>
      </p:sp>
      <p:sp>
        <p:nvSpPr>
          <p:cNvPr id="13" name="Text 11"/>
          <p:cNvSpPr txBox="1"/>
          <p:nvPr/>
        </p:nvSpPr>
        <p:spPr>
          <a:xfrm>
            <a:off x="4434840" y="2468880"/>
            <a:ext cx="86868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Alto</a:t>
            </a:r>
            <a:endParaRPr lang="en-US" sz="1300" dirty="0"/>
          </a:p>
        </p:txBody>
      </p:sp>
      <p:sp>
        <p:nvSpPr>
          <p:cNvPr id="14" name="Text 12"/>
          <p:cNvSpPr txBox="1"/>
          <p:nvPr/>
        </p:nvSpPr>
        <p:spPr>
          <a:xfrm>
            <a:off x="5760720" y="2212848"/>
            <a:ext cx="5486400" cy="896112"/>
          </a:xfrm>
          <a:prstGeom prst="rect">
            <a:avLst/>
          </a:prstGeom>
          <a:noFill/>
          <a:ln/>
        </p:spPr>
        <p:txBody>
          <a:bodyPr wrap="square" lIns="0" tIns="0" rIns="0" bIns="0" rtlCol="0" anchor="ctr"/>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Caché local en IndexedDB: la pantalla reproduce desde los recursos ya sincronizados.</a:t>
            </a:r>
            <a:endParaRPr lang="en-US" sz="1500" dirty="0"/>
          </a:p>
        </p:txBody>
      </p:sp>
      <p:sp>
        <p:nvSpPr>
          <p:cNvPr id="15" name="Shape 13"/>
          <p:cNvSpPr/>
          <p:nvPr/>
        </p:nvSpPr>
        <p:spPr>
          <a:xfrm>
            <a:off x="685800" y="3246120"/>
            <a:ext cx="10817352" cy="896112"/>
          </a:xfrm>
          <a:prstGeom prst="roundRect">
            <a:avLst>
              <a:gd name="adj" fmla="val 10204"/>
            </a:avLst>
          </a:prstGeom>
          <a:solidFill>
            <a:srgbClr val="F6F7F9"/>
          </a:solidFill>
          <a:ln/>
        </p:spPr>
      </p:sp>
      <p:sp>
        <p:nvSpPr>
          <p:cNvPr id="16" name="Text 14"/>
          <p:cNvSpPr txBox="1"/>
          <p:nvPr/>
        </p:nvSpPr>
        <p:spPr>
          <a:xfrm>
            <a:off x="1051560" y="3246120"/>
            <a:ext cx="3291840" cy="896112"/>
          </a:xfrm>
          <a:prstGeom prst="rect">
            <a:avLst/>
          </a:prstGeom>
          <a:noFill/>
          <a:ln/>
        </p:spPr>
        <p:txBody>
          <a:bodyPr wrap="square" lIns="0" tIns="0" rIns="0" bIns="0" rtlCol="0" anchor="ctr"/>
          <a:lstStyle/>
          <a:p>
            <a:pPr indent="0" marL="0">
              <a:lnSpc>
                <a:spcPct val="105000"/>
              </a:lnSpc>
              <a:buNone/>
            </a:pPr>
            <a:r>
              <a:rPr lang="en-US" sz="1500" b="1" dirty="0">
                <a:solidFill>
                  <a:srgbClr val="101828"/>
                </a:solidFill>
                <a:latin typeface="Arial" pitchFamily="34" charset="0"/>
                <a:ea typeface="Arial" pitchFamily="34" charset="-122"/>
                <a:cs typeface="Arial" pitchFamily="34" charset="-120"/>
              </a:rPr>
              <a:t>Formatos multimedia heterogéneos</a:t>
            </a:r>
            <a:endParaRPr lang="en-US" sz="1500" dirty="0"/>
          </a:p>
        </p:txBody>
      </p:sp>
      <p:sp>
        <p:nvSpPr>
          <p:cNvPr id="17" name="Shape 15"/>
          <p:cNvSpPr/>
          <p:nvPr/>
        </p:nvSpPr>
        <p:spPr>
          <a:xfrm>
            <a:off x="4434840" y="3502152"/>
            <a:ext cx="868680" cy="384048"/>
          </a:xfrm>
          <a:prstGeom prst="roundRect">
            <a:avLst>
              <a:gd name="adj" fmla="val 19048"/>
            </a:avLst>
          </a:prstGeom>
          <a:solidFill>
            <a:srgbClr val="E4E7EC"/>
          </a:solidFill>
          <a:ln/>
        </p:spPr>
      </p:sp>
      <p:sp>
        <p:nvSpPr>
          <p:cNvPr id="18" name="Text 16"/>
          <p:cNvSpPr txBox="1"/>
          <p:nvPr/>
        </p:nvSpPr>
        <p:spPr>
          <a:xfrm>
            <a:off x="4434840" y="3502152"/>
            <a:ext cx="868680" cy="384048"/>
          </a:xfrm>
          <a:prstGeom prst="rect">
            <a:avLst/>
          </a:prstGeom>
          <a:noFill/>
          <a:ln/>
        </p:spPr>
        <p:txBody>
          <a:bodyPr wrap="square" lIns="0" tIns="0" rIns="0" bIns="0" rtlCol="0" anchor="ctr"/>
          <a:lstStyle/>
          <a:p>
            <a:pPr algn="ctr" indent="0" marL="0">
              <a:buNone/>
            </a:pPr>
            <a:r>
              <a:rPr lang="en-US" sz="1300" b="1" dirty="0">
                <a:solidFill>
                  <a:srgbClr val="475467"/>
                </a:solidFill>
                <a:latin typeface="Calibri" pitchFamily="34" charset="0"/>
                <a:ea typeface="Calibri" pitchFamily="34" charset="-122"/>
                <a:cs typeface="Calibri" pitchFamily="34" charset="-120"/>
              </a:rPr>
              <a:t>Medio</a:t>
            </a:r>
            <a:endParaRPr lang="en-US" sz="1300" dirty="0"/>
          </a:p>
        </p:txBody>
      </p:sp>
      <p:sp>
        <p:nvSpPr>
          <p:cNvPr id="19" name="Text 17"/>
          <p:cNvSpPr txBox="1"/>
          <p:nvPr/>
        </p:nvSpPr>
        <p:spPr>
          <a:xfrm>
            <a:off x="5760720" y="3246120"/>
            <a:ext cx="5486400" cy="896112"/>
          </a:xfrm>
          <a:prstGeom prst="rect">
            <a:avLst/>
          </a:prstGeom>
          <a:noFill/>
          <a:ln/>
        </p:spPr>
        <p:txBody>
          <a:bodyPr wrap="square" lIns="0" tIns="0" rIns="0" bIns="0" rtlCol="0" anchor="ctr"/>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Formatos admitidos: MP4 H.264, JPG, PNG y GIF, validados durante la carga.</a:t>
            </a:r>
            <a:endParaRPr lang="en-US" sz="1500" dirty="0"/>
          </a:p>
        </p:txBody>
      </p:sp>
      <p:sp>
        <p:nvSpPr>
          <p:cNvPr id="20" name="Shape 18"/>
          <p:cNvSpPr/>
          <p:nvPr/>
        </p:nvSpPr>
        <p:spPr>
          <a:xfrm>
            <a:off x="685800" y="4279392"/>
            <a:ext cx="10817352" cy="896112"/>
          </a:xfrm>
          <a:prstGeom prst="roundRect">
            <a:avLst>
              <a:gd name="adj" fmla="val 10204"/>
            </a:avLst>
          </a:prstGeom>
          <a:solidFill>
            <a:srgbClr val="F6F7F9"/>
          </a:solidFill>
          <a:ln/>
        </p:spPr>
      </p:sp>
      <p:sp>
        <p:nvSpPr>
          <p:cNvPr id="21" name="Text 19"/>
          <p:cNvSpPr txBox="1"/>
          <p:nvPr/>
        </p:nvSpPr>
        <p:spPr>
          <a:xfrm>
            <a:off x="1051560" y="4279392"/>
            <a:ext cx="3291840" cy="896112"/>
          </a:xfrm>
          <a:prstGeom prst="rect">
            <a:avLst/>
          </a:prstGeom>
          <a:noFill/>
          <a:ln/>
        </p:spPr>
        <p:txBody>
          <a:bodyPr wrap="square" lIns="0" tIns="0" rIns="0" bIns="0" rtlCol="0" anchor="ctr"/>
          <a:lstStyle/>
          <a:p>
            <a:pPr indent="0" marL="0">
              <a:lnSpc>
                <a:spcPct val="105000"/>
              </a:lnSpc>
              <a:buNone/>
            </a:pPr>
            <a:r>
              <a:rPr lang="en-US" sz="1500" b="1" dirty="0">
                <a:solidFill>
                  <a:srgbClr val="101828"/>
                </a:solidFill>
                <a:latin typeface="Arial" pitchFamily="34" charset="0"/>
                <a:ea typeface="Arial" pitchFamily="34" charset="-122"/>
                <a:cs typeface="Arial" pitchFamily="34" charset="-120"/>
              </a:rPr>
              <a:t>Hardware de pruebas no disponible a tiempo</a:t>
            </a:r>
            <a:endParaRPr lang="en-US" sz="1500" dirty="0"/>
          </a:p>
        </p:txBody>
      </p:sp>
      <p:sp>
        <p:nvSpPr>
          <p:cNvPr id="22" name="Shape 20"/>
          <p:cNvSpPr/>
          <p:nvPr/>
        </p:nvSpPr>
        <p:spPr>
          <a:xfrm>
            <a:off x="4434840" y="4535424"/>
            <a:ext cx="868680" cy="384048"/>
          </a:xfrm>
          <a:prstGeom prst="roundRect">
            <a:avLst>
              <a:gd name="adj" fmla="val 19048"/>
            </a:avLst>
          </a:prstGeom>
          <a:solidFill>
            <a:srgbClr val="E4E7EC"/>
          </a:solidFill>
          <a:ln/>
        </p:spPr>
      </p:sp>
      <p:sp>
        <p:nvSpPr>
          <p:cNvPr id="23" name="Text 21"/>
          <p:cNvSpPr txBox="1"/>
          <p:nvPr/>
        </p:nvSpPr>
        <p:spPr>
          <a:xfrm>
            <a:off x="4434840" y="4535424"/>
            <a:ext cx="868680" cy="384048"/>
          </a:xfrm>
          <a:prstGeom prst="rect">
            <a:avLst/>
          </a:prstGeom>
          <a:noFill/>
          <a:ln/>
        </p:spPr>
        <p:txBody>
          <a:bodyPr wrap="square" lIns="0" tIns="0" rIns="0" bIns="0" rtlCol="0" anchor="ctr"/>
          <a:lstStyle/>
          <a:p>
            <a:pPr algn="ctr" indent="0" marL="0">
              <a:buNone/>
            </a:pPr>
            <a:r>
              <a:rPr lang="en-US" sz="1300" b="1" dirty="0">
                <a:solidFill>
                  <a:srgbClr val="475467"/>
                </a:solidFill>
                <a:latin typeface="Calibri" pitchFamily="34" charset="0"/>
                <a:ea typeface="Calibri" pitchFamily="34" charset="-122"/>
                <a:cs typeface="Calibri" pitchFamily="34" charset="-120"/>
              </a:rPr>
              <a:t>Medio</a:t>
            </a:r>
            <a:endParaRPr lang="en-US" sz="1300" dirty="0"/>
          </a:p>
        </p:txBody>
      </p:sp>
      <p:sp>
        <p:nvSpPr>
          <p:cNvPr id="24" name="Text 22"/>
          <p:cNvSpPr txBox="1"/>
          <p:nvPr/>
        </p:nvSpPr>
        <p:spPr>
          <a:xfrm>
            <a:off x="5760720" y="4279392"/>
            <a:ext cx="5486400" cy="896112"/>
          </a:xfrm>
          <a:prstGeom prst="rect">
            <a:avLst/>
          </a:prstGeom>
          <a:noFill/>
          <a:ln/>
        </p:spPr>
        <p:txBody>
          <a:bodyPr wrap="square" lIns="0" tIns="0" rIns="0" bIns="0" rtlCol="0" anchor="ctr"/>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Emulador web de pantalla, y checkpoint de compatibilidad con NUC real en la semana 8.</a:t>
            </a:r>
            <a:endParaRPr lang="en-US" sz="1500" dirty="0"/>
          </a:p>
        </p:txBody>
      </p:sp>
      <p:sp>
        <p:nvSpPr>
          <p:cNvPr id="25" name="Shape 23"/>
          <p:cNvSpPr/>
          <p:nvPr/>
        </p:nvSpPr>
        <p:spPr>
          <a:xfrm>
            <a:off x="685800" y="5312664"/>
            <a:ext cx="10817352" cy="896112"/>
          </a:xfrm>
          <a:prstGeom prst="roundRect">
            <a:avLst>
              <a:gd name="adj" fmla="val 10204"/>
            </a:avLst>
          </a:prstGeom>
          <a:solidFill>
            <a:srgbClr val="F6F7F9"/>
          </a:solidFill>
          <a:ln/>
        </p:spPr>
      </p:sp>
      <p:sp>
        <p:nvSpPr>
          <p:cNvPr id="26" name="Text 24"/>
          <p:cNvSpPr txBox="1"/>
          <p:nvPr/>
        </p:nvSpPr>
        <p:spPr>
          <a:xfrm>
            <a:off x="1051560" y="5312664"/>
            <a:ext cx="3291840" cy="896112"/>
          </a:xfrm>
          <a:prstGeom prst="rect">
            <a:avLst/>
          </a:prstGeom>
          <a:noFill/>
          <a:ln/>
        </p:spPr>
        <p:txBody>
          <a:bodyPr wrap="square" lIns="0" tIns="0" rIns="0" bIns="0" rtlCol="0" anchor="ctr"/>
          <a:lstStyle/>
          <a:p>
            <a:pPr indent="0" marL="0">
              <a:lnSpc>
                <a:spcPct val="105000"/>
              </a:lnSpc>
              <a:buNone/>
            </a:pPr>
            <a:r>
              <a:rPr lang="en-US" sz="1500" b="1" dirty="0">
                <a:solidFill>
                  <a:srgbClr val="101828"/>
                </a:solidFill>
                <a:latin typeface="Arial" pitchFamily="34" charset="0"/>
                <a:ea typeface="Arial" pitchFamily="34" charset="-122"/>
                <a:cs typeface="Arial" pitchFamily="34" charset="-120"/>
              </a:rPr>
              <a:t>Corrupción de archivos en la descarga</a:t>
            </a:r>
            <a:endParaRPr lang="en-US" sz="1500" dirty="0"/>
          </a:p>
        </p:txBody>
      </p:sp>
      <p:sp>
        <p:nvSpPr>
          <p:cNvPr id="27" name="Shape 25"/>
          <p:cNvSpPr/>
          <p:nvPr/>
        </p:nvSpPr>
        <p:spPr>
          <a:xfrm>
            <a:off x="4434840" y="5568696"/>
            <a:ext cx="868680" cy="384048"/>
          </a:xfrm>
          <a:prstGeom prst="roundRect">
            <a:avLst>
              <a:gd name="adj" fmla="val 19048"/>
            </a:avLst>
          </a:prstGeom>
          <a:solidFill>
            <a:srgbClr val="E4E7EC"/>
          </a:solidFill>
          <a:ln/>
        </p:spPr>
      </p:sp>
      <p:sp>
        <p:nvSpPr>
          <p:cNvPr id="28" name="Text 26"/>
          <p:cNvSpPr txBox="1"/>
          <p:nvPr/>
        </p:nvSpPr>
        <p:spPr>
          <a:xfrm>
            <a:off x="4434840" y="5568696"/>
            <a:ext cx="868680" cy="384048"/>
          </a:xfrm>
          <a:prstGeom prst="rect">
            <a:avLst/>
          </a:prstGeom>
          <a:noFill/>
          <a:ln/>
        </p:spPr>
        <p:txBody>
          <a:bodyPr wrap="square" lIns="0" tIns="0" rIns="0" bIns="0" rtlCol="0" anchor="ctr"/>
          <a:lstStyle/>
          <a:p>
            <a:pPr algn="ctr" indent="0" marL="0">
              <a:buNone/>
            </a:pPr>
            <a:r>
              <a:rPr lang="en-US" sz="1300" b="1" dirty="0">
                <a:solidFill>
                  <a:srgbClr val="475467"/>
                </a:solidFill>
                <a:latin typeface="Calibri" pitchFamily="34" charset="0"/>
                <a:ea typeface="Calibri" pitchFamily="34" charset="-122"/>
                <a:cs typeface="Calibri" pitchFamily="34" charset="-120"/>
              </a:rPr>
              <a:t>Medio</a:t>
            </a:r>
            <a:endParaRPr lang="en-US" sz="1300" dirty="0"/>
          </a:p>
        </p:txBody>
      </p:sp>
      <p:sp>
        <p:nvSpPr>
          <p:cNvPr id="29" name="Text 27"/>
          <p:cNvSpPr txBox="1"/>
          <p:nvPr/>
        </p:nvSpPr>
        <p:spPr>
          <a:xfrm>
            <a:off x="5760720" y="5312664"/>
            <a:ext cx="5486400" cy="896112"/>
          </a:xfrm>
          <a:prstGeom prst="rect">
            <a:avLst/>
          </a:prstGeom>
          <a:noFill/>
          <a:ln/>
        </p:spPr>
        <p:txBody>
          <a:bodyPr wrap="square" lIns="0" tIns="0" rIns="0" bIns="0" rtlCol="0" anchor="ctr"/>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Verificación SHA-256 antes de marcar un medio como listo para reproducir.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09</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Seguridad</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Controles contemplados en la primera versión, proporcionales al alcance</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11</a:t>
            </a:r>
            <a:endParaRPr lang="en-US" sz="1050" dirty="0"/>
          </a:p>
        </p:txBody>
      </p:sp>
      <p:sp>
        <p:nvSpPr>
          <p:cNvPr id="7" name="Shape 5"/>
          <p:cNvSpPr/>
          <p:nvPr/>
        </p:nvSpPr>
        <p:spPr>
          <a:xfrm>
            <a:off x="685800" y="1737360"/>
            <a:ext cx="10817352" cy="685800"/>
          </a:xfrm>
          <a:prstGeom prst="roundRect">
            <a:avLst>
              <a:gd name="adj" fmla="val 13333"/>
            </a:avLst>
          </a:prstGeom>
          <a:solidFill>
            <a:srgbClr val="F6F7F9"/>
          </a:solidFill>
          <a:ln/>
        </p:spPr>
      </p:sp>
      <p:sp>
        <p:nvSpPr>
          <p:cNvPr id="8" name="Shape 6"/>
          <p:cNvSpPr/>
          <p:nvPr/>
        </p:nvSpPr>
        <p:spPr>
          <a:xfrm>
            <a:off x="1069848" y="2016252"/>
            <a:ext cx="128016" cy="128016"/>
          </a:xfrm>
          <a:prstGeom prst="ellipse">
            <a:avLst/>
          </a:prstGeom>
          <a:solidFill>
            <a:srgbClr val="E8590C"/>
          </a:solidFill>
          <a:ln/>
        </p:spPr>
      </p:sp>
      <p:sp>
        <p:nvSpPr>
          <p:cNvPr id="9" name="Text 7"/>
          <p:cNvSpPr txBox="1"/>
          <p:nvPr/>
        </p:nvSpPr>
        <p:spPr>
          <a:xfrm>
            <a:off x="1380744" y="1737360"/>
            <a:ext cx="3017520" cy="685800"/>
          </a:xfrm>
          <a:prstGeom prst="rect">
            <a:avLst/>
          </a:prstGeom>
          <a:noFill/>
          <a:ln/>
        </p:spPr>
        <p:txBody>
          <a:bodyPr wrap="square" lIns="0" tIns="0" rIns="0" bIns="0" rtlCol="0" anchor="ctr"/>
          <a:lstStyle/>
          <a:p>
            <a:pPr indent="0" marL="0">
              <a:buNone/>
            </a:pPr>
            <a:r>
              <a:rPr lang="en-US" sz="1500" b="1" dirty="0">
                <a:solidFill>
                  <a:srgbClr val="101828"/>
                </a:solidFill>
                <a:latin typeface="Arial" pitchFamily="34" charset="0"/>
                <a:ea typeface="Arial" pitchFamily="34" charset="-122"/>
                <a:cs typeface="Arial" pitchFamily="34" charset="-120"/>
              </a:rPr>
              <a:t>Autenticación y permisos</a:t>
            </a:r>
            <a:endParaRPr lang="en-US" sz="1500" dirty="0"/>
          </a:p>
        </p:txBody>
      </p:sp>
      <p:sp>
        <p:nvSpPr>
          <p:cNvPr id="10" name="Text 8"/>
          <p:cNvSpPr txBox="1"/>
          <p:nvPr/>
        </p:nvSpPr>
        <p:spPr>
          <a:xfrm>
            <a:off x="4434840" y="1737360"/>
            <a:ext cx="6812280" cy="685800"/>
          </a:xfrm>
          <a:prstGeom prst="rect">
            <a:avLst/>
          </a:prstGeom>
          <a:noFill/>
          <a:ln/>
        </p:spPr>
        <p:txBody>
          <a:bodyPr wrap="square" lIns="0" tIns="0" rIns="0" bIns="0" rtlCol="0" anchor="ctr"/>
          <a:lstStyle/>
          <a:p>
            <a:pPr indent="0" marL="0">
              <a:buNone/>
            </a:pPr>
            <a:r>
              <a:rPr lang="en-US" sz="1450" dirty="0">
                <a:solidFill>
                  <a:srgbClr val="475467"/>
                </a:solidFill>
                <a:latin typeface="Calibri" pitchFamily="34" charset="0"/>
                <a:ea typeface="Calibri" pitchFamily="34" charset="-122"/>
                <a:cs typeface="Calibri" pitchFamily="34" charset="-120"/>
              </a:rPr>
              <a:t>Sesiones de Laravel; las operaciones se limitan por rol y por las locaciones autorizadas de cada usuario.</a:t>
            </a:r>
            <a:endParaRPr lang="en-US" sz="1450" dirty="0"/>
          </a:p>
        </p:txBody>
      </p:sp>
      <p:sp>
        <p:nvSpPr>
          <p:cNvPr id="11" name="Shape 9"/>
          <p:cNvSpPr/>
          <p:nvPr/>
        </p:nvSpPr>
        <p:spPr>
          <a:xfrm>
            <a:off x="685800" y="2496312"/>
            <a:ext cx="10817352" cy="685800"/>
          </a:xfrm>
          <a:prstGeom prst="roundRect">
            <a:avLst>
              <a:gd name="adj" fmla="val 13333"/>
            </a:avLst>
          </a:prstGeom>
          <a:solidFill>
            <a:srgbClr val="F6F7F9"/>
          </a:solidFill>
          <a:ln/>
        </p:spPr>
      </p:sp>
      <p:sp>
        <p:nvSpPr>
          <p:cNvPr id="12" name="Shape 10"/>
          <p:cNvSpPr/>
          <p:nvPr/>
        </p:nvSpPr>
        <p:spPr>
          <a:xfrm>
            <a:off x="1069848" y="2775204"/>
            <a:ext cx="128016" cy="128016"/>
          </a:xfrm>
          <a:prstGeom prst="ellipse">
            <a:avLst/>
          </a:prstGeom>
          <a:solidFill>
            <a:srgbClr val="E8590C"/>
          </a:solidFill>
          <a:ln/>
        </p:spPr>
      </p:sp>
      <p:sp>
        <p:nvSpPr>
          <p:cNvPr id="13" name="Text 11"/>
          <p:cNvSpPr txBox="1"/>
          <p:nvPr/>
        </p:nvSpPr>
        <p:spPr>
          <a:xfrm>
            <a:off x="1380744" y="2496312"/>
            <a:ext cx="3017520" cy="685800"/>
          </a:xfrm>
          <a:prstGeom prst="rect">
            <a:avLst/>
          </a:prstGeom>
          <a:noFill/>
          <a:ln/>
        </p:spPr>
        <p:txBody>
          <a:bodyPr wrap="square" lIns="0" tIns="0" rIns="0" bIns="0" rtlCol="0" anchor="ctr"/>
          <a:lstStyle/>
          <a:p>
            <a:pPr indent="0" marL="0">
              <a:buNone/>
            </a:pPr>
            <a:r>
              <a:rPr lang="en-US" sz="1500" b="1" dirty="0">
                <a:solidFill>
                  <a:srgbClr val="101828"/>
                </a:solidFill>
                <a:latin typeface="Arial" pitchFamily="34" charset="0"/>
                <a:ea typeface="Arial" pitchFamily="34" charset="-122"/>
                <a:cs typeface="Arial" pitchFamily="34" charset="-120"/>
              </a:rPr>
              <a:t>Credenciales de dispositivo</a:t>
            </a:r>
            <a:endParaRPr lang="en-US" sz="1500" dirty="0"/>
          </a:p>
        </p:txBody>
      </p:sp>
      <p:sp>
        <p:nvSpPr>
          <p:cNvPr id="14" name="Text 12"/>
          <p:cNvSpPr txBox="1"/>
          <p:nvPr/>
        </p:nvSpPr>
        <p:spPr>
          <a:xfrm>
            <a:off x="4434840" y="2496312"/>
            <a:ext cx="6812280" cy="685800"/>
          </a:xfrm>
          <a:prstGeom prst="rect">
            <a:avLst/>
          </a:prstGeom>
          <a:noFill/>
          <a:ln/>
        </p:spPr>
        <p:txBody>
          <a:bodyPr wrap="square" lIns="0" tIns="0" rIns="0" bIns="0" rtlCol="0" anchor="ctr"/>
          <a:lstStyle/>
          <a:p>
            <a:pPr indent="0" marL="0">
              <a:buNone/>
            </a:pPr>
            <a:r>
              <a:rPr lang="en-US" sz="1450" dirty="0">
                <a:solidFill>
                  <a:srgbClr val="475467"/>
                </a:solidFill>
                <a:latin typeface="Calibri" pitchFamily="34" charset="0"/>
                <a:ea typeface="Calibri" pitchFamily="34" charset="-122"/>
                <a:cs typeface="Calibri" pitchFamily="34" charset="-120"/>
              </a:rPr>
              <a:t>Cada NUC se autentica con una credencial revocable de Laravel Sanctum, independiente de las sesiones de usuario.</a:t>
            </a:r>
            <a:endParaRPr lang="en-US" sz="1450" dirty="0"/>
          </a:p>
        </p:txBody>
      </p:sp>
      <p:sp>
        <p:nvSpPr>
          <p:cNvPr id="15" name="Shape 13"/>
          <p:cNvSpPr/>
          <p:nvPr/>
        </p:nvSpPr>
        <p:spPr>
          <a:xfrm>
            <a:off x="685800" y="3255264"/>
            <a:ext cx="10817352" cy="685800"/>
          </a:xfrm>
          <a:prstGeom prst="roundRect">
            <a:avLst>
              <a:gd name="adj" fmla="val 13333"/>
            </a:avLst>
          </a:prstGeom>
          <a:solidFill>
            <a:srgbClr val="F6F7F9"/>
          </a:solidFill>
          <a:ln/>
        </p:spPr>
      </p:sp>
      <p:sp>
        <p:nvSpPr>
          <p:cNvPr id="16" name="Shape 14"/>
          <p:cNvSpPr/>
          <p:nvPr/>
        </p:nvSpPr>
        <p:spPr>
          <a:xfrm>
            <a:off x="1069848" y="3534156"/>
            <a:ext cx="128016" cy="128016"/>
          </a:xfrm>
          <a:prstGeom prst="ellipse">
            <a:avLst/>
          </a:prstGeom>
          <a:solidFill>
            <a:srgbClr val="E8590C"/>
          </a:solidFill>
          <a:ln/>
        </p:spPr>
      </p:sp>
      <p:sp>
        <p:nvSpPr>
          <p:cNvPr id="17" name="Text 15"/>
          <p:cNvSpPr txBox="1"/>
          <p:nvPr/>
        </p:nvSpPr>
        <p:spPr>
          <a:xfrm>
            <a:off x="1380744" y="3255264"/>
            <a:ext cx="3017520" cy="685800"/>
          </a:xfrm>
          <a:prstGeom prst="rect">
            <a:avLst/>
          </a:prstGeom>
          <a:noFill/>
          <a:ln/>
        </p:spPr>
        <p:txBody>
          <a:bodyPr wrap="square" lIns="0" tIns="0" rIns="0" bIns="0" rtlCol="0" anchor="ctr"/>
          <a:lstStyle/>
          <a:p>
            <a:pPr indent="0" marL="0">
              <a:buNone/>
            </a:pPr>
            <a:r>
              <a:rPr lang="en-US" sz="1500" b="1" dirty="0">
                <a:solidFill>
                  <a:srgbClr val="101828"/>
                </a:solidFill>
                <a:latin typeface="Arial" pitchFamily="34" charset="0"/>
                <a:ea typeface="Arial" pitchFamily="34" charset="-122"/>
                <a:cs typeface="Arial" pitchFamily="34" charset="-120"/>
              </a:rPr>
              <a:t>Integridad de medios</a:t>
            </a:r>
            <a:endParaRPr lang="en-US" sz="1500" dirty="0"/>
          </a:p>
        </p:txBody>
      </p:sp>
      <p:sp>
        <p:nvSpPr>
          <p:cNvPr id="18" name="Text 16"/>
          <p:cNvSpPr txBox="1"/>
          <p:nvPr/>
        </p:nvSpPr>
        <p:spPr>
          <a:xfrm>
            <a:off x="4434840" y="3255264"/>
            <a:ext cx="6812280" cy="685800"/>
          </a:xfrm>
          <a:prstGeom prst="rect">
            <a:avLst/>
          </a:prstGeom>
          <a:noFill/>
          <a:ln/>
        </p:spPr>
        <p:txBody>
          <a:bodyPr wrap="square" lIns="0" tIns="0" rIns="0" bIns="0" rtlCol="0" anchor="ctr"/>
          <a:lstStyle/>
          <a:p>
            <a:pPr indent="0" marL="0">
              <a:buNone/>
            </a:pPr>
            <a:r>
              <a:rPr lang="en-US" sz="1450" dirty="0">
                <a:solidFill>
                  <a:srgbClr val="475467"/>
                </a:solidFill>
                <a:latin typeface="Calibri" pitchFamily="34" charset="0"/>
                <a:ea typeface="Calibri" pitchFamily="34" charset="-122"/>
                <a:cs typeface="Calibri" pitchFamily="34" charset="-120"/>
              </a:rPr>
              <a:t>Un archivo solo se marca como disponible si su hash SHA-256 coincide después de la descarga.</a:t>
            </a:r>
            <a:endParaRPr lang="en-US" sz="1450" dirty="0"/>
          </a:p>
        </p:txBody>
      </p:sp>
      <p:sp>
        <p:nvSpPr>
          <p:cNvPr id="19" name="Shape 17"/>
          <p:cNvSpPr/>
          <p:nvPr/>
        </p:nvSpPr>
        <p:spPr>
          <a:xfrm>
            <a:off x="685800" y="4014216"/>
            <a:ext cx="10817352" cy="685800"/>
          </a:xfrm>
          <a:prstGeom prst="roundRect">
            <a:avLst>
              <a:gd name="adj" fmla="val 13333"/>
            </a:avLst>
          </a:prstGeom>
          <a:solidFill>
            <a:srgbClr val="F6F7F9"/>
          </a:solidFill>
          <a:ln/>
        </p:spPr>
      </p:sp>
      <p:sp>
        <p:nvSpPr>
          <p:cNvPr id="20" name="Shape 18"/>
          <p:cNvSpPr/>
          <p:nvPr/>
        </p:nvSpPr>
        <p:spPr>
          <a:xfrm>
            <a:off x="1069848" y="4293108"/>
            <a:ext cx="128016" cy="128016"/>
          </a:xfrm>
          <a:prstGeom prst="ellipse">
            <a:avLst/>
          </a:prstGeom>
          <a:solidFill>
            <a:srgbClr val="E8590C"/>
          </a:solidFill>
          <a:ln/>
        </p:spPr>
      </p:sp>
      <p:sp>
        <p:nvSpPr>
          <p:cNvPr id="21" name="Text 19"/>
          <p:cNvSpPr txBox="1"/>
          <p:nvPr/>
        </p:nvSpPr>
        <p:spPr>
          <a:xfrm>
            <a:off x="1380744" y="4014216"/>
            <a:ext cx="3017520" cy="685800"/>
          </a:xfrm>
          <a:prstGeom prst="rect">
            <a:avLst/>
          </a:prstGeom>
          <a:noFill/>
          <a:ln/>
        </p:spPr>
        <p:txBody>
          <a:bodyPr wrap="square" lIns="0" tIns="0" rIns="0" bIns="0" rtlCol="0" anchor="ctr"/>
          <a:lstStyle/>
          <a:p>
            <a:pPr indent="0" marL="0">
              <a:buNone/>
            </a:pPr>
            <a:r>
              <a:rPr lang="en-US" sz="1500" b="1" dirty="0">
                <a:solidFill>
                  <a:srgbClr val="101828"/>
                </a:solidFill>
                <a:latin typeface="Arial" pitchFamily="34" charset="0"/>
                <a:ea typeface="Arial" pitchFamily="34" charset="-122"/>
                <a:cs typeface="Arial" pitchFamily="34" charset="-120"/>
              </a:rPr>
              <a:t>Comunicaciones</a:t>
            </a:r>
            <a:endParaRPr lang="en-US" sz="1500" dirty="0"/>
          </a:p>
        </p:txBody>
      </p:sp>
      <p:sp>
        <p:nvSpPr>
          <p:cNvPr id="22" name="Text 20"/>
          <p:cNvSpPr txBox="1"/>
          <p:nvPr/>
        </p:nvSpPr>
        <p:spPr>
          <a:xfrm>
            <a:off x="4434840" y="4014216"/>
            <a:ext cx="6812280" cy="685800"/>
          </a:xfrm>
          <a:prstGeom prst="rect">
            <a:avLst/>
          </a:prstGeom>
          <a:noFill/>
          <a:ln/>
        </p:spPr>
        <p:txBody>
          <a:bodyPr wrap="square" lIns="0" tIns="0" rIns="0" bIns="0" rtlCol="0" anchor="ctr"/>
          <a:lstStyle/>
          <a:p>
            <a:pPr indent="0" marL="0">
              <a:buNone/>
            </a:pPr>
            <a:r>
              <a:rPr lang="en-US" sz="1450" dirty="0">
                <a:solidFill>
                  <a:srgbClr val="475467"/>
                </a:solidFill>
                <a:latin typeface="Calibri" pitchFamily="34" charset="0"/>
                <a:ea typeface="Calibri" pitchFamily="34" charset="-122"/>
                <a:cs typeface="Calibri" pitchFamily="34" charset="-120"/>
              </a:rPr>
              <a:t>HTTPS para la API y WSS para los WebSockets en los despliegues remotos.</a:t>
            </a:r>
            <a:endParaRPr lang="en-US" sz="1450" dirty="0"/>
          </a:p>
        </p:txBody>
      </p:sp>
      <p:sp>
        <p:nvSpPr>
          <p:cNvPr id="23" name="Shape 21"/>
          <p:cNvSpPr/>
          <p:nvPr/>
        </p:nvSpPr>
        <p:spPr>
          <a:xfrm>
            <a:off x="685800" y="4773168"/>
            <a:ext cx="10817352" cy="685800"/>
          </a:xfrm>
          <a:prstGeom prst="roundRect">
            <a:avLst>
              <a:gd name="adj" fmla="val 13333"/>
            </a:avLst>
          </a:prstGeom>
          <a:solidFill>
            <a:srgbClr val="F6F7F9"/>
          </a:solidFill>
          <a:ln/>
        </p:spPr>
      </p:sp>
      <p:sp>
        <p:nvSpPr>
          <p:cNvPr id="24" name="Shape 22"/>
          <p:cNvSpPr/>
          <p:nvPr/>
        </p:nvSpPr>
        <p:spPr>
          <a:xfrm>
            <a:off x="1069848" y="5052060"/>
            <a:ext cx="128016" cy="128016"/>
          </a:xfrm>
          <a:prstGeom prst="ellipse">
            <a:avLst/>
          </a:prstGeom>
          <a:solidFill>
            <a:srgbClr val="E8590C"/>
          </a:solidFill>
          <a:ln/>
        </p:spPr>
      </p:sp>
      <p:sp>
        <p:nvSpPr>
          <p:cNvPr id="25" name="Text 23"/>
          <p:cNvSpPr txBox="1"/>
          <p:nvPr/>
        </p:nvSpPr>
        <p:spPr>
          <a:xfrm>
            <a:off x="1380744" y="4773168"/>
            <a:ext cx="3017520" cy="685800"/>
          </a:xfrm>
          <a:prstGeom prst="rect">
            <a:avLst/>
          </a:prstGeom>
          <a:noFill/>
          <a:ln/>
        </p:spPr>
        <p:txBody>
          <a:bodyPr wrap="square" lIns="0" tIns="0" rIns="0" bIns="0" rtlCol="0" anchor="ctr"/>
          <a:lstStyle/>
          <a:p>
            <a:pPr indent="0" marL="0">
              <a:buNone/>
            </a:pPr>
            <a:r>
              <a:rPr lang="en-US" sz="1500" b="1" dirty="0">
                <a:solidFill>
                  <a:srgbClr val="101828"/>
                </a:solidFill>
                <a:latin typeface="Arial" pitchFamily="34" charset="0"/>
                <a:ea typeface="Arial" pitchFamily="34" charset="-122"/>
                <a:cs typeface="Arial" pitchFamily="34" charset="-120"/>
              </a:rPr>
              <a:t>Protección de la aplicación</a:t>
            </a:r>
            <a:endParaRPr lang="en-US" sz="1500" dirty="0"/>
          </a:p>
        </p:txBody>
      </p:sp>
      <p:sp>
        <p:nvSpPr>
          <p:cNvPr id="26" name="Text 24"/>
          <p:cNvSpPr txBox="1"/>
          <p:nvPr/>
        </p:nvSpPr>
        <p:spPr>
          <a:xfrm>
            <a:off x="4434840" y="4773168"/>
            <a:ext cx="6812280" cy="685800"/>
          </a:xfrm>
          <a:prstGeom prst="rect">
            <a:avLst/>
          </a:prstGeom>
          <a:noFill/>
          <a:ln/>
        </p:spPr>
        <p:txBody>
          <a:bodyPr wrap="square" lIns="0" tIns="0" rIns="0" bIns="0" rtlCol="0" anchor="ctr"/>
          <a:lstStyle/>
          <a:p>
            <a:pPr indent="0" marL="0">
              <a:buNone/>
            </a:pPr>
            <a:r>
              <a:rPr lang="en-US" sz="1450" dirty="0">
                <a:solidFill>
                  <a:srgbClr val="475467"/>
                </a:solidFill>
                <a:latin typeface="Calibri" pitchFamily="34" charset="0"/>
                <a:ea typeface="Calibri" pitchFamily="34" charset="-122"/>
                <a:cs typeface="Calibri" pitchFamily="34" charset="-120"/>
              </a:rPr>
              <a:t>Validación de entradas, autorización en las operaciones sensibles y consultas parametrizadas.</a:t>
            </a:r>
            <a:endParaRPr lang="en-US" sz="1450" dirty="0"/>
          </a:p>
        </p:txBody>
      </p:sp>
      <p:sp>
        <p:nvSpPr>
          <p:cNvPr id="27" name="Shape 25"/>
          <p:cNvSpPr/>
          <p:nvPr/>
        </p:nvSpPr>
        <p:spPr>
          <a:xfrm>
            <a:off x="685800" y="5532120"/>
            <a:ext cx="10817352" cy="685800"/>
          </a:xfrm>
          <a:prstGeom prst="roundRect">
            <a:avLst>
              <a:gd name="adj" fmla="val 13333"/>
            </a:avLst>
          </a:prstGeom>
          <a:solidFill>
            <a:srgbClr val="F6F7F9"/>
          </a:solidFill>
          <a:ln/>
        </p:spPr>
      </p:sp>
      <p:sp>
        <p:nvSpPr>
          <p:cNvPr id="28" name="Shape 26"/>
          <p:cNvSpPr/>
          <p:nvPr/>
        </p:nvSpPr>
        <p:spPr>
          <a:xfrm>
            <a:off x="1069848" y="5811012"/>
            <a:ext cx="128016" cy="128016"/>
          </a:xfrm>
          <a:prstGeom prst="ellipse">
            <a:avLst/>
          </a:prstGeom>
          <a:solidFill>
            <a:srgbClr val="E8590C"/>
          </a:solidFill>
          <a:ln/>
        </p:spPr>
      </p:sp>
      <p:sp>
        <p:nvSpPr>
          <p:cNvPr id="29" name="Text 27"/>
          <p:cNvSpPr txBox="1"/>
          <p:nvPr/>
        </p:nvSpPr>
        <p:spPr>
          <a:xfrm>
            <a:off x="1380744" y="5532120"/>
            <a:ext cx="3017520" cy="685800"/>
          </a:xfrm>
          <a:prstGeom prst="rect">
            <a:avLst/>
          </a:prstGeom>
          <a:noFill/>
          <a:ln/>
        </p:spPr>
        <p:txBody>
          <a:bodyPr wrap="square" lIns="0" tIns="0" rIns="0" bIns="0" rtlCol="0" anchor="ctr"/>
          <a:lstStyle/>
          <a:p>
            <a:pPr indent="0" marL="0">
              <a:buNone/>
            </a:pPr>
            <a:r>
              <a:rPr lang="en-US" sz="1500" b="1" dirty="0">
                <a:solidFill>
                  <a:srgbClr val="101828"/>
                </a:solidFill>
                <a:latin typeface="Arial" pitchFamily="34" charset="0"/>
                <a:ea typeface="Arial" pitchFamily="34" charset="-122"/>
                <a:cs typeface="Arial" pitchFamily="34" charset="-120"/>
              </a:rPr>
              <a:t>Datos y secretos</a:t>
            </a:r>
            <a:endParaRPr lang="en-US" sz="1500" dirty="0"/>
          </a:p>
        </p:txBody>
      </p:sp>
      <p:sp>
        <p:nvSpPr>
          <p:cNvPr id="30" name="Text 28"/>
          <p:cNvSpPr txBox="1"/>
          <p:nvPr/>
        </p:nvSpPr>
        <p:spPr>
          <a:xfrm>
            <a:off x="4434840" y="5532120"/>
            <a:ext cx="6812280" cy="685800"/>
          </a:xfrm>
          <a:prstGeom prst="rect">
            <a:avLst/>
          </a:prstGeom>
          <a:noFill/>
          <a:ln/>
        </p:spPr>
        <p:txBody>
          <a:bodyPr wrap="square" lIns="0" tIns="0" rIns="0" bIns="0" rtlCol="0" anchor="ctr"/>
          <a:lstStyle/>
          <a:p>
            <a:pPr indent="0" marL="0">
              <a:buNone/>
            </a:pPr>
            <a:r>
              <a:rPr lang="en-US" sz="1450" dirty="0">
                <a:solidFill>
                  <a:srgbClr val="475467"/>
                </a:solidFill>
                <a:latin typeface="Calibri" pitchFamily="34" charset="0"/>
                <a:ea typeface="Calibri" pitchFamily="34" charset="-122"/>
                <a:cs typeface="Calibri" pitchFamily="34" charset="-120"/>
              </a:rPr>
              <a:t>Credenciales y secretos de despliegue fuera del repositorio público.</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10</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101828"/>
                </a:solidFill>
                <a:latin typeface="Arial" pitchFamily="34" charset="0"/>
                <a:ea typeface="Arial" pitchFamily="34" charset="-122"/>
                <a:cs typeface="Arial" pitchFamily="34" charset="-120"/>
              </a:rPr>
              <a:t>Modelo de negocio</a:t>
            </a:r>
            <a:endParaRPr lang="en-US" sz="3300" dirty="0"/>
          </a:p>
        </p:txBody>
      </p:sp>
      <p:sp>
        <p:nvSpPr>
          <p:cNvPr id="5" name="Text 3"/>
          <p:cNvSpPr txBox="1"/>
          <p:nvPr/>
        </p:nvSpPr>
        <p:spPr>
          <a:xfrm>
            <a:off x="1417320" y="996696"/>
            <a:ext cx="1008583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Herramienta interna para Lumina Motion, no un producto comercial</a:t>
            </a:r>
            <a:endParaRPr lang="en-US" sz="145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98A2B3"/>
                </a:solidFill>
                <a:latin typeface="Calibri" pitchFamily="34" charset="0"/>
                <a:ea typeface="Calibri" pitchFamily="34" charset="-122"/>
                <a:cs typeface="Calibri" pitchFamily="34" charset="-120"/>
              </a:rPr>
              <a:t>12</a:t>
            </a:r>
            <a:endParaRPr lang="en-US" sz="1050" dirty="0"/>
          </a:p>
        </p:txBody>
      </p:sp>
      <p:sp>
        <p:nvSpPr>
          <p:cNvPr id="7" name="Shape 5"/>
          <p:cNvSpPr/>
          <p:nvPr/>
        </p:nvSpPr>
        <p:spPr>
          <a:xfrm>
            <a:off x="685800" y="1828800"/>
            <a:ext cx="10817352" cy="1234440"/>
          </a:xfrm>
          <a:prstGeom prst="roundRect">
            <a:avLst>
              <a:gd name="adj" fmla="val 7407"/>
            </a:avLst>
          </a:prstGeom>
          <a:solidFill>
            <a:srgbClr val="F6F7F9"/>
          </a:solidFill>
          <a:ln/>
        </p:spPr>
      </p:sp>
      <p:sp>
        <p:nvSpPr>
          <p:cNvPr id="8" name="Text 6"/>
          <p:cNvSpPr txBox="1"/>
          <p:nvPr/>
        </p:nvSpPr>
        <p:spPr>
          <a:xfrm>
            <a:off x="1143000" y="1828800"/>
            <a:ext cx="9902952" cy="1234440"/>
          </a:xfrm>
          <a:prstGeom prst="rect">
            <a:avLst/>
          </a:prstGeom>
          <a:noFill/>
          <a:ln/>
        </p:spPr>
        <p:txBody>
          <a:bodyPr wrap="square" lIns="0" tIns="0" rIns="0" bIns="0" rtlCol="0" anchor="ctr"/>
          <a:lstStyle/>
          <a:p>
            <a:pPr indent="0" marL="0">
              <a:lnSpc>
                <a:spcPct val="115000"/>
              </a:lnSpc>
              <a:buNone/>
            </a:pPr>
            <a:r>
              <a:rPr lang="en-US" sz="1800" dirty="0">
                <a:solidFill>
                  <a:srgbClr val="101828"/>
                </a:solidFill>
                <a:latin typeface="Calibri" pitchFamily="34" charset="0"/>
                <a:ea typeface="Calibri" pitchFamily="34" charset="-122"/>
                <a:cs typeface="Calibri" pitchFamily="34" charset="-120"/>
              </a:rPr>
              <a:t>ACE es una plataforma interna (internal tooling) desarrollada para la operación de Lumina Motion. No contempla comercialización a terceros en esta etapa.</a:t>
            </a:r>
            <a:endParaRPr lang="en-US" sz="1800" dirty="0"/>
          </a:p>
        </p:txBody>
      </p:sp>
      <p:sp>
        <p:nvSpPr>
          <p:cNvPr id="9" name="Shape 7"/>
          <p:cNvSpPr/>
          <p:nvPr/>
        </p:nvSpPr>
        <p:spPr>
          <a:xfrm>
            <a:off x="685800" y="3246120"/>
            <a:ext cx="3422904" cy="1965960"/>
          </a:xfrm>
          <a:prstGeom prst="roundRect">
            <a:avLst>
              <a:gd name="adj" fmla="val 4651"/>
            </a:avLst>
          </a:prstGeom>
          <a:solidFill>
            <a:srgbClr val="F6F7F9"/>
          </a:solidFill>
          <a:ln/>
        </p:spPr>
      </p:sp>
      <p:sp>
        <p:nvSpPr>
          <p:cNvPr id="10" name="Text 8"/>
          <p:cNvSpPr txBox="1"/>
          <p:nvPr/>
        </p:nvSpPr>
        <p:spPr>
          <a:xfrm>
            <a:off x="1097280" y="3547872"/>
            <a:ext cx="2599944" cy="310896"/>
          </a:xfrm>
          <a:prstGeom prst="rect">
            <a:avLst/>
          </a:prstGeom>
          <a:noFill/>
          <a:ln/>
        </p:spPr>
        <p:txBody>
          <a:bodyPr wrap="square" lIns="0" tIns="0" rIns="0" bIns="0" rtlCol="0" anchor="t"/>
          <a:lstStyle/>
          <a:p>
            <a:pPr indent="0" marL="0">
              <a:lnSpc>
                <a:spcPct val="105000"/>
              </a:lnSpc>
              <a:buNone/>
            </a:pPr>
            <a:r>
              <a:rPr lang="en-US" sz="1700" b="1" dirty="0">
                <a:solidFill>
                  <a:srgbClr val="101828"/>
                </a:solidFill>
                <a:latin typeface="Arial" pitchFamily="34" charset="0"/>
                <a:ea typeface="Arial" pitchFamily="34" charset="-122"/>
                <a:cs typeface="Arial" pitchFamily="34" charset="-120"/>
              </a:rPr>
              <a:t>Centralización</a:t>
            </a:r>
            <a:endParaRPr lang="en-US" sz="1700" dirty="0"/>
          </a:p>
        </p:txBody>
      </p:sp>
      <p:sp>
        <p:nvSpPr>
          <p:cNvPr id="11" name="Text 9"/>
          <p:cNvSpPr txBox="1"/>
          <p:nvPr/>
        </p:nvSpPr>
        <p:spPr>
          <a:xfrm>
            <a:off x="1097280" y="3913632"/>
            <a:ext cx="2599944" cy="1371600"/>
          </a:xfrm>
          <a:prstGeom prst="rect">
            <a:avLst/>
          </a:prstGeom>
          <a:noFill/>
          <a:ln/>
        </p:spPr>
        <p:txBody>
          <a:bodyPr wrap="square" lIns="0" tIns="0" rIns="0" bIns="0" rtlCol="0" anchor="t"/>
          <a:lstStyle/>
          <a:p>
            <a:pPr indent="0" marL="0">
              <a:lnSpc>
                <a:spcPct val="115000"/>
              </a:lnSpc>
              <a:buNone/>
            </a:pPr>
            <a:r>
              <a:rPr lang="en-US" sz="1450" dirty="0">
                <a:solidFill>
                  <a:srgbClr val="475467"/>
                </a:solidFill>
                <a:latin typeface="Calibri" pitchFamily="34" charset="0"/>
                <a:ea typeface="Calibri" pitchFamily="34" charset="-122"/>
                <a:cs typeface="Calibri" pitchFamily="34" charset="-120"/>
              </a:rPr>
              <a:t>Gestión remota de pantallas, contenido y programación desde un solo lugar, sin depender de herramientas separadas.</a:t>
            </a:r>
            <a:endParaRPr lang="en-US" sz="1450" dirty="0"/>
          </a:p>
        </p:txBody>
      </p:sp>
      <p:sp>
        <p:nvSpPr>
          <p:cNvPr id="12" name="Shape 10"/>
          <p:cNvSpPr/>
          <p:nvPr/>
        </p:nvSpPr>
        <p:spPr>
          <a:xfrm>
            <a:off x="4383024" y="3246120"/>
            <a:ext cx="3422904" cy="1965960"/>
          </a:xfrm>
          <a:prstGeom prst="roundRect">
            <a:avLst>
              <a:gd name="adj" fmla="val 4651"/>
            </a:avLst>
          </a:prstGeom>
          <a:solidFill>
            <a:srgbClr val="F6F7F9"/>
          </a:solidFill>
          <a:ln/>
        </p:spPr>
      </p:sp>
      <p:sp>
        <p:nvSpPr>
          <p:cNvPr id="13" name="Text 11"/>
          <p:cNvSpPr txBox="1"/>
          <p:nvPr/>
        </p:nvSpPr>
        <p:spPr>
          <a:xfrm>
            <a:off x="4794504" y="3547872"/>
            <a:ext cx="2599944" cy="310896"/>
          </a:xfrm>
          <a:prstGeom prst="rect">
            <a:avLst/>
          </a:prstGeom>
          <a:noFill/>
          <a:ln/>
        </p:spPr>
        <p:txBody>
          <a:bodyPr wrap="square" lIns="0" tIns="0" rIns="0" bIns="0" rtlCol="0" anchor="t"/>
          <a:lstStyle/>
          <a:p>
            <a:pPr indent="0" marL="0">
              <a:lnSpc>
                <a:spcPct val="105000"/>
              </a:lnSpc>
              <a:buNone/>
            </a:pPr>
            <a:r>
              <a:rPr lang="en-US" sz="1700" b="1" dirty="0">
                <a:solidFill>
                  <a:srgbClr val="101828"/>
                </a:solidFill>
                <a:latin typeface="Arial" pitchFamily="34" charset="0"/>
                <a:ea typeface="Arial" pitchFamily="34" charset="-122"/>
                <a:cs typeface="Arial" pitchFamily="34" charset="-120"/>
              </a:rPr>
              <a:t>Continuidad</a:t>
            </a:r>
            <a:endParaRPr lang="en-US" sz="1700" dirty="0"/>
          </a:p>
        </p:txBody>
      </p:sp>
      <p:sp>
        <p:nvSpPr>
          <p:cNvPr id="14" name="Text 12"/>
          <p:cNvSpPr txBox="1"/>
          <p:nvPr/>
        </p:nvSpPr>
        <p:spPr>
          <a:xfrm>
            <a:off x="4794504" y="3913632"/>
            <a:ext cx="2599944" cy="1371600"/>
          </a:xfrm>
          <a:prstGeom prst="rect">
            <a:avLst/>
          </a:prstGeom>
          <a:noFill/>
          <a:ln/>
        </p:spPr>
        <p:txBody>
          <a:bodyPr wrap="square" lIns="0" tIns="0" rIns="0" bIns="0" rtlCol="0" anchor="t"/>
          <a:lstStyle/>
          <a:p>
            <a:pPr indent="0" marL="0">
              <a:lnSpc>
                <a:spcPct val="115000"/>
              </a:lnSpc>
              <a:buNone/>
            </a:pPr>
            <a:r>
              <a:rPr lang="en-US" sz="1450" dirty="0">
                <a:solidFill>
                  <a:srgbClr val="475467"/>
                </a:solidFill>
                <a:latin typeface="Calibri" pitchFamily="34" charset="0"/>
                <a:ea typeface="Calibri" pitchFamily="34" charset="-122"/>
                <a:cs typeface="Calibri" pitchFamily="34" charset="-120"/>
              </a:rPr>
              <a:t>La reproducción se mantiene localmente ante pérdidas de conectividad, que hoy detienen la operación.</a:t>
            </a:r>
            <a:endParaRPr lang="en-US" sz="1450" dirty="0"/>
          </a:p>
        </p:txBody>
      </p:sp>
      <p:sp>
        <p:nvSpPr>
          <p:cNvPr id="15" name="Shape 13"/>
          <p:cNvSpPr/>
          <p:nvPr/>
        </p:nvSpPr>
        <p:spPr>
          <a:xfrm>
            <a:off x="8080248" y="3246120"/>
            <a:ext cx="3422904" cy="1965960"/>
          </a:xfrm>
          <a:prstGeom prst="roundRect">
            <a:avLst>
              <a:gd name="adj" fmla="val 4651"/>
            </a:avLst>
          </a:prstGeom>
          <a:solidFill>
            <a:srgbClr val="F6F7F9"/>
          </a:solidFill>
          <a:ln/>
        </p:spPr>
      </p:sp>
      <p:sp>
        <p:nvSpPr>
          <p:cNvPr id="16" name="Text 14"/>
          <p:cNvSpPr txBox="1"/>
          <p:nvPr/>
        </p:nvSpPr>
        <p:spPr>
          <a:xfrm>
            <a:off x="8491728" y="3547872"/>
            <a:ext cx="2599944" cy="310896"/>
          </a:xfrm>
          <a:prstGeom prst="rect">
            <a:avLst/>
          </a:prstGeom>
          <a:noFill/>
          <a:ln/>
        </p:spPr>
        <p:txBody>
          <a:bodyPr wrap="square" lIns="0" tIns="0" rIns="0" bIns="0" rtlCol="0" anchor="t"/>
          <a:lstStyle/>
          <a:p>
            <a:pPr indent="0" marL="0">
              <a:lnSpc>
                <a:spcPct val="105000"/>
              </a:lnSpc>
              <a:buNone/>
            </a:pPr>
            <a:r>
              <a:rPr lang="en-US" sz="1700" b="1" dirty="0">
                <a:solidFill>
                  <a:srgbClr val="101828"/>
                </a:solidFill>
                <a:latin typeface="Arial" pitchFamily="34" charset="0"/>
                <a:ea typeface="Arial" pitchFamily="34" charset="-122"/>
                <a:cs typeface="Arial" pitchFamily="34" charset="-120"/>
              </a:rPr>
              <a:t>Menos fricción</a:t>
            </a:r>
            <a:endParaRPr lang="en-US" sz="1700" dirty="0"/>
          </a:p>
        </p:txBody>
      </p:sp>
      <p:sp>
        <p:nvSpPr>
          <p:cNvPr id="17" name="Text 15"/>
          <p:cNvSpPr txBox="1"/>
          <p:nvPr/>
        </p:nvSpPr>
        <p:spPr>
          <a:xfrm>
            <a:off x="8491728" y="3913632"/>
            <a:ext cx="2599944" cy="1371600"/>
          </a:xfrm>
          <a:prstGeom prst="rect">
            <a:avLst/>
          </a:prstGeom>
          <a:noFill/>
          <a:ln/>
        </p:spPr>
        <p:txBody>
          <a:bodyPr wrap="square" lIns="0" tIns="0" rIns="0" bIns="0" rtlCol="0" anchor="t"/>
          <a:lstStyle/>
          <a:p>
            <a:pPr indent="0" marL="0">
              <a:lnSpc>
                <a:spcPct val="115000"/>
              </a:lnSpc>
              <a:buNone/>
            </a:pPr>
            <a:r>
              <a:rPr lang="en-US" sz="1450" dirty="0">
                <a:solidFill>
                  <a:srgbClr val="475467"/>
                </a:solidFill>
                <a:latin typeface="Calibri" pitchFamily="34" charset="0"/>
                <a:ea typeface="Calibri" pitchFamily="34" charset="-122"/>
                <a:cs typeface="Calibri" pitchFamily="34" charset="-120"/>
              </a:rPr>
              <a:t>Reduce la dependencia de procesos dispersos y de intervención presencial para cambios rutinarios.</a:t>
            </a:r>
            <a:endParaRPr lang="en-US" sz="1450" dirty="0"/>
          </a:p>
        </p:txBody>
      </p:sp>
      <p:sp>
        <p:nvSpPr>
          <p:cNvPr id="18" name="Shape 16"/>
          <p:cNvSpPr/>
          <p:nvPr/>
        </p:nvSpPr>
        <p:spPr>
          <a:xfrm>
            <a:off x="685800" y="5440680"/>
            <a:ext cx="10817352" cy="777240"/>
          </a:xfrm>
          <a:prstGeom prst="roundRect">
            <a:avLst>
              <a:gd name="adj" fmla="val 11765"/>
            </a:avLst>
          </a:prstGeom>
          <a:solidFill>
            <a:srgbClr val="FDF0E8"/>
          </a:solidFill>
          <a:ln/>
        </p:spPr>
      </p:sp>
      <p:sp>
        <p:nvSpPr>
          <p:cNvPr id="19" name="Text 17"/>
          <p:cNvSpPr txBox="1"/>
          <p:nvPr/>
        </p:nvSpPr>
        <p:spPr>
          <a:xfrm>
            <a:off x="1143000" y="5440680"/>
            <a:ext cx="9902952" cy="777240"/>
          </a:xfrm>
          <a:prstGeom prst="rect">
            <a:avLst/>
          </a:prstGeom>
          <a:noFill/>
          <a:ln/>
        </p:spPr>
        <p:txBody>
          <a:bodyPr wrap="square" lIns="0" tIns="0" rIns="0" bIns="0" rtlCol="0" anchor="ctr"/>
          <a:lstStyle/>
          <a:p>
            <a:pPr indent="0" marL="0">
              <a:lnSpc>
                <a:spcPct val="120000"/>
              </a:lnSpc>
              <a:buNone/>
            </a:pPr>
            <a:r>
              <a:rPr lang="en-US" sz="1600" b="1" dirty="0">
                <a:solidFill>
                  <a:srgbClr val="8A3A0B"/>
                </a:solidFill>
                <a:latin typeface="Calibri" pitchFamily="34" charset="0"/>
                <a:ea typeface="Calibri" pitchFamily="34" charset="-122"/>
                <a:cs typeface="Calibri" pitchFamily="34" charset="-120"/>
              </a:rPr>
              <a:t>Los beneficios económicos y operacionales se validarán durante las pruebas con el cliente.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685800" y="384048"/>
            <a:ext cx="420624" cy="420624"/>
          </a:xfrm>
          <a:prstGeom prst="roundRect">
            <a:avLst>
              <a:gd name="adj" fmla="val 21739"/>
            </a:avLst>
          </a:prstGeom>
          <a:solidFill>
            <a:srgbClr val="E8590C"/>
          </a:solidFill>
          <a:ln/>
        </p:spPr>
      </p:sp>
      <p:sp>
        <p:nvSpPr>
          <p:cNvPr id="3" name="Text 1"/>
          <p:cNvSpPr txBox="1"/>
          <p:nvPr/>
        </p:nvSpPr>
        <p:spPr>
          <a:xfrm>
            <a:off x="685800" y="3840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11</a:t>
            </a:r>
            <a:endParaRPr lang="en-US" sz="1500" dirty="0"/>
          </a:p>
        </p:txBody>
      </p:sp>
      <p:sp>
        <p:nvSpPr>
          <p:cNvPr id="4" name="Text 2"/>
          <p:cNvSpPr txBox="1"/>
          <p:nvPr/>
        </p:nvSpPr>
        <p:spPr>
          <a:xfrm>
            <a:off x="1307592" y="329184"/>
            <a:ext cx="10195560" cy="3657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Gestión de pantallas</a:t>
            </a:r>
            <a:endParaRPr lang="en-US" sz="2400" dirty="0"/>
          </a:p>
        </p:txBody>
      </p:sp>
      <p:sp>
        <p:nvSpPr>
          <p:cNvPr id="5" name="Text 3"/>
          <p:cNvSpPr txBox="1"/>
          <p:nvPr/>
        </p:nvSpPr>
        <p:spPr>
          <a:xfrm>
            <a:off x="1307592" y="713232"/>
            <a:ext cx="10195560" cy="292608"/>
          </a:xfrm>
          <a:prstGeom prst="rect">
            <a:avLst/>
          </a:prstGeom>
          <a:noFill/>
          <a:ln/>
        </p:spPr>
        <p:txBody>
          <a:bodyPr wrap="square" lIns="0" tIns="0" rIns="0" bIns="0" rtlCol="0" anchor="ctr"/>
          <a:lstStyle/>
          <a:p>
            <a:pPr indent="0" marL="0">
              <a:buNone/>
            </a:pPr>
            <a:r>
              <a:rPr lang="en-US" sz="1400" dirty="0">
                <a:solidFill>
                  <a:srgbClr val="98A2B3"/>
                </a:solidFill>
                <a:latin typeface="Calibri" pitchFamily="34" charset="0"/>
                <a:ea typeface="Calibri" pitchFamily="34" charset="-122"/>
                <a:cs typeface="Calibri" pitchFamily="34" charset="-120"/>
              </a:rPr>
              <a:t>Estado de conexión, telemetría y playlist activa por pantalla.</a:t>
            </a:r>
            <a:endParaRPr lang="en-US" sz="140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5B6474"/>
                </a:solidFill>
                <a:latin typeface="Calibri" pitchFamily="34" charset="0"/>
                <a:ea typeface="Calibri" pitchFamily="34" charset="-122"/>
                <a:cs typeface="Calibri" pitchFamily="34" charset="-120"/>
              </a:rPr>
              <a:t>13</a:t>
            </a:r>
            <a:endParaRPr lang="en-US" sz="1050" dirty="0"/>
          </a:p>
        </p:txBody>
      </p:sp>
      <p:pic>
        <p:nvPicPr>
          <p:cNvPr id="7" name="Image 0" descr="C:\Users\Usuario\AppData\Local\Temp\claude\C--PROYECTOS-A-C-E\71b415ee-00db-4d3e-82d2-4f1bb9afe8a4\scratchpad\assets\cropped\mock_screens.jpg">    </p:cNvPr>
          <p:cNvPicPr>
            <a:picLocks noChangeAspect="1"/>
          </p:cNvPicPr>
          <p:nvPr/>
        </p:nvPicPr>
        <p:blipFill>
          <a:blip r:embed="rId1"/>
          <a:stretch>
            <a:fillRect/>
          </a:stretch>
        </p:blipFill>
        <p:spPr>
          <a:xfrm>
            <a:off x="3221797" y="1207008"/>
            <a:ext cx="5745358" cy="54406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685800" y="384048"/>
            <a:ext cx="420624" cy="420624"/>
          </a:xfrm>
          <a:prstGeom prst="roundRect">
            <a:avLst>
              <a:gd name="adj" fmla="val 21739"/>
            </a:avLst>
          </a:prstGeom>
          <a:solidFill>
            <a:srgbClr val="E8590C"/>
          </a:solidFill>
          <a:ln/>
        </p:spPr>
      </p:sp>
      <p:sp>
        <p:nvSpPr>
          <p:cNvPr id="3" name="Text 1"/>
          <p:cNvSpPr txBox="1"/>
          <p:nvPr/>
        </p:nvSpPr>
        <p:spPr>
          <a:xfrm>
            <a:off x="685800" y="3840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11</a:t>
            </a:r>
            <a:endParaRPr lang="en-US" sz="1500" dirty="0"/>
          </a:p>
        </p:txBody>
      </p:sp>
      <p:sp>
        <p:nvSpPr>
          <p:cNvPr id="4" name="Text 2"/>
          <p:cNvSpPr txBox="1"/>
          <p:nvPr/>
        </p:nvSpPr>
        <p:spPr>
          <a:xfrm>
            <a:off x="1307592" y="329184"/>
            <a:ext cx="10195560" cy="3657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Programación horaria</a:t>
            </a:r>
            <a:endParaRPr lang="en-US" sz="2400" dirty="0"/>
          </a:p>
        </p:txBody>
      </p:sp>
      <p:sp>
        <p:nvSpPr>
          <p:cNvPr id="5" name="Text 3"/>
          <p:cNvSpPr txBox="1"/>
          <p:nvPr/>
        </p:nvSpPr>
        <p:spPr>
          <a:xfrm>
            <a:off x="1307592" y="713232"/>
            <a:ext cx="10195560" cy="292608"/>
          </a:xfrm>
          <a:prstGeom prst="rect">
            <a:avLst/>
          </a:prstGeom>
          <a:noFill/>
          <a:ln/>
        </p:spPr>
        <p:txBody>
          <a:bodyPr wrap="square" lIns="0" tIns="0" rIns="0" bIns="0" rtlCol="0" anchor="ctr"/>
          <a:lstStyle/>
          <a:p>
            <a:pPr indent="0" marL="0">
              <a:buNone/>
            </a:pPr>
            <a:r>
              <a:rPr lang="en-US" sz="1400" dirty="0">
                <a:solidFill>
                  <a:srgbClr val="98A2B3"/>
                </a:solidFill>
                <a:latin typeface="Calibri" pitchFamily="34" charset="0"/>
                <a:ea typeface="Calibri" pitchFamily="34" charset="-122"/>
                <a:cs typeface="Calibri" pitchFamily="34" charset="-120"/>
              </a:rPr>
              <a:t>Franjas por día, recurrencia semanal y control de solapamientos.</a:t>
            </a:r>
            <a:endParaRPr lang="en-US" sz="140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5B6474"/>
                </a:solidFill>
                <a:latin typeface="Calibri" pitchFamily="34" charset="0"/>
                <a:ea typeface="Calibri" pitchFamily="34" charset="-122"/>
                <a:cs typeface="Calibri" pitchFamily="34" charset="-120"/>
              </a:rPr>
              <a:t>14</a:t>
            </a:r>
            <a:endParaRPr lang="en-US" sz="1050" dirty="0"/>
          </a:p>
        </p:txBody>
      </p:sp>
      <p:pic>
        <p:nvPicPr>
          <p:cNvPr id="7" name="Image 0" descr="C:\Users\Usuario\AppData\Local\Temp\claude\C--PROYECTOS-A-C-E\71b415ee-00db-4d3e-82d2-4f1bb9afe8a4\scratchpad\assets\cropped\mock_schedules.jpg">    </p:cNvPr>
          <p:cNvPicPr>
            <a:picLocks noChangeAspect="1"/>
          </p:cNvPicPr>
          <p:nvPr/>
        </p:nvPicPr>
        <p:blipFill>
          <a:blip r:embed="rId1"/>
          <a:stretch>
            <a:fillRect/>
          </a:stretch>
        </p:blipFill>
        <p:spPr>
          <a:xfrm>
            <a:off x="2462822" y="1207008"/>
            <a:ext cx="7263308" cy="54406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685800" y="384048"/>
            <a:ext cx="420624" cy="420624"/>
          </a:xfrm>
          <a:prstGeom prst="roundRect">
            <a:avLst>
              <a:gd name="adj" fmla="val 21739"/>
            </a:avLst>
          </a:prstGeom>
          <a:solidFill>
            <a:srgbClr val="E8590C"/>
          </a:solidFill>
          <a:ln/>
        </p:spPr>
      </p:sp>
      <p:sp>
        <p:nvSpPr>
          <p:cNvPr id="3" name="Text 1"/>
          <p:cNvSpPr txBox="1"/>
          <p:nvPr/>
        </p:nvSpPr>
        <p:spPr>
          <a:xfrm>
            <a:off x="685800" y="38404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11</a:t>
            </a:r>
            <a:endParaRPr lang="en-US" sz="1500" dirty="0"/>
          </a:p>
        </p:txBody>
      </p:sp>
      <p:sp>
        <p:nvSpPr>
          <p:cNvPr id="4" name="Text 2"/>
          <p:cNvSpPr txBox="1"/>
          <p:nvPr/>
        </p:nvSpPr>
        <p:spPr>
          <a:xfrm>
            <a:off x="1307592" y="329184"/>
            <a:ext cx="10195560" cy="36576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Biblioteca de medios</a:t>
            </a:r>
            <a:endParaRPr lang="en-US" sz="2400" dirty="0"/>
          </a:p>
        </p:txBody>
      </p:sp>
      <p:sp>
        <p:nvSpPr>
          <p:cNvPr id="5" name="Text 3"/>
          <p:cNvSpPr txBox="1"/>
          <p:nvPr/>
        </p:nvSpPr>
        <p:spPr>
          <a:xfrm>
            <a:off x="1307592" y="713232"/>
            <a:ext cx="10195560" cy="292608"/>
          </a:xfrm>
          <a:prstGeom prst="rect">
            <a:avLst/>
          </a:prstGeom>
          <a:noFill/>
          <a:ln/>
        </p:spPr>
        <p:txBody>
          <a:bodyPr wrap="square" lIns="0" tIns="0" rIns="0" bIns="0" rtlCol="0" anchor="ctr"/>
          <a:lstStyle/>
          <a:p>
            <a:pPr indent="0" marL="0">
              <a:buNone/>
            </a:pPr>
            <a:r>
              <a:rPr lang="en-US" sz="1400" dirty="0">
                <a:solidFill>
                  <a:srgbClr val="98A2B3"/>
                </a:solidFill>
                <a:latin typeface="Calibri" pitchFamily="34" charset="0"/>
                <a:ea typeface="Calibri" pitchFamily="34" charset="-122"/>
                <a:cs typeface="Calibri" pitchFamily="34" charset="-120"/>
              </a:rPr>
              <a:t>Catálogo por locación con verificación de integridad SHA-256.</a:t>
            </a:r>
            <a:endParaRPr lang="en-US" sz="1400" dirty="0"/>
          </a:p>
        </p:txBody>
      </p:sp>
      <p:sp>
        <p:nvSpPr>
          <p:cNvPr id="6" name="Text 4"/>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5B6474"/>
                </a:solidFill>
                <a:latin typeface="Calibri" pitchFamily="34" charset="0"/>
                <a:ea typeface="Calibri" pitchFamily="34" charset="-122"/>
                <a:cs typeface="Calibri" pitchFamily="34" charset="-120"/>
              </a:rPr>
              <a:t>15</a:t>
            </a:r>
            <a:endParaRPr lang="en-US" sz="1050" dirty="0"/>
          </a:p>
        </p:txBody>
      </p:sp>
      <p:pic>
        <p:nvPicPr>
          <p:cNvPr id="7" name="Image 0" descr="C:\Users\Usuario\AppData\Local\Temp\claude\C--PROYECTOS-A-C-E\71b415ee-00db-4d3e-82d2-4f1bb9afe8a4\scratchpad\assets\cropped\mock_library.jpg">    </p:cNvPr>
          <p:cNvPicPr>
            <a:picLocks noChangeAspect="1"/>
          </p:cNvPicPr>
          <p:nvPr/>
        </p:nvPicPr>
        <p:blipFill>
          <a:blip r:embed="rId1"/>
          <a:stretch>
            <a:fillRect/>
          </a:stretch>
        </p:blipFill>
        <p:spPr>
          <a:xfrm>
            <a:off x="2936161" y="1207008"/>
            <a:ext cx="6316629" cy="54406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685800" y="548640"/>
            <a:ext cx="512064" cy="512064"/>
          </a:xfrm>
          <a:prstGeom prst="roundRect">
            <a:avLst>
              <a:gd name="adj" fmla="val 17857"/>
            </a:avLst>
          </a:prstGeom>
          <a:solidFill>
            <a:srgbClr val="E8590C"/>
          </a:solidFill>
          <a:ln/>
        </p:spPr>
      </p:sp>
      <p:sp>
        <p:nvSpPr>
          <p:cNvPr id="3" name="Text 1"/>
          <p:cNvSpPr txBox="1"/>
          <p:nvPr/>
        </p:nvSpPr>
        <p:spPr>
          <a:xfrm>
            <a:off x="685800" y="54864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12</a:t>
            </a:r>
            <a:endParaRPr lang="en-US" sz="1700" dirty="0"/>
          </a:p>
        </p:txBody>
      </p:sp>
      <p:sp>
        <p:nvSpPr>
          <p:cNvPr id="4" name="Text 2"/>
          <p:cNvSpPr txBox="1"/>
          <p:nvPr/>
        </p:nvSpPr>
        <p:spPr>
          <a:xfrm>
            <a:off x="1417320" y="484632"/>
            <a:ext cx="10085832" cy="475488"/>
          </a:xfrm>
          <a:prstGeom prst="rect">
            <a:avLst/>
          </a:prstGeom>
          <a:noFill/>
          <a:ln/>
        </p:spPr>
        <p:txBody>
          <a:bodyPr wrap="square" lIns="0" tIns="0" rIns="0" bIns="0" rtlCol="0" anchor="ctr"/>
          <a:lstStyle/>
          <a:p>
            <a:pPr indent="0" marL="0">
              <a:buNone/>
            </a:pPr>
            <a:r>
              <a:rPr lang="en-US" sz="3300" b="1" dirty="0">
                <a:solidFill>
                  <a:srgbClr val="FFFFFF"/>
                </a:solidFill>
                <a:latin typeface="Arial" pitchFamily="34" charset="0"/>
                <a:ea typeface="Arial" pitchFamily="34" charset="-122"/>
                <a:cs typeface="Arial" pitchFamily="34" charset="-120"/>
              </a:rPr>
              <a:t>Conclusión</a:t>
            </a:r>
            <a:endParaRPr lang="en-US" sz="3300" dirty="0"/>
          </a:p>
        </p:txBody>
      </p:sp>
      <p:sp>
        <p:nvSpPr>
          <p:cNvPr id="5" name="Text 3"/>
          <p:cNvSpPr txBox="1"/>
          <p:nvPr/>
        </p:nvSpPr>
        <p:spPr>
          <a:xfrm>
            <a:off x="10771632" y="6291072"/>
            <a:ext cx="731520" cy="274320"/>
          </a:xfrm>
          <a:prstGeom prst="rect">
            <a:avLst/>
          </a:prstGeom>
          <a:noFill/>
          <a:ln/>
        </p:spPr>
        <p:txBody>
          <a:bodyPr wrap="square" lIns="0" tIns="0" rIns="0" bIns="0" rtlCol="0" anchor="ctr"/>
          <a:lstStyle/>
          <a:p>
            <a:pPr algn="r" indent="0" marL="0">
              <a:buNone/>
            </a:pPr>
            <a:r>
              <a:rPr lang="en-US" sz="1050" dirty="0">
                <a:solidFill>
                  <a:srgbClr val="5B6474"/>
                </a:solidFill>
                <a:latin typeface="Calibri" pitchFamily="34" charset="0"/>
                <a:ea typeface="Calibri" pitchFamily="34" charset="-122"/>
                <a:cs typeface="Calibri" pitchFamily="34" charset="-120"/>
              </a:rPr>
              <a:t>16</a:t>
            </a:r>
            <a:endParaRPr lang="en-US" sz="1050" dirty="0"/>
          </a:p>
        </p:txBody>
      </p:sp>
      <p:sp>
        <p:nvSpPr>
          <p:cNvPr id="6" name="Shape 4"/>
          <p:cNvSpPr/>
          <p:nvPr/>
        </p:nvSpPr>
        <p:spPr>
          <a:xfrm>
            <a:off x="685800" y="1828800"/>
            <a:ext cx="3422904" cy="2377440"/>
          </a:xfrm>
          <a:prstGeom prst="roundRect">
            <a:avLst>
              <a:gd name="adj" fmla="val 3846"/>
            </a:avLst>
          </a:prstGeom>
          <a:solidFill>
            <a:srgbClr val="1B2537"/>
          </a:solidFill>
          <a:ln/>
        </p:spPr>
      </p:sp>
      <p:sp>
        <p:nvSpPr>
          <p:cNvPr id="7" name="Text 5"/>
          <p:cNvSpPr txBox="1"/>
          <p:nvPr/>
        </p:nvSpPr>
        <p:spPr>
          <a:xfrm>
            <a:off x="1097280" y="2148840"/>
            <a:ext cx="2599944" cy="347472"/>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Fase 1 cerrada</a:t>
            </a:r>
            <a:endParaRPr lang="en-US" sz="1800" dirty="0"/>
          </a:p>
        </p:txBody>
      </p:sp>
      <p:sp>
        <p:nvSpPr>
          <p:cNvPr id="8" name="Text 6"/>
          <p:cNvSpPr txBox="1"/>
          <p:nvPr/>
        </p:nvSpPr>
        <p:spPr>
          <a:xfrm>
            <a:off x="1097280" y="2587752"/>
            <a:ext cx="2599944" cy="1463040"/>
          </a:xfrm>
          <a:prstGeom prst="rect">
            <a:avLst/>
          </a:prstGeom>
          <a:noFill/>
          <a:ln/>
        </p:spPr>
        <p:txBody>
          <a:bodyPr wrap="square" lIns="0" tIns="0" rIns="0" bIns="0" rtlCol="0" anchor="t"/>
          <a:lstStyle/>
          <a:p>
            <a:pPr indent="0" marL="0">
              <a:lnSpc>
                <a:spcPct val="115000"/>
              </a:lnSpc>
              <a:buNone/>
            </a:pPr>
            <a:r>
              <a:rPr lang="en-US" sz="1500" dirty="0">
                <a:solidFill>
                  <a:srgbClr val="F2F4F7"/>
                </a:solidFill>
                <a:latin typeface="Calibri" pitchFamily="34" charset="0"/>
                <a:ea typeface="Calibri" pitchFamily="34" charset="-122"/>
                <a:cs typeface="Calibri" pitchFamily="34" charset="-120"/>
              </a:rPr>
              <a:t>Quedan definidos el producto, el alcance, el modelo de datos, las tecnologías y la planificación de las 18 semanas.</a:t>
            </a:r>
            <a:endParaRPr lang="en-US" sz="1500" dirty="0"/>
          </a:p>
        </p:txBody>
      </p:sp>
      <p:sp>
        <p:nvSpPr>
          <p:cNvPr id="9" name="Shape 7"/>
          <p:cNvSpPr/>
          <p:nvPr/>
        </p:nvSpPr>
        <p:spPr>
          <a:xfrm>
            <a:off x="4383024" y="1828800"/>
            <a:ext cx="3422904" cy="2377440"/>
          </a:xfrm>
          <a:prstGeom prst="roundRect">
            <a:avLst>
              <a:gd name="adj" fmla="val 3846"/>
            </a:avLst>
          </a:prstGeom>
          <a:solidFill>
            <a:srgbClr val="1B2537"/>
          </a:solidFill>
          <a:ln/>
        </p:spPr>
      </p:sp>
      <p:sp>
        <p:nvSpPr>
          <p:cNvPr id="10" name="Text 8"/>
          <p:cNvSpPr txBox="1"/>
          <p:nvPr/>
        </p:nvSpPr>
        <p:spPr>
          <a:xfrm>
            <a:off x="4794504" y="2148840"/>
            <a:ext cx="2599944" cy="347472"/>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Factibilidad</a:t>
            </a:r>
            <a:endParaRPr lang="en-US" sz="1800" dirty="0"/>
          </a:p>
        </p:txBody>
      </p:sp>
      <p:sp>
        <p:nvSpPr>
          <p:cNvPr id="11" name="Text 9"/>
          <p:cNvSpPr txBox="1"/>
          <p:nvPr/>
        </p:nvSpPr>
        <p:spPr>
          <a:xfrm>
            <a:off x="4794504" y="2587752"/>
            <a:ext cx="2599944" cy="1463040"/>
          </a:xfrm>
          <a:prstGeom prst="rect">
            <a:avLst/>
          </a:prstGeom>
          <a:noFill/>
          <a:ln/>
        </p:spPr>
        <p:txBody>
          <a:bodyPr wrap="square" lIns="0" tIns="0" rIns="0" bIns="0" rtlCol="0" anchor="t"/>
          <a:lstStyle/>
          <a:p>
            <a:pPr indent="0" marL="0">
              <a:lnSpc>
                <a:spcPct val="115000"/>
              </a:lnSpc>
              <a:buNone/>
            </a:pPr>
            <a:r>
              <a:rPr lang="en-US" sz="1500" dirty="0">
                <a:solidFill>
                  <a:srgbClr val="F2F4F7"/>
                </a:solidFill>
                <a:latin typeface="Calibri" pitchFamily="34" charset="0"/>
                <a:ea typeface="Calibri" pitchFamily="34" charset="-122"/>
                <a:cs typeface="Calibri" pitchFamily="34" charset="-120"/>
              </a:rPr>
              <a:t>Depende de mantener el alcance, validar temprano el hardware y la operación local, y cumplir los cuatro hitos.</a:t>
            </a:r>
            <a:endParaRPr lang="en-US" sz="1500" dirty="0"/>
          </a:p>
        </p:txBody>
      </p:sp>
      <p:sp>
        <p:nvSpPr>
          <p:cNvPr id="12" name="Shape 10"/>
          <p:cNvSpPr/>
          <p:nvPr/>
        </p:nvSpPr>
        <p:spPr>
          <a:xfrm>
            <a:off x="8080248" y="1828800"/>
            <a:ext cx="3422904" cy="2377440"/>
          </a:xfrm>
          <a:prstGeom prst="roundRect">
            <a:avLst>
              <a:gd name="adj" fmla="val 3846"/>
            </a:avLst>
          </a:prstGeom>
          <a:solidFill>
            <a:srgbClr val="1B2537"/>
          </a:solidFill>
          <a:ln/>
        </p:spPr>
      </p:sp>
      <p:sp>
        <p:nvSpPr>
          <p:cNvPr id="13" name="Text 11"/>
          <p:cNvSpPr txBox="1"/>
          <p:nvPr/>
        </p:nvSpPr>
        <p:spPr>
          <a:xfrm>
            <a:off x="8491728" y="2148840"/>
            <a:ext cx="2599944" cy="347472"/>
          </a:xfrm>
          <a:prstGeom prst="rect">
            <a:avLst/>
          </a:prstGeom>
          <a:noFill/>
          <a:ln/>
        </p:spPr>
        <p:txBody>
          <a:bodyPr wrap="square" lIns="0" tIns="0" rIns="0" bIns="0" rtlCol="0" anchor="ctr"/>
          <a:lstStyle/>
          <a:p>
            <a:pPr indent="0" marL="0">
              <a:buNone/>
            </a:pPr>
            <a:r>
              <a:rPr lang="en-US" sz="1800" b="1" dirty="0">
                <a:solidFill>
                  <a:srgbClr val="E8590C"/>
                </a:solidFill>
                <a:latin typeface="Arial" pitchFamily="34" charset="0"/>
                <a:ea typeface="Arial" pitchFamily="34" charset="-122"/>
                <a:cs typeface="Arial" pitchFamily="34" charset="-120"/>
              </a:rPr>
              <a:t>Siguiente etapa</a:t>
            </a:r>
            <a:endParaRPr lang="en-US" sz="1800" dirty="0"/>
          </a:p>
        </p:txBody>
      </p:sp>
      <p:sp>
        <p:nvSpPr>
          <p:cNvPr id="14" name="Text 12"/>
          <p:cNvSpPr txBox="1"/>
          <p:nvPr/>
        </p:nvSpPr>
        <p:spPr>
          <a:xfrm>
            <a:off x="8491728" y="2587752"/>
            <a:ext cx="2599944" cy="1463040"/>
          </a:xfrm>
          <a:prstGeom prst="rect">
            <a:avLst/>
          </a:prstGeom>
          <a:noFill/>
          <a:ln/>
        </p:spPr>
        <p:txBody>
          <a:bodyPr wrap="square" lIns="0" tIns="0" rIns="0" bIns="0" rtlCol="0" anchor="t"/>
          <a:lstStyle/>
          <a:p>
            <a:pPr indent="0" marL="0">
              <a:lnSpc>
                <a:spcPct val="115000"/>
              </a:lnSpc>
              <a:buNone/>
            </a:pPr>
            <a:r>
              <a:rPr lang="en-US" sz="1500" dirty="0">
                <a:solidFill>
                  <a:srgbClr val="F2F4F7"/>
                </a:solidFill>
                <a:latin typeface="Calibri" pitchFamily="34" charset="0"/>
                <a:ea typeface="Calibri" pitchFamily="34" charset="-122"/>
                <a:cs typeface="Calibri" pitchFamily="34" charset="-120"/>
              </a:rPr>
              <a:t>Construir el monolito, el panel, la API y el Player, verificando sincronización, permisos y continuidad offline.</a:t>
            </a:r>
            <a:endParaRPr lang="en-US" sz="1500" dirty="0"/>
          </a:p>
        </p:txBody>
      </p:sp>
      <p:sp>
        <p:nvSpPr>
          <p:cNvPr id="15" name="Text 13"/>
          <p:cNvSpPr txBox="1"/>
          <p:nvPr/>
        </p:nvSpPr>
        <p:spPr>
          <a:xfrm>
            <a:off x="685800" y="4800600"/>
            <a:ext cx="10817352" cy="54864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Gracias. Quedamos atentos a sus preguntas.</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85800" y="566928"/>
            <a:ext cx="1051560" cy="475488"/>
          </a:xfrm>
          <a:prstGeom prst="roundRect">
            <a:avLst>
              <a:gd name="adj" fmla="val 19231"/>
            </a:avLst>
          </a:prstGeom>
          <a:solidFill>
            <a:srgbClr val="101828"/>
          </a:solidFill>
          <a:ln/>
        </p:spPr>
      </p:sp>
      <p:sp>
        <p:nvSpPr>
          <p:cNvPr id="3" name="Text 1"/>
          <p:cNvSpPr txBox="1"/>
          <p:nvPr/>
        </p:nvSpPr>
        <p:spPr>
          <a:xfrm>
            <a:off x="685800" y="566928"/>
            <a:ext cx="105156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ANEXO</a:t>
            </a:r>
            <a:endParaRPr lang="en-US" sz="1150" dirty="0"/>
          </a:p>
        </p:txBody>
      </p:sp>
      <p:sp>
        <p:nvSpPr>
          <p:cNvPr id="4" name="Text 2"/>
          <p:cNvSpPr txBox="1"/>
          <p:nvPr/>
        </p:nvSpPr>
        <p:spPr>
          <a:xfrm>
            <a:off x="1965960" y="502920"/>
            <a:ext cx="9537192" cy="475488"/>
          </a:xfrm>
          <a:prstGeom prst="rect">
            <a:avLst/>
          </a:prstGeom>
          <a:noFill/>
          <a:ln/>
        </p:spPr>
        <p:txBody>
          <a:bodyPr wrap="square" lIns="0" tIns="0" rIns="0" bIns="0" rtlCol="0" anchor="ctr"/>
          <a:lstStyle/>
          <a:p>
            <a:pPr indent="0" marL="0">
              <a:buNone/>
            </a:pPr>
            <a:r>
              <a:rPr lang="en-US" sz="3100" b="1" dirty="0">
                <a:solidFill>
                  <a:srgbClr val="101828"/>
                </a:solidFill>
                <a:latin typeface="Arial" pitchFamily="34" charset="0"/>
                <a:ea typeface="Arial" pitchFamily="34" charset="-122"/>
                <a:cs typeface="Arial" pitchFamily="34" charset="-120"/>
              </a:rPr>
              <a:t>Arquitectura</a:t>
            </a:r>
            <a:endParaRPr lang="en-US" sz="3100" dirty="0"/>
          </a:p>
        </p:txBody>
      </p:sp>
      <p:sp>
        <p:nvSpPr>
          <p:cNvPr id="5" name="Text 3"/>
          <p:cNvSpPr txBox="1"/>
          <p:nvPr/>
        </p:nvSpPr>
        <p:spPr>
          <a:xfrm>
            <a:off x="1965960" y="996696"/>
            <a:ext cx="953719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Plataforma central, canales de sincronización y Players en la locación</a:t>
            </a:r>
            <a:endParaRPr lang="en-US" sz="1450" dirty="0"/>
          </a:p>
        </p:txBody>
      </p:sp>
      <p:sp>
        <p:nvSpPr>
          <p:cNvPr id="6" name="Shape 4"/>
          <p:cNvSpPr/>
          <p:nvPr/>
        </p:nvSpPr>
        <p:spPr>
          <a:xfrm>
            <a:off x="2560320" y="1645920"/>
            <a:ext cx="4434840" cy="3611880"/>
          </a:xfrm>
          <a:prstGeom prst="roundRect">
            <a:avLst>
              <a:gd name="adj" fmla="val 2532"/>
            </a:avLst>
          </a:prstGeom>
          <a:solidFill>
            <a:srgbClr val="F6F7F9"/>
          </a:solidFill>
          <a:ln w="12700">
            <a:solidFill>
              <a:srgbClr val="E4E7EC"/>
            </a:solidFill>
            <a:prstDash val="solid"/>
          </a:ln>
        </p:spPr>
      </p:sp>
      <p:sp>
        <p:nvSpPr>
          <p:cNvPr id="7" name="Text 5"/>
          <p:cNvSpPr txBox="1"/>
          <p:nvPr/>
        </p:nvSpPr>
        <p:spPr>
          <a:xfrm>
            <a:off x="2834640" y="1737360"/>
            <a:ext cx="3886200" cy="256032"/>
          </a:xfrm>
          <a:prstGeom prst="rect">
            <a:avLst/>
          </a:prstGeom>
          <a:noFill/>
          <a:ln/>
        </p:spPr>
        <p:txBody>
          <a:bodyPr wrap="square" lIns="0" tIns="0" rIns="0" bIns="0" rtlCol="0" anchor="ctr"/>
          <a:lstStyle/>
          <a:p>
            <a:pPr indent="0" marL="0">
              <a:buNone/>
            </a:pPr>
            <a:r>
              <a:rPr lang="en-US" sz="1050" b="1" spc="130" kern="0" dirty="0">
                <a:solidFill>
                  <a:srgbClr val="667085"/>
                </a:solidFill>
                <a:latin typeface="Calibri" pitchFamily="34" charset="0"/>
                <a:ea typeface="Calibri" pitchFamily="34" charset="-122"/>
                <a:cs typeface="Calibri" pitchFamily="34" charset="-120"/>
              </a:rPr>
              <a:t>PLATAFORMA CENTRAL ACE</a:t>
            </a:r>
            <a:endParaRPr lang="en-US" sz="1050" dirty="0"/>
          </a:p>
        </p:txBody>
      </p:sp>
      <p:sp>
        <p:nvSpPr>
          <p:cNvPr id="8" name="Shape 6"/>
          <p:cNvSpPr/>
          <p:nvPr/>
        </p:nvSpPr>
        <p:spPr>
          <a:xfrm>
            <a:off x="8366760" y="1645920"/>
            <a:ext cx="3136392" cy="3611880"/>
          </a:xfrm>
          <a:prstGeom prst="roundRect">
            <a:avLst>
              <a:gd name="adj" fmla="val 2915"/>
            </a:avLst>
          </a:prstGeom>
          <a:solidFill>
            <a:srgbClr val="F6F7F9"/>
          </a:solidFill>
          <a:ln w="12700">
            <a:solidFill>
              <a:srgbClr val="E4E7EC"/>
            </a:solidFill>
            <a:prstDash val="solid"/>
          </a:ln>
        </p:spPr>
      </p:sp>
      <p:sp>
        <p:nvSpPr>
          <p:cNvPr id="9" name="Text 7"/>
          <p:cNvSpPr txBox="1"/>
          <p:nvPr/>
        </p:nvSpPr>
        <p:spPr>
          <a:xfrm>
            <a:off x="8641080" y="1737360"/>
            <a:ext cx="2587752" cy="256032"/>
          </a:xfrm>
          <a:prstGeom prst="rect">
            <a:avLst/>
          </a:prstGeom>
          <a:noFill/>
          <a:ln/>
        </p:spPr>
        <p:txBody>
          <a:bodyPr wrap="square" lIns="0" tIns="0" rIns="0" bIns="0" rtlCol="0" anchor="ctr"/>
          <a:lstStyle/>
          <a:p>
            <a:pPr indent="0" marL="0">
              <a:buNone/>
            </a:pPr>
            <a:r>
              <a:rPr lang="en-US" sz="1050" b="1" spc="130" kern="0" dirty="0">
                <a:solidFill>
                  <a:srgbClr val="667085"/>
                </a:solidFill>
                <a:latin typeface="Calibri" pitchFamily="34" charset="0"/>
                <a:ea typeface="Calibri" pitchFamily="34" charset="-122"/>
                <a:cs typeface="Calibri" pitchFamily="34" charset="-120"/>
              </a:rPr>
              <a:t>LOCACIÓN</a:t>
            </a:r>
            <a:endParaRPr lang="en-US" sz="1050" dirty="0"/>
          </a:p>
        </p:txBody>
      </p:sp>
      <p:sp>
        <p:nvSpPr>
          <p:cNvPr id="10" name="Shape 8"/>
          <p:cNvSpPr/>
          <p:nvPr/>
        </p:nvSpPr>
        <p:spPr>
          <a:xfrm>
            <a:off x="777240" y="2103120"/>
            <a:ext cx="1371600" cy="585216"/>
          </a:xfrm>
          <a:prstGeom prst="roundRect">
            <a:avLst>
              <a:gd name="adj" fmla="val 12500"/>
            </a:avLst>
          </a:prstGeom>
          <a:solidFill>
            <a:srgbClr val="FFFFFF"/>
          </a:solidFill>
          <a:ln w="12700">
            <a:solidFill>
              <a:srgbClr val="E4E7EC"/>
            </a:solidFill>
            <a:prstDash val="solid"/>
          </a:ln>
        </p:spPr>
      </p:sp>
      <p:sp>
        <p:nvSpPr>
          <p:cNvPr id="11" name="Text 9"/>
          <p:cNvSpPr txBox="1"/>
          <p:nvPr/>
        </p:nvSpPr>
        <p:spPr>
          <a:xfrm>
            <a:off x="777240" y="2103120"/>
            <a:ext cx="1371600" cy="585216"/>
          </a:xfrm>
          <a:prstGeom prst="rect">
            <a:avLst/>
          </a:prstGeom>
          <a:noFill/>
          <a:ln/>
        </p:spPr>
        <p:txBody>
          <a:bodyPr wrap="square" lIns="0" tIns="0" rIns="0" bIns="0" rtlCol="0" anchor="ctr"/>
          <a:lstStyle/>
          <a:p>
            <a:pPr algn="ctr" indent="0" marL="0">
              <a:lnSpc>
                <a:spcPct val="110000"/>
              </a:lnSpc>
              <a:buNone/>
            </a:pPr>
            <a:r>
              <a:rPr lang="en-US" sz="1400" b="1" dirty="0">
                <a:solidFill>
                  <a:srgbClr val="101828"/>
                </a:solidFill>
                <a:latin typeface="Calibri" pitchFamily="34" charset="0"/>
                <a:ea typeface="Calibri" pitchFamily="34" charset="-122"/>
                <a:cs typeface="Calibri" pitchFamily="34" charset="-120"/>
              </a:rPr>
              <a:t>Operador</a:t>
            </a:r>
            <a:endParaRPr lang="en-US" sz="1400" dirty="0"/>
          </a:p>
          <a:p>
            <a:pPr algn="ctr" indent="0" marL="0">
              <a:lnSpc>
                <a:spcPct val="110000"/>
              </a:lnSpc>
              <a:buNone/>
            </a:pPr>
            <a:r>
              <a:rPr lang="en-US" sz="1150" dirty="0">
                <a:solidFill>
                  <a:srgbClr val="667085"/>
                </a:solidFill>
                <a:latin typeface="Calibri" pitchFamily="34" charset="0"/>
                <a:ea typeface="Calibri" pitchFamily="34" charset="-122"/>
                <a:cs typeface="Calibri" pitchFamily="34" charset="-120"/>
              </a:rPr>
              <a:t>remoto</a:t>
            </a:r>
            <a:endParaRPr lang="en-US" sz="1400" dirty="0"/>
          </a:p>
        </p:txBody>
      </p:sp>
      <p:sp>
        <p:nvSpPr>
          <p:cNvPr id="12" name="Shape 10"/>
          <p:cNvSpPr/>
          <p:nvPr/>
        </p:nvSpPr>
        <p:spPr>
          <a:xfrm>
            <a:off x="2194560" y="2395728"/>
            <a:ext cx="594360" cy="0"/>
          </a:xfrm>
          <a:prstGeom prst="line">
            <a:avLst/>
          </a:prstGeom>
          <a:noFill/>
          <a:ln w="22225">
            <a:solidFill>
              <a:srgbClr val="667085"/>
            </a:solidFill>
            <a:prstDash val="solid"/>
            <a:headEnd type="none"/>
            <a:tailEnd type="triangle"/>
          </a:ln>
        </p:spPr>
      </p:sp>
      <p:sp>
        <p:nvSpPr>
          <p:cNvPr id="13" name="Shape 11"/>
          <p:cNvSpPr/>
          <p:nvPr/>
        </p:nvSpPr>
        <p:spPr>
          <a:xfrm>
            <a:off x="2834640" y="2103120"/>
            <a:ext cx="3886200" cy="548640"/>
          </a:xfrm>
          <a:prstGeom prst="roundRect">
            <a:avLst>
              <a:gd name="adj" fmla="val 13333"/>
            </a:avLst>
          </a:prstGeom>
          <a:solidFill>
            <a:srgbClr val="FFFFFF"/>
          </a:solidFill>
          <a:ln w="12700">
            <a:solidFill>
              <a:srgbClr val="E4E7EC"/>
            </a:solidFill>
            <a:prstDash val="solid"/>
          </a:ln>
        </p:spPr>
      </p:sp>
      <p:sp>
        <p:nvSpPr>
          <p:cNvPr id="14" name="Text 12"/>
          <p:cNvSpPr txBox="1"/>
          <p:nvPr/>
        </p:nvSpPr>
        <p:spPr>
          <a:xfrm>
            <a:off x="2834640" y="2103120"/>
            <a:ext cx="3886200" cy="548640"/>
          </a:xfrm>
          <a:prstGeom prst="rect">
            <a:avLst/>
          </a:prstGeom>
          <a:noFill/>
          <a:ln/>
        </p:spPr>
        <p:txBody>
          <a:bodyPr wrap="square" lIns="0" tIns="0" rIns="0" bIns="0" rtlCol="0" anchor="ctr"/>
          <a:lstStyle/>
          <a:p>
            <a:pPr algn="ctr" indent="0" marL="0">
              <a:lnSpc>
                <a:spcPct val="110000"/>
              </a:lnSpc>
              <a:buNone/>
            </a:pPr>
            <a:r>
              <a:rPr lang="en-US" sz="1400" b="1" dirty="0">
                <a:solidFill>
                  <a:srgbClr val="101828"/>
                </a:solidFill>
                <a:latin typeface="Calibri" pitchFamily="34" charset="0"/>
                <a:ea typeface="Calibri" pitchFamily="34" charset="-122"/>
                <a:cs typeface="Calibri" pitchFamily="34" charset="-120"/>
              </a:rPr>
              <a:t>Panel Filament</a:t>
            </a:r>
            <a:endParaRPr lang="en-US" sz="1400" dirty="0"/>
          </a:p>
        </p:txBody>
      </p:sp>
      <p:sp>
        <p:nvSpPr>
          <p:cNvPr id="15" name="Shape 13"/>
          <p:cNvSpPr/>
          <p:nvPr/>
        </p:nvSpPr>
        <p:spPr>
          <a:xfrm>
            <a:off x="2834640" y="2834640"/>
            <a:ext cx="3886200" cy="621792"/>
          </a:xfrm>
          <a:prstGeom prst="roundRect">
            <a:avLst>
              <a:gd name="adj" fmla="val 11765"/>
            </a:avLst>
          </a:prstGeom>
          <a:solidFill>
            <a:srgbClr val="FFFFFF"/>
          </a:solidFill>
          <a:ln w="12700">
            <a:solidFill>
              <a:srgbClr val="E4E7EC"/>
            </a:solidFill>
            <a:prstDash val="solid"/>
          </a:ln>
        </p:spPr>
      </p:sp>
      <p:sp>
        <p:nvSpPr>
          <p:cNvPr id="16" name="Text 14"/>
          <p:cNvSpPr txBox="1"/>
          <p:nvPr/>
        </p:nvSpPr>
        <p:spPr>
          <a:xfrm>
            <a:off x="2834640" y="2834640"/>
            <a:ext cx="3886200" cy="621792"/>
          </a:xfrm>
          <a:prstGeom prst="rect">
            <a:avLst/>
          </a:prstGeom>
          <a:noFill/>
          <a:ln/>
        </p:spPr>
        <p:txBody>
          <a:bodyPr wrap="square" lIns="0" tIns="0" rIns="0" bIns="0" rtlCol="0" anchor="ctr"/>
          <a:lstStyle/>
          <a:p>
            <a:pPr algn="ctr" indent="0" marL="0">
              <a:lnSpc>
                <a:spcPct val="110000"/>
              </a:lnSpc>
              <a:buNone/>
            </a:pPr>
            <a:r>
              <a:rPr lang="en-US" sz="1400" b="1" dirty="0">
                <a:solidFill>
                  <a:srgbClr val="101828"/>
                </a:solidFill>
                <a:latin typeface="Calibri" pitchFamily="34" charset="0"/>
                <a:ea typeface="Calibri" pitchFamily="34" charset="-122"/>
                <a:cs typeface="Calibri" pitchFamily="34" charset="-120"/>
              </a:rPr>
              <a:t>Laravel</a:t>
            </a:r>
            <a:endParaRPr lang="en-US" sz="1400" dirty="0"/>
          </a:p>
          <a:p>
            <a:pPr algn="ctr" indent="0" marL="0">
              <a:lnSpc>
                <a:spcPct val="110000"/>
              </a:lnSpc>
              <a:buNone/>
            </a:pPr>
            <a:r>
              <a:rPr lang="en-US" sz="1150" dirty="0">
                <a:solidFill>
                  <a:srgbClr val="667085"/>
                </a:solidFill>
                <a:latin typeface="Calibri" pitchFamily="34" charset="0"/>
                <a:ea typeface="Calibri" pitchFamily="34" charset="-122"/>
                <a:cs typeface="Calibri" pitchFamily="34" charset="-120"/>
              </a:rPr>
              <a:t>módulos y API REST</a:t>
            </a:r>
            <a:endParaRPr lang="en-US" sz="1400" dirty="0"/>
          </a:p>
        </p:txBody>
      </p:sp>
      <p:sp>
        <p:nvSpPr>
          <p:cNvPr id="17" name="Shape 15"/>
          <p:cNvSpPr/>
          <p:nvPr/>
        </p:nvSpPr>
        <p:spPr>
          <a:xfrm>
            <a:off x="2834640" y="3657600"/>
            <a:ext cx="1874520" cy="548640"/>
          </a:xfrm>
          <a:prstGeom prst="roundRect">
            <a:avLst>
              <a:gd name="adj" fmla="val 13333"/>
            </a:avLst>
          </a:prstGeom>
          <a:solidFill>
            <a:srgbClr val="FFFFFF"/>
          </a:solidFill>
          <a:ln w="12700">
            <a:solidFill>
              <a:srgbClr val="E4E7EC"/>
            </a:solidFill>
            <a:prstDash val="solid"/>
          </a:ln>
        </p:spPr>
      </p:sp>
      <p:sp>
        <p:nvSpPr>
          <p:cNvPr id="18" name="Text 16"/>
          <p:cNvSpPr txBox="1"/>
          <p:nvPr/>
        </p:nvSpPr>
        <p:spPr>
          <a:xfrm>
            <a:off x="2834640" y="3657600"/>
            <a:ext cx="1874520" cy="548640"/>
          </a:xfrm>
          <a:prstGeom prst="rect">
            <a:avLst/>
          </a:prstGeom>
          <a:noFill/>
          <a:ln/>
        </p:spPr>
        <p:txBody>
          <a:bodyPr wrap="square" lIns="0" tIns="0" rIns="0" bIns="0" rtlCol="0" anchor="ctr"/>
          <a:lstStyle/>
          <a:p>
            <a:pPr algn="ctr" indent="0" marL="0">
              <a:lnSpc>
                <a:spcPct val="110000"/>
              </a:lnSpc>
              <a:buNone/>
            </a:pPr>
            <a:r>
              <a:rPr lang="en-US" sz="1400" b="1" dirty="0">
                <a:solidFill>
                  <a:srgbClr val="101828"/>
                </a:solidFill>
                <a:latin typeface="Calibri" pitchFamily="34" charset="0"/>
                <a:ea typeface="Calibri" pitchFamily="34" charset="-122"/>
                <a:cs typeface="Calibri" pitchFamily="34" charset="-120"/>
              </a:rPr>
              <a:t>MariaDB</a:t>
            </a:r>
            <a:endParaRPr lang="en-US" sz="1400" dirty="0"/>
          </a:p>
        </p:txBody>
      </p:sp>
      <p:sp>
        <p:nvSpPr>
          <p:cNvPr id="19" name="Shape 17"/>
          <p:cNvSpPr/>
          <p:nvPr/>
        </p:nvSpPr>
        <p:spPr>
          <a:xfrm>
            <a:off x="4846320" y="3657600"/>
            <a:ext cx="1874520" cy="548640"/>
          </a:xfrm>
          <a:prstGeom prst="roundRect">
            <a:avLst>
              <a:gd name="adj" fmla="val 13333"/>
            </a:avLst>
          </a:prstGeom>
          <a:solidFill>
            <a:srgbClr val="FFFFFF"/>
          </a:solidFill>
          <a:ln w="12700">
            <a:solidFill>
              <a:srgbClr val="E4E7EC"/>
            </a:solidFill>
            <a:prstDash val="solid"/>
          </a:ln>
        </p:spPr>
      </p:sp>
      <p:sp>
        <p:nvSpPr>
          <p:cNvPr id="20" name="Text 18"/>
          <p:cNvSpPr txBox="1"/>
          <p:nvPr/>
        </p:nvSpPr>
        <p:spPr>
          <a:xfrm>
            <a:off x="4846320" y="3657600"/>
            <a:ext cx="1874520" cy="548640"/>
          </a:xfrm>
          <a:prstGeom prst="rect">
            <a:avLst/>
          </a:prstGeom>
          <a:noFill/>
          <a:ln/>
        </p:spPr>
        <p:txBody>
          <a:bodyPr wrap="square" lIns="0" tIns="0" rIns="0" bIns="0" rtlCol="0" anchor="ctr"/>
          <a:lstStyle/>
          <a:p>
            <a:pPr algn="ctr" indent="0" marL="0">
              <a:lnSpc>
                <a:spcPct val="110000"/>
              </a:lnSpc>
              <a:buNone/>
            </a:pPr>
            <a:r>
              <a:rPr lang="en-US" sz="1400" b="1" dirty="0">
                <a:solidFill>
                  <a:srgbClr val="101828"/>
                </a:solidFill>
                <a:latin typeface="Calibri" pitchFamily="34" charset="0"/>
                <a:ea typeface="Calibri" pitchFamily="34" charset="-122"/>
                <a:cs typeface="Calibri" pitchFamily="34" charset="-120"/>
              </a:rPr>
              <a:t>Medios</a:t>
            </a:r>
            <a:endParaRPr lang="en-US" sz="1400" dirty="0"/>
          </a:p>
        </p:txBody>
      </p:sp>
      <p:sp>
        <p:nvSpPr>
          <p:cNvPr id="21" name="Shape 19"/>
          <p:cNvSpPr/>
          <p:nvPr/>
        </p:nvSpPr>
        <p:spPr>
          <a:xfrm>
            <a:off x="2834640" y="4434840"/>
            <a:ext cx="3886200" cy="548640"/>
          </a:xfrm>
          <a:prstGeom prst="roundRect">
            <a:avLst>
              <a:gd name="adj" fmla="val 13333"/>
            </a:avLst>
          </a:prstGeom>
          <a:solidFill>
            <a:srgbClr val="FDF0E8"/>
          </a:solidFill>
          <a:ln w="12700">
            <a:solidFill>
              <a:srgbClr val="E4E7EC"/>
            </a:solidFill>
            <a:prstDash val="solid"/>
          </a:ln>
        </p:spPr>
      </p:sp>
      <p:sp>
        <p:nvSpPr>
          <p:cNvPr id="22" name="Text 20"/>
          <p:cNvSpPr txBox="1"/>
          <p:nvPr/>
        </p:nvSpPr>
        <p:spPr>
          <a:xfrm>
            <a:off x="2834640" y="4434840"/>
            <a:ext cx="3886200" cy="548640"/>
          </a:xfrm>
          <a:prstGeom prst="rect">
            <a:avLst/>
          </a:prstGeom>
          <a:noFill/>
          <a:ln/>
        </p:spPr>
        <p:txBody>
          <a:bodyPr wrap="square" lIns="0" tIns="0" rIns="0" bIns="0" rtlCol="0" anchor="ctr"/>
          <a:lstStyle/>
          <a:p>
            <a:pPr algn="ctr" indent="0" marL="0">
              <a:lnSpc>
                <a:spcPct val="110000"/>
              </a:lnSpc>
              <a:buNone/>
            </a:pPr>
            <a:r>
              <a:rPr lang="en-US" sz="1400" b="1" dirty="0">
                <a:solidFill>
                  <a:srgbClr val="101828"/>
                </a:solidFill>
                <a:latin typeface="Calibri" pitchFamily="34" charset="0"/>
                <a:ea typeface="Calibri" pitchFamily="34" charset="-122"/>
                <a:cs typeface="Calibri" pitchFamily="34" charset="-120"/>
              </a:rPr>
              <a:t>Laravel Reverb</a:t>
            </a:r>
            <a:endParaRPr lang="en-US" sz="1400" dirty="0"/>
          </a:p>
        </p:txBody>
      </p:sp>
      <p:sp>
        <p:nvSpPr>
          <p:cNvPr id="23" name="Shape 21"/>
          <p:cNvSpPr/>
          <p:nvPr/>
        </p:nvSpPr>
        <p:spPr>
          <a:xfrm>
            <a:off x="4777740" y="2651760"/>
            <a:ext cx="0" cy="182880"/>
          </a:xfrm>
          <a:prstGeom prst="line">
            <a:avLst/>
          </a:prstGeom>
          <a:noFill/>
          <a:ln w="22225">
            <a:solidFill>
              <a:srgbClr val="667085"/>
            </a:solidFill>
            <a:prstDash val="solid"/>
            <a:headEnd type="none"/>
            <a:tailEnd type="triangle"/>
          </a:ln>
        </p:spPr>
      </p:sp>
      <p:sp>
        <p:nvSpPr>
          <p:cNvPr id="24" name="Shape 22"/>
          <p:cNvSpPr/>
          <p:nvPr/>
        </p:nvSpPr>
        <p:spPr>
          <a:xfrm>
            <a:off x="4777740" y="3456432"/>
            <a:ext cx="0" cy="201168"/>
          </a:xfrm>
          <a:prstGeom prst="line">
            <a:avLst/>
          </a:prstGeom>
          <a:noFill/>
          <a:ln w="22225">
            <a:solidFill>
              <a:srgbClr val="667085"/>
            </a:solidFill>
            <a:prstDash val="solid"/>
            <a:headEnd type="triangle"/>
            <a:tailEnd type="triangle"/>
          </a:ln>
        </p:spPr>
      </p:sp>
      <p:sp>
        <p:nvSpPr>
          <p:cNvPr id="25" name="Shape 23"/>
          <p:cNvSpPr/>
          <p:nvPr/>
        </p:nvSpPr>
        <p:spPr>
          <a:xfrm>
            <a:off x="4777740" y="4206240"/>
            <a:ext cx="0" cy="228600"/>
          </a:xfrm>
          <a:prstGeom prst="line">
            <a:avLst/>
          </a:prstGeom>
          <a:noFill/>
          <a:ln w="22225">
            <a:solidFill>
              <a:srgbClr val="667085"/>
            </a:solidFill>
            <a:prstDash val="solid"/>
            <a:headEnd type="triangle"/>
            <a:tailEnd type="triangle"/>
          </a:ln>
        </p:spPr>
      </p:sp>
      <p:sp>
        <p:nvSpPr>
          <p:cNvPr id="26" name="Shape 24"/>
          <p:cNvSpPr/>
          <p:nvPr/>
        </p:nvSpPr>
        <p:spPr>
          <a:xfrm>
            <a:off x="8641080" y="2103120"/>
            <a:ext cx="2587752" cy="640080"/>
          </a:xfrm>
          <a:prstGeom prst="roundRect">
            <a:avLst>
              <a:gd name="adj" fmla="val 11429"/>
            </a:avLst>
          </a:prstGeom>
          <a:solidFill>
            <a:srgbClr val="101828"/>
          </a:solidFill>
          <a:ln w="12700">
            <a:solidFill>
              <a:srgbClr val="101828"/>
            </a:solidFill>
            <a:prstDash val="solid"/>
          </a:ln>
        </p:spPr>
      </p:sp>
      <p:sp>
        <p:nvSpPr>
          <p:cNvPr id="27" name="Text 25"/>
          <p:cNvSpPr txBox="1"/>
          <p:nvPr/>
        </p:nvSpPr>
        <p:spPr>
          <a:xfrm>
            <a:off x="8641080" y="2103120"/>
            <a:ext cx="2587752" cy="640080"/>
          </a:xfrm>
          <a:prstGeom prst="rect">
            <a:avLst/>
          </a:prstGeom>
          <a:noFill/>
          <a:ln/>
        </p:spPr>
        <p:txBody>
          <a:bodyPr wrap="square" lIns="0" tIns="0" rIns="0" bIns="0" rtlCol="0" anchor="ctr"/>
          <a:lstStyle/>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Pantalla</a:t>
            </a:r>
            <a:endParaRPr lang="en-US" sz="1400" dirty="0"/>
          </a:p>
        </p:txBody>
      </p:sp>
      <p:sp>
        <p:nvSpPr>
          <p:cNvPr id="28" name="Shape 26"/>
          <p:cNvSpPr/>
          <p:nvPr/>
        </p:nvSpPr>
        <p:spPr>
          <a:xfrm>
            <a:off x="9934956" y="2971800"/>
            <a:ext cx="0" cy="-228600"/>
          </a:xfrm>
          <a:prstGeom prst="line">
            <a:avLst/>
          </a:prstGeom>
          <a:noFill/>
          <a:ln w="22225">
            <a:solidFill>
              <a:srgbClr val="667085"/>
            </a:solidFill>
            <a:prstDash val="solid"/>
            <a:headEnd type="none"/>
            <a:tailEnd type="triangle"/>
          </a:ln>
        </p:spPr>
      </p:sp>
      <p:sp>
        <p:nvSpPr>
          <p:cNvPr id="29" name="Shape 27"/>
          <p:cNvSpPr/>
          <p:nvPr/>
        </p:nvSpPr>
        <p:spPr>
          <a:xfrm>
            <a:off x="8641080" y="2971800"/>
            <a:ext cx="2587752" cy="1965960"/>
          </a:xfrm>
          <a:prstGeom prst="roundRect">
            <a:avLst>
              <a:gd name="adj" fmla="val 3721"/>
            </a:avLst>
          </a:prstGeom>
          <a:solidFill>
            <a:srgbClr val="FDF0E8"/>
          </a:solidFill>
          <a:ln w="12700">
            <a:solidFill>
              <a:srgbClr val="E4E7EC"/>
            </a:solidFill>
            <a:prstDash val="solid"/>
          </a:ln>
        </p:spPr>
      </p:sp>
      <p:sp>
        <p:nvSpPr>
          <p:cNvPr id="30" name="Text 28"/>
          <p:cNvSpPr txBox="1"/>
          <p:nvPr/>
        </p:nvSpPr>
        <p:spPr>
          <a:xfrm>
            <a:off x="8641080" y="2971800"/>
            <a:ext cx="2587752" cy="1965960"/>
          </a:xfrm>
          <a:prstGeom prst="rect">
            <a:avLst/>
          </a:prstGeom>
          <a:noFill/>
          <a:ln/>
        </p:spPr>
        <p:txBody>
          <a:bodyPr wrap="square" lIns="0" tIns="0" rIns="0" bIns="0" rtlCol="0" anchor="ctr"/>
          <a:lstStyle/>
          <a:p>
            <a:pPr algn="ctr" indent="0" marL="0">
              <a:lnSpc>
                <a:spcPct val="112000"/>
              </a:lnSpc>
              <a:buNone/>
            </a:pPr>
            <a:r>
              <a:rPr lang="en-US" sz="1400" b="1" dirty="0">
                <a:solidFill>
                  <a:srgbClr val="101828"/>
                </a:solidFill>
                <a:latin typeface="Calibri" pitchFamily="34" charset="0"/>
                <a:ea typeface="Calibri" pitchFamily="34" charset="-122"/>
                <a:cs typeface="Calibri" pitchFamily="34" charset="-120"/>
              </a:rPr>
              <a:t>NUC · Player local</a:t>
            </a:r>
            <a:endParaRPr lang="en-US" sz="1400" dirty="0"/>
          </a:p>
          <a:p>
            <a:pPr algn="ctr" indent="0" marL="0">
              <a:lnSpc>
                <a:spcPct val="112000"/>
              </a:lnSpc>
              <a:buNone/>
            </a:pPr>
            <a:r>
              <a:rPr lang="en-US" sz="1150" dirty="0">
                <a:solidFill>
                  <a:srgbClr val="667085"/>
                </a:solidFill>
                <a:latin typeface="Calibri" pitchFamily="34" charset="0"/>
                <a:ea typeface="Calibri" pitchFamily="34" charset="-122"/>
                <a:cs typeface="Calibri" pitchFamily="34" charset="-120"/>
              </a:rPr>
              <a:t>caché IndexedDB</a:t>
            </a:r>
            <a:endParaRPr lang="en-US" sz="1400" dirty="0"/>
          </a:p>
          <a:p>
            <a:pPr algn="ctr" indent="0" marL="0">
              <a:lnSpc>
                <a:spcPct val="112000"/>
              </a:lnSpc>
              <a:buNone/>
            </a:pPr>
            <a:endParaRPr lang="en-US" sz="1400" dirty="0"/>
          </a:p>
          <a:p>
            <a:pPr algn="ctr" indent="0" marL="0">
              <a:lnSpc>
                <a:spcPct val="112000"/>
              </a:lnSpc>
              <a:buNone/>
            </a:pPr>
            <a:r>
              <a:rPr lang="en-US" sz="1150" dirty="0">
                <a:solidFill>
                  <a:srgbClr val="8A3A0B"/>
                </a:solidFill>
                <a:latin typeface="Calibri" pitchFamily="34" charset="0"/>
                <a:ea typeface="Calibri" pitchFamily="34" charset="-122"/>
                <a:cs typeface="Calibri" pitchFamily="34" charset="-120"/>
              </a:rPr>
              <a:t>reproduce siempre</a:t>
            </a:r>
            <a:endParaRPr lang="en-US" sz="1400" dirty="0"/>
          </a:p>
          <a:p>
            <a:pPr algn="ctr" indent="0" marL="0">
              <a:lnSpc>
                <a:spcPct val="112000"/>
              </a:lnSpc>
              <a:buNone/>
            </a:pPr>
            <a:r>
              <a:rPr lang="en-US" sz="1150" dirty="0">
                <a:solidFill>
                  <a:srgbClr val="8A3A0B"/>
                </a:solidFill>
                <a:latin typeface="Calibri" pitchFamily="34" charset="0"/>
                <a:ea typeface="Calibri" pitchFamily="34" charset="-122"/>
                <a:cs typeface="Calibri" pitchFamily="34" charset="-120"/>
              </a:rPr>
              <a:t>desde la caché</a:t>
            </a:r>
            <a:endParaRPr lang="en-US" sz="1400" dirty="0"/>
          </a:p>
        </p:txBody>
      </p:sp>
      <p:sp>
        <p:nvSpPr>
          <p:cNvPr id="31" name="Text 29"/>
          <p:cNvSpPr txBox="1"/>
          <p:nvPr/>
        </p:nvSpPr>
        <p:spPr>
          <a:xfrm>
            <a:off x="8641080" y="4983480"/>
            <a:ext cx="2587752" cy="274320"/>
          </a:xfrm>
          <a:prstGeom prst="rect">
            <a:avLst/>
          </a:prstGeom>
          <a:noFill/>
          <a:ln/>
        </p:spPr>
        <p:txBody>
          <a:bodyPr wrap="square" lIns="0" tIns="0" rIns="0" bIns="0" rtlCol="0" anchor="ctr"/>
          <a:lstStyle/>
          <a:p>
            <a:pPr algn="ctr" indent="0" marL="0">
              <a:buNone/>
            </a:pPr>
            <a:r>
              <a:rPr lang="en-US" sz="1150" i="1" dirty="0">
                <a:solidFill>
                  <a:srgbClr val="667085"/>
                </a:solidFill>
                <a:latin typeface="Calibri" pitchFamily="34" charset="0"/>
                <a:ea typeface="Calibri" pitchFamily="34" charset="-122"/>
                <a:cs typeface="Calibri" pitchFamily="34" charset="-120"/>
              </a:rPr>
              <a:t>× N pantallas por locación</a:t>
            </a:r>
            <a:endParaRPr lang="en-US" sz="1150" dirty="0"/>
          </a:p>
        </p:txBody>
      </p:sp>
      <p:sp>
        <p:nvSpPr>
          <p:cNvPr id="32" name="Shape 30"/>
          <p:cNvSpPr/>
          <p:nvPr/>
        </p:nvSpPr>
        <p:spPr>
          <a:xfrm>
            <a:off x="6995160" y="3145536"/>
            <a:ext cx="1371600" cy="0"/>
          </a:xfrm>
          <a:prstGeom prst="line">
            <a:avLst/>
          </a:prstGeom>
          <a:noFill/>
          <a:ln w="22225">
            <a:solidFill>
              <a:srgbClr val="E8590C"/>
            </a:solidFill>
            <a:prstDash val="solid"/>
            <a:headEnd type="triangle"/>
            <a:tailEnd type="triangle"/>
          </a:ln>
        </p:spPr>
      </p:sp>
      <p:sp>
        <p:nvSpPr>
          <p:cNvPr id="33" name="Text 31"/>
          <p:cNvSpPr txBox="1"/>
          <p:nvPr/>
        </p:nvSpPr>
        <p:spPr>
          <a:xfrm>
            <a:off x="6995160" y="2724912"/>
            <a:ext cx="1371600" cy="219456"/>
          </a:xfrm>
          <a:prstGeom prst="rect">
            <a:avLst/>
          </a:prstGeom>
          <a:noFill/>
          <a:ln/>
        </p:spPr>
        <p:txBody>
          <a:bodyPr wrap="square" lIns="0" tIns="0" rIns="0" bIns="0" rtlCol="0" anchor="ctr"/>
          <a:lstStyle/>
          <a:p>
            <a:pPr algn="ctr" indent="0" marL="0">
              <a:buNone/>
            </a:pPr>
            <a:r>
              <a:rPr lang="en-US" sz="1050" b="1" dirty="0">
                <a:solidFill>
                  <a:srgbClr val="E8590C"/>
                </a:solidFill>
                <a:latin typeface="Calibri" pitchFamily="34" charset="0"/>
                <a:ea typeface="Calibri" pitchFamily="34" charset="-122"/>
                <a:cs typeface="Calibri" pitchFamily="34" charset="-120"/>
              </a:rPr>
              <a:t>HTTPS · API</a:t>
            </a:r>
            <a:endParaRPr lang="en-US" sz="1050" dirty="0"/>
          </a:p>
        </p:txBody>
      </p:sp>
      <p:sp>
        <p:nvSpPr>
          <p:cNvPr id="34" name="Text 32"/>
          <p:cNvSpPr txBox="1"/>
          <p:nvPr/>
        </p:nvSpPr>
        <p:spPr>
          <a:xfrm>
            <a:off x="6903720" y="3200400"/>
            <a:ext cx="1554480" cy="384048"/>
          </a:xfrm>
          <a:prstGeom prst="rect">
            <a:avLst/>
          </a:prstGeom>
          <a:noFill/>
          <a:ln/>
        </p:spPr>
        <p:txBody>
          <a:bodyPr wrap="square" lIns="0" tIns="0" rIns="0" bIns="0" rtlCol="0" anchor="t"/>
          <a:lstStyle/>
          <a:p>
            <a:pPr algn="ctr" indent="0" marL="0">
              <a:lnSpc>
                <a:spcPct val="100000"/>
              </a:lnSpc>
              <a:buNone/>
            </a:pPr>
            <a:r>
              <a:rPr lang="en-US" sz="950" dirty="0">
                <a:solidFill>
                  <a:srgbClr val="667085"/>
                </a:solidFill>
                <a:latin typeface="Calibri" pitchFamily="34" charset="0"/>
                <a:ea typeface="Calibri" pitchFamily="34" charset="-122"/>
                <a:cs typeface="Calibri" pitchFamily="34" charset="-120"/>
              </a:rPr>
              <a:t>sincronización y</a:t>
            </a:r>
            <a:endParaRPr lang="en-US" sz="950" dirty="0"/>
          </a:p>
          <a:p>
            <a:pPr algn="ctr" indent="0" marL="0">
              <a:lnSpc>
                <a:spcPct val="100000"/>
              </a:lnSpc>
              <a:buNone/>
            </a:pPr>
            <a:r>
              <a:rPr lang="en-US" sz="950" dirty="0">
                <a:solidFill>
                  <a:srgbClr val="667085"/>
                </a:solidFill>
                <a:latin typeface="Calibri" pitchFamily="34" charset="0"/>
                <a:ea typeface="Calibri" pitchFamily="34" charset="-122"/>
                <a:cs typeface="Calibri" pitchFamily="34" charset="-120"/>
              </a:rPr>
              <a:t>descarga anticipada</a:t>
            </a:r>
            <a:endParaRPr lang="en-US" sz="950" dirty="0"/>
          </a:p>
        </p:txBody>
      </p:sp>
      <p:sp>
        <p:nvSpPr>
          <p:cNvPr id="35" name="Shape 33"/>
          <p:cNvSpPr/>
          <p:nvPr/>
        </p:nvSpPr>
        <p:spPr>
          <a:xfrm>
            <a:off x="6995160" y="4709160"/>
            <a:ext cx="1371600" cy="0"/>
          </a:xfrm>
          <a:prstGeom prst="line">
            <a:avLst/>
          </a:prstGeom>
          <a:noFill/>
          <a:ln w="22225">
            <a:solidFill>
              <a:srgbClr val="E8590C"/>
            </a:solidFill>
            <a:prstDash val="solid"/>
            <a:headEnd type="triangle"/>
            <a:tailEnd type="triangle"/>
          </a:ln>
        </p:spPr>
      </p:sp>
      <p:sp>
        <p:nvSpPr>
          <p:cNvPr id="36" name="Text 34"/>
          <p:cNvSpPr txBox="1"/>
          <p:nvPr/>
        </p:nvSpPr>
        <p:spPr>
          <a:xfrm>
            <a:off x="6995160" y="4288536"/>
            <a:ext cx="1371600" cy="219456"/>
          </a:xfrm>
          <a:prstGeom prst="rect">
            <a:avLst/>
          </a:prstGeom>
          <a:noFill/>
          <a:ln/>
        </p:spPr>
        <p:txBody>
          <a:bodyPr wrap="square" lIns="0" tIns="0" rIns="0" bIns="0" rtlCol="0" anchor="ctr"/>
          <a:lstStyle/>
          <a:p>
            <a:pPr algn="ctr" indent="0" marL="0">
              <a:buNone/>
            </a:pPr>
            <a:r>
              <a:rPr lang="en-US" sz="1050" b="1" dirty="0">
                <a:solidFill>
                  <a:srgbClr val="E8590C"/>
                </a:solidFill>
                <a:latin typeface="Calibri" pitchFamily="34" charset="0"/>
                <a:ea typeface="Calibri" pitchFamily="34" charset="-122"/>
                <a:cs typeface="Calibri" pitchFamily="34" charset="-120"/>
              </a:rPr>
              <a:t>WSS · Reverb</a:t>
            </a:r>
            <a:endParaRPr lang="en-US" sz="1050" dirty="0"/>
          </a:p>
        </p:txBody>
      </p:sp>
      <p:sp>
        <p:nvSpPr>
          <p:cNvPr id="37" name="Text 35"/>
          <p:cNvSpPr txBox="1"/>
          <p:nvPr/>
        </p:nvSpPr>
        <p:spPr>
          <a:xfrm>
            <a:off x="6903720" y="4764024"/>
            <a:ext cx="1554480" cy="384048"/>
          </a:xfrm>
          <a:prstGeom prst="rect">
            <a:avLst/>
          </a:prstGeom>
          <a:noFill/>
          <a:ln/>
        </p:spPr>
        <p:txBody>
          <a:bodyPr wrap="square" lIns="0" tIns="0" rIns="0" bIns="0" rtlCol="0" anchor="t"/>
          <a:lstStyle/>
          <a:p>
            <a:pPr algn="ctr" indent="0" marL="0">
              <a:lnSpc>
                <a:spcPct val="100000"/>
              </a:lnSpc>
              <a:buNone/>
            </a:pPr>
            <a:r>
              <a:rPr lang="en-US" sz="950" dirty="0">
                <a:solidFill>
                  <a:srgbClr val="667085"/>
                </a:solidFill>
                <a:latin typeface="Calibri" pitchFamily="34" charset="0"/>
                <a:ea typeface="Calibri" pitchFamily="34" charset="-122"/>
                <a:cs typeface="Calibri" pitchFamily="34" charset="-120"/>
              </a:rPr>
              <a:t>cambios en vivo</a:t>
            </a:r>
            <a:endParaRPr lang="en-US" sz="950" dirty="0"/>
          </a:p>
          <a:p>
            <a:pPr algn="ctr" indent="0" marL="0">
              <a:lnSpc>
                <a:spcPct val="100000"/>
              </a:lnSpc>
              <a:buNone/>
            </a:pPr>
            <a:r>
              <a:rPr lang="en-US" sz="950" dirty="0">
                <a:solidFill>
                  <a:srgbClr val="667085"/>
                </a:solidFill>
                <a:latin typeface="Calibri" pitchFamily="34" charset="0"/>
                <a:ea typeface="Calibri" pitchFamily="34" charset="-122"/>
                <a:cs typeface="Calibri" pitchFamily="34" charset="-120"/>
              </a:rPr>
              <a:t>y telemetría</a:t>
            </a:r>
            <a:endParaRPr lang="en-US" sz="950" dirty="0"/>
          </a:p>
        </p:txBody>
      </p:sp>
      <p:sp>
        <p:nvSpPr>
          <p:cNvPr id="38" name="Shape 36"/>
          <p:cNvSpPr/>
          <p:nvPr/>
        </p:nvSpPr>
        <p:spPr>
          <a:xfrm>
            <a:off x="685800" y="5440680"/>
            <a:ext cx="10817352" cy="731520"/>
          </a:xfrm>
          <a:prstGeom prst="roundRect">
            <a:avLst>
              <a:gd name="adj" fmla="val 12500"/>
            </a:avLst>
          </a:prstGeom>
          <a:solidFill>
            <a:srgbClr val="FDF0E8"/>
          </a:solidFill>
          <a:ln/>
        </p:spPr>
      </p:sp>
      <p:sp>
        <p:nvSpPr>
          <p:cNvPr id="39" name="Text 37"/>
          <p:cNvSpPr txBox="1"/>
          <p:nvPr/>
        </p:nvSpPr>
        <p:spPr>
          <a:xfrm>
            <a:off x="1143000" y="5440680"/>
            <a:ext cx="9902952" cy="731520"/>
          </a:xfrm>
          <a:prstGeom prst="rect">
            <a:avLst/>
          </a:prstGeom>
          <a:noFill/>
          <a:ln/>
        </p:spPr>
        <p:txBody>
          <a:bodyPr wrap="square" lIns="0" tIns="0" rIns="0" bIns="0" rtlCol="0" anchor="ctr"/>
          <a:lstStyle/>
          <a:p>
            <a:pPr indent="0" marL="0">
              <a:lnSpc>
                <a:spcPct val="120000"/>
              </a:lnSpc>
              <a:buNone/>
            </a:pPr>
            <a:r>
              <a:rPr lang="en-US" sz="1500" b="1" dirty="0">
                <a:solidFill>
                  <a:srgbClr val="E8590C"/>
                </a:solidFill>
                <a:latin typeface="Calibri" pitchFamily="34" charset="0"/>
                <a:ea typeface="Calibri" pitchFamily="34" charset="-122"/>
                <a:cs typeface="Calibri" pitchFamily="34" charset="-120"/>
              </a:rPr>
              <a:t>El Player reproduce siempre desde su caché. </a:t>
            </a:r>
            <a:pPr indent="0" marL="0">
              <a:lnSpc>
                <a:spcPct val="120000"/>
              </a:lnSpc>
              <a:buNone/>
            </a:pPr>
            <a:r>
              <a:rPr lang="en-US" sz="1500" dirty="0">
                <a:solidFill>
                  <a:srgbClr val="8A3A0B"/>
                </a:solidFill>
                <a:latin typeface="Calibri" pitchFamily="34" charset="0"/>
                <a:ea typeface="Calibri" pitchFamily="34" charset="-122"/>
                <a:cs typeface="Calibri" pitchFamily="34" charset="-120"/>
              </a:rPr>
              <a:t>Si se pierde internet, la pantalla continúa con la programación y los archivos ya descargados.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85800" y="566928"/>
            <a:ext cx="1051560" cy="475488"/>
          </a:xfrm>
          <a:prstGeom prst="roundRect">
            <a:avLst>
              <a:gd name="adj" fmla="val 19231"/>
            </a:avLst>
          </a:prstGeom>
          <a:solidFill>
            <a:srgbClr val="101828"/>
          </a:solidFill>
          <a:ln/>
        </p:spPr>
      </p:sp>
      <p:sp>
        <p:nvSpPr>
          <p:cNvPr id="3" name="Text 1"/>
          <p:cNvSpPr txBox="1"/>
          <p:nvPr/>
        </p:nvSpPr>
        <p:spPr>
          <a:xfrm>
            <a:off x="685800" y="566928"/>
            <a:ext cx="105156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ANEXO</a:t>
            </a:r>
            <a:endParaRPr lang="en-US" sz="1150" dirty="0"/>
          </a:p>
        </p:txBody>
      </p:sp>
      <p:sp>
        <p:nvSpPr>
          <p:cNvPr id="4" name="Text 2"/>
          <p:cNvSpPr txBox="1"/>
          <p:nvPr/>
        </p:nvSpPr>
        <p:spPr>
          <a:xfrm>
            <a:off x="1965960" y="502920"/>
            <a:ext cx="9537192" cy="475488"/>
          </a:xfrm>
          <a:prstGeom prst="rect">
            <a:avLst/>
          </a:prstGeom>
          <a:noFill/>
          <a:ln/>
        </p:spPr>
        <p:txBody>
          <a:bodyPr wrap="square" lIns="0" tIns="0" rIns="0" bIns="0" rtlCol="0" anchor="ctr"/>
          <a:lstStyle/>
          <a:p>
            <a:pPr indent="0" marL="0">
              <a:buNone/>
            </a:pPr>
            <a:r>
              <a:rPr lang="en-US" sz="3100" b="1" dirty="0">
                <a:solidFill>
                  <a:srgbClr val="101828"/>
                </a:solidFill>
                <a:latin typeface="Arial" pitchFamily="34" charset="0"/>
                <a:ea typeface="Arial" pitchFamily="34" charset="-122"/>
                <a:cs typeface="Arial" pitchFamily="34" charset="-120"/>
              </a:rPr>
              <a:t>Glosario técnico</a:t>
            </a:r>
            <a:endParaRPr lang="en-US" sz="3100" dirty="0"/>
          </a:p>
        </p:txBody>
      </p:sp>
      <p:sp>
        <p:nvSpPr>
          <p:cNvPr id="5" name="Text 3"/>
          <p:cNvSpPr txBox="1"/>
          <p:nvPr/>
        </p:nvSpPr>
        <p:spPr>
          <a:xfrm>
            <a:off x="1965960" y="996696"/>
            <a:ext cx="953719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Términos que la comisión puede pedir definir</a:t>
            </a:r>
            <a:endParaRPr lang="en-US" sz="1450" dirty="0"/>
          </a:p>
        </p:txBody>
      </p:sp>
      <p:sp>
        <p:nvSpPr>
          <p:cNvPr id="6" name="Shape 4"/>
          <p:cNvSpPr/>
          <p:nvPr/>
        </p:nvSpPr>
        <p:spPr>
          <a:xfrm>
            <a:off x="685800" y="1828800"/>
            <a:ext cx="10817352" cy="768096"/>
          </a:xfrm>
          <a:prstGeom prst="roundRect">
            <a:avLst>
              <a:gd name="adj" fmla="val 11905"/>
            </a:avLst>
          </a:prstGeom>
          <a:solidFill>
            <a:srgbClr val="F6F7F9"/>
          </a:solidFill>
          <a:ln/>
        </p:spPr>
      </p:sp>
      <p:sp>
        <p:nvSpPr>
          <p:cNvPr id="7" name="Text 5"/>
          <p:cNvSpPr txBox="1"/>
          <p:nvPr/>
        </p:nvSpPr>
        <p:spPr>
          <a:xfrm>
            <a:off x="1097280" y="1828800"/>
            <a:ext cx="2834640" cy="768096"/>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Resiliencia offline</a:t>
            </a:r>
            <a:endParaRPr lang="en-US" sz="1550" dirty="0"/>
          </a:p>
        </p:txBody>
      </p:sp>
      <p:sp>
        <p:nvSpPr>
          <p:cNvPr id="8" name="Text 6"/>
          <p:cNvSpPr txBox="1"/>
          <p:nvPr/>
        </p:nvSpPr>
        <p:spPr>
          <a:xfrm>
            <a:off x="4114800" y="1828800"/>
            <a:ext cx="7132320" cy="768096"/>
          </a:xfrm>
          <a:prstGeom prst="rect">
            <a:avLst/>
          </a:prstGeom>
          <a:noFill/>
          <a:ln/>
        </p:spPr>
        <p:txBody>
          <a:bodyPr wrap="square" lIns="0" tIns="0" rIns="0" bIns="0" rtlCol="0" anchor="ctr"/>
          <a:lstStyle/>
          <a:p>
            <a:pPr indent="0" marL="0">
              <a:buNone/>
            </a:pPr>
            <a:r>
              <a:rPr lang="en-US" sz="1500" dirty="0">
                <a:solidFill>
                  <a:srgbClr val="475467"/>
                </a:solidFill>
                <a:latin typeface="Calibri" pitchFamily="34" charset="0"/>
                <a:ea typeface="Calibri" pitchFamily="34" charset="-122"/>
                <a:cs typeface="Calibri" pitchFamily="34" charset="-120"/>
              </a:rPr>
              <a:t>El Player sigue reproduciendo desde su caché local cuando no hay conexión a internet.</a:t>
            </a:r>
            <a:endParaRPr lang="en-US" sz="1500" dirty="0"/>
          </a:p>
        </p:txBody>
      </p:sp>
      <p:sp>
        <p:nvSpPr>
          <p:cNvPr id="9" name="Shape 7"/>
          <p:cNvSpPr/>
          <p:nvPr/>
        </p:nvSpPr>
        <p:spPr>
          <a:xfrm>
            <a:off x="685800" y="2724912"/>
            <a:ext cx="10817352" cy="768096"/>
          </a:xfrm>
          <a:prstGeom prst="roundRect">
            <a:avLst>
              <a:gd name="adj" fmla="val 11905"/>
            </a:avLst>
          </a:prstGeom>
          <a:solidFill>
            <a:srgbClr val="F6F7F9"/>
          </a:solidFill>
          <a:ln/>
        </p:spPr>
      </p:sp>
      <p:sp>
        <p:nvSpPr>
          <p:cNvPr id="10" name="Text 8"/>
          <p:cNvSpPr txBox="1"/>
          <p:nvPr/>
        </p:nvSpPr>
        <p:spPr>
          <a:xfrm>
            <a:off x="1097280" y="2724912"/>
            <a:ext cx="2834640" cy="768096"/>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IndexedDB</a:t>
            </a:r>
            <a:endParaRPr lang="en-US" sz="1550" dirty="0"/>
          </a:p>
        </p:txBody>
      </p:sp>
      <p:sp>
        <p:nvSpPr>
          <p:cNvPr id="11" name="Text 9"/>
          <p:cNvSpPr txBox="1"/>
          <p:nvPr/>
        </p:nvSpPr>
        <p:spPr>
          <a:xfrm>
            <a:off x="4114800" y="2724912"/>
            <a:ext cx="7132320" cy="768096"/>
          </a:xfrm>
          <a:prstGeom prst="rect">
            <a:avLst/>
          </a:prstGeom>
          <a:noFill/>
          <a:ln/>
        </p:spPr>
        <p:txBody>
          <a:bodyPr wrap="square" lIns="0" tIns="0" rIns="0" bIns="0" rtlCol="0" anchor="ctr"/>
          <a:lstStyle/>
          <a:p>
            <a:pPr indent="0" marL="0">
              <a:buNone/>
            </a:pPr>
            <a:r>
              <a:rPr lang="en-US" sz="1500" dirty="0">
                <a:solidFill>
                  <a:srgbClr val="475467"/>
                </a:solidFill>
                <a:latin typeface="Calibri" pitchFamily="34" charset="0"/>
                <a:ea typeface="Calibri" pitchFamily="34" charset="-122"/>
                <a:cs typeface="Calibri" pitchFamily="34" charset="-120"/>
              </a:rPr>
              <a:t>Almacenamiento estructurado en el navegador; guarda los medios y la programación en el NUC.</a:t>
            </a:r>
            <a:endParaRPr lang="en-US" sz="1500" dirty="0"/>
          </a:p>
        </p:txBody>
      </p:sp>
      <p:sp>
        <p:nvSpPr>
          <p:cNvPr id="12" name="Shape 10"/>
          <p:cNvSpPr/>
          <p:nvPr/>
        </p:nvSpPr>
        <p:spPr>
          <a:xfrm>
            <a:off x="685800" y="3621024"/>
            <a:ext cx="10817352" cy="768096"/>
          </a:xfrm>
          <a:prstGeom prst="roundRect">
            <a:avLst>
              <a:gd name="adj" fmla="val 11905"/>
            </a:avLst>
          </a:prstGeom>
          <a:solidFill>
            <a:srgbClr val="F6F7F9"/>
          </a:solidFill>
          <a:ln/>
        </p:spPr>
      </p:sp>
      <p:sp>
        <p:nvSpPr>
          <p:cNvPr id="13" name="Text 11"/>
          <p:cNvSpPr txBox="1"/>
          <p:nvPr/>
        </p:nvSpPr>
        <p:spPr>
          <a:xfrm>
            <a:off x="1097280" y="3621024"/>
            <a:ext cx="2834640" cy="768096"/>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SHA-256</a:t>
            </a:r>
            <a:endParaRPr lang="en-US" sz="1550" dirty="0"/>
          </a:p>
        </p:txBody>
      </p:sp>
      <p:sp>
        <p:nvSpPr>
          <p:cNvPr id="14" name="Text 12"/>
          <p:cNvSpPr txBox="1"/>
          <p:nvPr/>
        </p:nvSpPr>
        <p:spPr>
          <a:xfrm>
            <a:off x="4114800" y="3621024"/>
            <a:ext cx="7132320" cy="768096"/>
          </a:xfrm>
          <a:prstGeom prst="rect">
            <a:avLst/>
          </a:prstGeom>
          <a:noFill/>
          <a:ln/>
        </p:spPr>
        <p:txBody>
          <a:bodyPr wrap="square" lIns="0" tIns="0" rIns="0" bIns="0" rtlCol="0" anchor="ctr"/>
          <a:lstStyle/>
          <a:p>
            <a:pPr indent="0" marL="0">
              <a:buNone/>
            </a:pPr>
            <a:r>
              <a:rPr lang="en-US" sz="1500" dirty="0">
                <a:solidFill>
                  <a:srgbClr val="475467"/>
                </a:solidFill>
                <a:latin typeface="Calibri" pitchFamily="34" charset="0"/>
                <a:ea typeface="Calibri" pitchFamily="34" charset="-122"/>
                <a:cs typeface="Calibri" pitchFamily="34" charset="-120"/>
              </a:rPr>
              <a:t>Función hash usada para verificar que un archivo descargado no se corrompió en la transferencia.</a:t>
            </a:r>
            <a:endParaRPr lang="en-US" sz="1500" dirty="0"/>
          </a:p>
        </p:txBody>
      </p:sp>
      <p:sp>
        <p:nvSpPr>
          <p:cNvPr id="15" name="Shape 13"/>
          <p:cNvSpPr/>
          <p:nvPr/>
        </p:nvSpPr>
        <p:spPr>
          <a:xfrm>
            <a:off x="685800" y="4517136"/>
            <a:ext cx="10817352" cy="768096"/>
          </a:xfrm>
          <a:prstGeom prst="roundRect">
            <a:avLst>
              <a:gd name="adj" fmla="val 11905"/>
            </a:avLst>
          </a:prstGeom>
          <a:solidFill>
            <a:srgbClr val="F6F7F9"/>
          </a:solidFill>
          <a:ln/>
        </p:spPr>
      </p:sp>
      <p:sp>
        <p:nvSpPr>
          <p:cNvPr id="16" name="Text 14"/>
          <p:cNvSpPr txBox="1"/>
          <p:nvPr/>
        </p:nvSpPr>
        <p:spPr>
          <a:xfrm>
            <a:off x="1097280" y="4517136"/>
            <a:ext cx="2834640" cy="768096"/>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Laravel Reverb</a:t>
            </a:r>
            <a:endParaRPr lang="en-US" sz="1550" dirty="0"/>
          </a:p>
        </p:txBody>
      </p:sp>
      <p:sp>
        <p:nvSpPr>
          <p:cNvPr id="17" name="Text 15"/>
          <p:cNvSpPr txBox="1"/>
          <p:nvPr/>
        </p:nvSpPr>
        <p:spPr>
          <a:xfrm>
            <a:off x="4114800" y="4517136"/>
            <a:ext cx="7132320" cy="768096"/>
          </a:xfrm>
          <a:prstGeom prst="rect">
            <a:avLst/>
          </a:prstGeom>
          <a:noFill/>
          <a:ln/>
        </p:spPr>
        <p:txBody>
          <a:bodyPr wrap="square" lIns="0" tIns="0" rIns="0" bIns="0" rtlCol="0" anchor="ctr"/>
          <a:lstStyle/>
          <a:p>
            <a:pPr indent="0" marL="0">
              <a:buNone/>
            </a:pPr>
            <a:r>
              <a:rPr lang="en-US" sz="1500" dirty="0">
                <a:solidFill>
                  <a:srgbClr val="475467"/>
                </a:solidFill>
                <a:latin typeface="Calibri" pitchFamily="34" charset="0"/>
                <a:ea typeface="Calibri" pitchFamily="34" charset="-122"/>
                <a:cs typeface="Calibri" pitchFamily="34" charset="-120"/>
              </a:rPr>
              <a:t>Servidor de WebSockets de Laravel; canal en tiempo real entre la plataforma y los Players.</a:t>
            </a:r>
            <a:endParaRPr lang="en-US" sz="1500" dirty="0"/>
          </a:p>
        </p:txBody>
      </p:sp>
      <p:sp>
        <p:nvSpPr>
          <p:cNvPr id="18" name="Shape 16"/>
          <p:cNvSpPr/>
          <p:nvPr/>
        </p:nvSpPr>
        <p:spPr>
          <a:xfrm>
            <a:off x="685800" y="5413248"/>
            <a:ext cx="10817352" cy="768096"/>
          </a:xfrm>
          <a:prstGeom prst="roundRect">
            <a:avLst>
              <a:gd name="adj" fmla="val 11905"/>
            </a:avLst>
          </a:prstGeom>
          <a:solidFill>
            <a:srgbClr val="F6F7F9"/>
          </a:solidFill>
          <a:ln/>
        </p:spPr>
      </p:sp>
      <p:sp>
        <p:nvSpPr>
          <p:cNvPr id="19" name="Text 17"/>
          <p:cNvSpPr txBox="1"/>
          <p:nvPr/>
        </p:nvSpPr>
        <p:spPr>
          <a:xfrm>
            <a:off x="1097280" y="5413248"/>
            <a:ext cx="2834640" cy="768096"/>
          </a:xfrm>
          <a:prstGeom prst="rect">
            <a:avLst/>
          </a:prstGeom>
          <a:noFill/>
          <a:ln/>
        </p:spPr>
        <p:txBody>
          <a:bodyPr wrap="square" lIns="0" tIns="0" rIns="0" bIns="0" rtlCol="0" anchor="ctr"/>
          <a:lstStyle/>
          <a:p>
            <a:pPr indent="0" marL="0">
              <a:buNone/>
            </a:pPr>
            <a:r>
              <a:rPr lang="en-US" sz="1550" b="1" dirty="0">
                <a:solidFill>
                  <a:srgbClr val="E8590C"/>
                </a:solidFill>
                <a:latin typeface="Arial" pitchFamily="34" charset="0"/>
                <a:ea typeface="Arial" pitchFamily="34" charset="-122"/>
                <a:cs typeface="Arial" pitchFamily="34" charset="-120"/>
              </a:rPr>
              <a:t>NUC</a:t>
            </a:r>
            <a:endParaRPr lang="en-US" sz="1550" dirty="0"/>
          </a:p>
        </p:txBody>
      </p:sp>
      <p:sp>
        <p:nvSpPr>
          <p:cNvPr id="20" name="Text 18"/>
          <p:cNvSpPr txBox="1"/>
          <p:nvPr/>
        </p:nvSpPr>
        <p:spPr>
          <a:xfrm>
            <a:off x="4114800" y="5413248"/>
            <a:ext cx="7132320" cy="768096"/>
          </a:xfrm>
          <a:prstGeom prst="rect">
            <a:avLst/>
          </a:prstGeom>
          <a:noFill/>
          <a:ln/>
        </p:spPr>
        <p:txBody>
          <a:bodyPr wrap="square" lIns="0" tIns="0" rIns="0" bIns="0" rtlCol="0" anchor="ctr"/>
          <a:lstStyle/>
          <a:p>
            <a:pPr indent="0" marL="0">
              <a:buNone/>
            </a:pPr>
            <a:r>
              <a:rPr lang="en-US" sz="1500" dirty="0">
                <a:solidFill>
                  <a:srgbClr val="475467"/>
                </a:solidFill>
                <a:latin typeface="Calibri" pitchFamily="34" charset="0"/>
                <a:ea typeface="Calibri" pitchFamily="34" charset="-122"/>
                <a:cs typeface="Calibri" pitchFamily="34" charset="-120"/>
              </a:rPr>
              <a:t>Microcomputador conectado a cada pantalla, donde se ejecuta el Player local.</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85800" y="566928"/>
            <a:ext cx="1051560" cy="475488"/>
          </a:xfrm>
          <a:prstGeom prst="roundRect">
            <a:avLst>
              <a:gd name="adj" fmla="val 19231"/>
            </a:avLst>
          </a:prstGeom>
          <a:solidFill>
            <a:srgbClr val="101828"/>
          </a:solidFill>
          <a:ln/>
        </p:spPr>
      </p:sp>
      <p:sp>
        <p:nvSpPr>
          <p:cNvPr id="3" name="Text 1"/>
          <p:cNvSpPr txBox="1"/>
          <p:nvPr/>
        </p:nvSpPr>
        <p:spPr>
          <a:xfrm>
            <a:off x="685800" y="566928"/>
            <a:ext cx="105156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ANEXO</a:t>
            </a:r>
            <a:endParaRPr lang="en-US" sz="1150" dirty="0"/>
          </a:p>
        </p:txBody>
      </p:sp>
      <p:sp>
        <p:nvSpPr>
          <p:cNvPr id="4" name="Text 2"/>
          <p:cNvSpPr txBox="1"/>
          <p:nvPr/>
        </p:nvSpPr>
        <p:spPr>
          <a:xfrm>
            <a:off x="1965960" y="502920"/>
            <a:ext cx="9537192" cy="475488"/>
          </a:xfrm>
          <a:prstGeom prst="rect">
            <a:avLst/>
          </a:prstGeom>
          <a:noFill/>
          <a:ln/>
        </p:spPr>
        <p:txBody>
          <a:bodyPr wrap="square" lIns="0" tIns="0" rIns="0" bIns="0" rtlCol="0" anchor="ctr"/>
          <a:lstStyle/>
          <a:p>
            <a:pPr indent="0" marL="0">
              <a:buNone/>
            </a:pPr>
            <a:r>
              <a:rPr lang="en-US" sz="3100" b="1" dirty="0">
                <a:solidFill>
                  <a:srgbClr val="101828"/>
                </a:solidFill>
                <a:latin typeface="Arial" pitchFamily="34" charset="0"/>
                <a:ea typeface="Arial" pitchFamily="34" charset="-122"/>
                <a:cs typeface="Arial" pitchFamily="34" charset="-120"/>
              </a:rPr>
              <a:t>Evidencias del proyecto</a:t>
            </a:r>
            <a:endParaRPr lang="en-US" sz="3100" dirty="0"/>
          </a:p>
        </p:txBody>
      </p:sp>
      <p:sp>
        <p:nvSpPr>
          <p:cNvPr id="5" name="Text 3"/>
          <p:cNvSpPr txBox="1"/>
          <p:nvPr/>
        </p:nvSpPr>
        <p:spPr>
          <a:xfrm>
            <a:off x="1965960" y="996696"/>
            <a:ext cx="953719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Artefactos comprometidos para acreditar el avance</a:t>
            </a:r>
            <a:endParaRPr lang="en-US" sz="1450" dirty="0"/>
          </a:p>
        </p:txBody>
      </p:sp>
      <p:sp>
        <p:nvSpPr>
          <p:cNvPr id="6" name="Shape 4"/>
          <p:cNvSpPr/>
          <p:nvPr/>
        </p:nvSpPr>
        <p:spPr>
          <a:xfrm>
            <a:off x="685800" y="1828800"/>
            <a:ext cx="5271516" cy="1051560"/>
          </a:xfrm>
          <a:prstGeom prst="roundRect">
            <a:avLst>
              <a:gd name="adj" fmla="val 8696"/>
            </a:avLst>
          </a:prstGeom>
          <a:solidFill>
            <a:srgbClr val="F6F7F9"/>
          </a:solidFill>
          <a:ln/>
        </p:spPr>
      </p:sp>
      <p:sp>
        <p:nvSpPr>
          <p:cNvPr id="7" name="Text 5"/>
          <p:cNvSpPr txBox="1"/>
          <p:nvPr/>
        </p:nvSpPr>
        <p:spPr>
          <a:xfrm>
            <a:off x="1097280" y="1975104"/>
            <a:ext cx="4448556" cy="292608"/>
          </a:xfrm>
          <a:prstGeom prst="rect">
            <a:avLst/>
          </a:prstGeom>
          <a:noFill/>
          <a:ln/>
        </p:spPr>
        <p:txBody>
          <a:bodyPr wrap="square" lIns="0" tIns="0" rIns="0" bIns="0" rtlCol="0" anchor="ctr"/>
          <a:lstStyle/>
          <a:p>
            <a:pPr indent="0" marL="0">
              <a:buNone/>
            </a:pPr>
            <a:r>
              <a:rPr lang="en-US" sz="1250" b="1" spc="100" kern="0" dirty="0">
                <a:solidFill>
                  <a:srgbClr val="E8590C"/>
                </a:solidFill>
                <a:latin typeface="Calibri" pitchFamily="34" charset="0"/>
                <a:ea typeface="Calibri" pitchFamily="34" charset="-122"/>
                <a:cs typeface="Calibri" pitchFamily="34" charset="-120"/>
              </a:rPr>
              <a:t>EVID-01</a:t>
            </a:r>
            <a:endParaRPr lang="en-US" sz="1250" dirty="0"/>
          </a:p>
        </p:txBody>
      </p:sp>
      <p:sp>
        <p:nvSpPr>
          <p:cNvPr id="8" name="Text 6"/>
          <p:cNvSpPr txBox="1"/>
          <p:nvPr/>
        </p:nvSpPr>
        <p:spPr>
          <a:xfrm>
            <a:off x="1097280" y="2286000"/>
            <a:ext cx="4448556" cy="50292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Minuta de levantamiento y validación de alcance con Lumina Motion.</a:t>
            </a:r>
            <a:endParaRPr lang="en-US" sz="1500" dirty="0"/>
          </a:p>
        </p:txBody>
      </p:sp>
      <p:sp>
        <p:nvSpPr>
          <p:cNvPr id="9" name="Shape 7"/>
          <p:cNvSpPr/>
          <p:nvPr/>
        </p:nvSpPr>
        <p:spPr>
          <a:xfrm>
            <a:off x="6231636" y="1828800"/>
            <a:ext cx="5271516" cy="1051560"/>
          </a:xfrm>
          <a:prstGeom prst="roundRect">
            <a:avLst>
              <a:gd name="adj" fmla="val 8696"/>
            </a:avLst>
          </a:prstGeom>
          <a:solidFill>
            <a:srgbClr val="F6F7F9"/>
          </a:solidFill>
          <a:ln/>
        </p:spPr>
      </p:sp>
      <p:sp>
        <p:nvSpPr>
          <p:cNvPr id="10" name="Text 8"/>
          <p:cNvSpPr txBox="1"/>
          <p:nvPr/>
        </p:nvSpPr>
        <p:spPr>
          <a:xfrm>
            <a:off x="6643116" y="1975104"/>
            <a:ext cx="4448556" cy="292608"/>
          </a:xfrm>
          <a:prstGeom prst="rect">
            <a:avLst/>
          </a:prstGeom>
          <a:noFill/>
          <a:ln/>
        </p:spPr>
        <p:txBody>
          <a:bodyPr wrap="square" lIns="0" tIns="0" rIns="0" bIns="0" rtlCol="0" anchor="ctr"/>
          <a:lstStyle/>
          <a:p>
            <a:pPr indent="0" marL="0">
              <a:buNone/>
            </a:pPr>
            <a:r>
              <a:rPr lang="en-US" sz="1250" b="1" spc="100" kern="0" dirty="0">
                <a:solidFill>
                  <a:srgbClr val="E8590C"/>
                </a:solidFill>
                <a:latin typeface="Calibri" pitchFamily="34" charset="0"/>
                <a:ea typeface="Calibri" pitchFamily="34" charset="-122"/>
                <a:cs typeface="Calibri" pitchFamily="34" charset="-120"/>
              </a:rPr>
              <a:t>EVID-02</a:t>
            </a:r>
            <a:endParaRPr lang="en-US" sz="1250" dirty="0"/>
          </a:p>
        </p:txBody>
      </p:sp>
      <p:sp>
        <p:nvSpPr>
          <p:cNvPr id="11" name="Text 9"/>
          <p:cNvSpPr txBox="1"/>
          <p:nvPr/>
        </p:nvSpPr>
        <p:spPr>
          <a:xfrm>
            <a:off x="6643116" y="2286000"/>
            <a:ext cx="4448556" cy="50292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Diagrama E-R y scripts de base de datos MariaDB (migraciones).</a:t>
            </a:r>
            <a:endParaRPr lang="en-US" sz="1500" dirty="0"/>
          </a:p>
        </p:txBody>
      </p:sp>
      <p:sp>
        <p:nvSpPr>
          <p:cNvPr id="12" name="Shape 10"/>
          <p:cNvSpPr/>
          <p:nvPr/>
        </p:nvSpPr>
        <p:spPr>
          <a:xfrm>
            <a:off x="685800" y="3063240"/>
            <a:ext cx="5271516" cy="1051560"/>
          </a:xfrm>
          <a:prstGeom prst="roundRect">
            <a:avLst>
              <a:gd name="adj" fmla="val 8696"/>
            </a:avLst>
          </a:prstGeom>
          <a:solidFill>
            <a:srgbClr val="F6F7F9"/>
          </a:solidFill>
          <a:ln/>
        </p:spPr>
      </p:sp>
      <p:sp>
        <p:nvSpPr>
          <p:cNvPr id="13" name="Text 11"/>
          <p:cNvSpPr txBox="1"/>
          <p:nvPr/>
        </p:nvSpPr>
        <p:spPr>
          <a:xfrm>
            <a:off x="1097280" y="3209544"/>
            <a:ext cx="4448556" cy="292608"/>
          </a:xfrm>
          <a:prstGeom prst="rect">
            <a:avLst/>
          </a:prstGeom>
          <a:noFill/>
          <a:ln/>
        </p:spPr>
        <p:txBody>
          <a:bodyPr wrap="square" lIns="0" tIns="0" rIns="0" bIns="0" rtlCol="0" anchor="ctr"/>
          <a:lstStyle/>
          <a:p>
            <a:pPr indent="0" marL="0">
              <a:buNone/>
            </a:pPr>
            <a:r>
              <a:rPr lang="en-US" sz="1250" b="1" spc="100" kern="0" dirty="0">
                <a:solidFill>
                  <a:srgbClr val="E8590C"/>
                </a:solidFill>
                <a:latin typeface="Calibri" pitchFamily="34" charset="0"/>
                <a:ea typeface="Calibri" pitchFamily="34" charset="-122"/>
                <a:cs typeface="Calibri" pitchFamily="34" charset="-120"/>
              </a:rPr>
              <a:t>EVID-03</a:t>
            </a:r>
            <a:endParaRPr lang="en-US" sz="1250" dirty="0"/>
          </a:p>
        </p:txBody>
      </p:sp>
      <p:sp>
        <p:nvSpPr>
          <p:cNvPr id="14" name="Text 12"/>
          <p:cNvSpPr txBox="1"/>
          <p:nvPr/>
        </p:nvSpPr>
        <p:spPr>
          <a:xfrm>
            <a:off x="1097280" y="3520440"/>
            <a:ext cx="4448556" cy="50292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Repositorio GitHub con trazabilidad de contribuciones.</a:t>
            </a:r>
            <a:endParaRPr lang="en-US" sz="1500" dirty="0"/>
          </a:p>
        </p:txBody>
      </p:sp>
      <p:sp>
        <p:nvSpPr>
          <p:cNvPr id="15" name="Shape 13"/>
          <p:cNvSpPr/>
          <p:nvPr/>
        </p:nvSpPr>
        <p:spPr>
          <a:xfrm>
            <a:off x="6231636" y="3063240"/>
            <a:ext cx="5271516" cy="1051560"/>
          </a:xfrm>
          <a:prstGeom prst="roundRect">
            <a:avLst>
              <a:gd name="adj" fmla="val 8696"/>
            </a:avLst>
          </a:prstGeom>
          <a:solidFill>
            <a:srgbClr val="F6F7F9"/>
          </a:solidFill>
          <a:ln/>
        </p:spPr>
      </p:sp>
      <p:sp>
        <p:nvSpPr>
          <p:cNvPr id="16" name="Text 14"/>
          <p:cNvSpPr txBox="1"/>
          <p:nvPr/>
        </p:nvSpPr>
        <p:spPr>
          <a:xfrm>
            <a:off x="6643116" y="3209544"/>
            <a:ext cx="4448556" cy="292608"/>
          </a:xfrm>
          <a:prstGeom prst="rect">
            <a:avLst/>
          </a:prstGeom>
          <a:noFill/>
          <a:ln/>
        </p:spPr>
        <p:txBody>
          <a:bodyPr wrap="square" lIns="0" tIns="0" rIns="0" bIns="0" rtlCol="0" anchor="ctr"/>
          <a:lstStyle/>
          <a:p>
            <a:pPr indent="0" marL="0">
              <a:buNone/>
            </a:pPr>
            <a:r>
              <a:rPr lang="en-US" sz="1250" b="1" spc="100" kern="0" dirty="0">
                <a:solidFill>
                  <a:srgbClr val="E8590C"/>
                </a:solidFill>
                <a:latin typeface="Calibri" pitchFamily="34" charset="0"/>
                <a:ea typeface="Calibri" pitchFamily="34" charset="-122"/>
                <a:cs typeface="Calibri" pitchFamily="34" charset="-120"/>
              </a:rPr>
              <a:t>EVID-04</a:t>
            </a:r>
            <a:endParaRPr lang="en-US" sz="1250" dirty="0"/>
          </a:p>
        </p:txBody>
      </p:sp>
      <p:sp>
        <p:nvSpPr>
          <p:cNvPr id="17" name="Text 15"/>
          <p:cNvSpPr txBox="1"/>
          <p:nvPr/>
        </p:nvSpPr>
        <p:spPr>
          <a:xfrm>
            <a:off x="6643116" y="3520440"/>
            <a:ext cx="4448556" cy="50292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Colección Postman y especificación OpenAPI de la API.</a:t>
            </a:r>
            <a:endParaRPr lang="en-US" sz="1500" dirty="0"/>
          </a:p>
        </p:txBody>
      </p:sp>
      <p:sp>
        <p:nvSpPr>
          <p:cNvPr id="18" name="Shape 16"/>
          <p:cNvSpPr/>
          <p:nvPr/>
        </p:nvSpPr>
        <p:spPr>
          <a:xfrm>
            <a:off x="685800" y="4297680"/>
            <a:ext cx="5271516" cy="1051560"/>
          </a:xfrm>
          <a:prstGeom prst="roundRect">
            <a:avLst>
              <a:gd name="adj" fmla="val 8696"/>
            </a:avLst>
          </a:prstGeom>
          <a:solidFill>
            <a:srgbClr val="F6F7F9"/>
          </a:solidFill>
          <a:ln/>
        </p:spPr>
      </p:sp>
      <p:sp>
        <p:nvSpPr>
          <p:cNvPr id="19" name="Text 17"/>
          <p:cNvSpPr txBox="1"/>
          <p:nvPr/>
        </p:nvSpPr>
        <p:spPr>
          <a:xfrm>
            <a:off x="1097280" y="4443984"/>
            <a:ext cx="4448556" cy="292608"/>
          </a:xfrm>
          <a:prstGeom prst="rect">
            <a:avLst/>
          </a:prstGeom>
          <a:noFill/>
          <a:ln/>
        </p:spPr>
        <p:txBody>
          <a:bodyPr wrap="square" lIns="0" tIns="0" rIns="0" bIns="0" rtlCol="0" anchor="ctr"/>
          <a:lstStyle/>
          <a:p>
            <a:pPr indent="0" marL="0">
              <a:buNone/>
            </a:pPr>
            <a:r>
              <a:rPr lang="en-US" sz="1250" b="1" spc="100" kern="0" dirty="0">
                <a:solidFill>
                  <a:srgbClr val="E8590C"/>
                </a:solidFill>
                <a:latin typeface="Calibri" pitchFamily="34" charset="0"/>
                <a:ea typeface="Calibri" pitchFamily="34" charset="-122"/>
                <a:cs typeface="Calibri" pitchFamily="34" charset="-120"/>
              </a:rPr>
              <a:t>EVID-05</a:t>
            </a:r>
            <a:endParaRPr lang="en-US" sz="1250" dirty="0"/>
          </a:p>
        </p:txBody>
      </p:sp>
      <p:sp>
        <p:nvSpPr>
          <p:cNvPr id="20" name="Text 18"/>
          <p:cNvSpPr txBox="1"/>
          <p:nvPr/>
        </p:nvSpPr>
        <p:spPr>
          <a:xfrm>
            <a:off x="1097280" y="4754880"/>
            <a:ext cx="4448556" cy="50292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Matriz y video de pruebas de tolerancia a fallos (offline).</a:t>
            </a:r>
            <a:endParaRPr lang="en-US" sz="1500" dirty="0"/>
          </a:p>
        </p:txBody>
      </p:sp>
      <p:sp>
        <p:nvSpPr>
          <p:cNvPr id="21" name="Shape 19"/>
          <p:cNvSpPr/>
          <p:nvPr/>
        </p:nvSpPr>
        <p:spPr>
          <a:xfrm>
            <a:off x="6231636" y="4297680"/>
            <a:ext cx="5271516" cy="1051560"/>
          </a:xfrm>
          <a:prstGeom prst="roundRect">
            <a:avLst>
              <a:gd name="adj" fmla="val 8696"/>
            </a:avLst>
          </a:prstGeom>
          <a:solidFill>
            <a:srgbClr val="F6F7F9"/>
          </a:solidFill>
          <a:ln/>
        </p:spPr>
      </p:sp>
      <p:sp>
        <p:nvSpPr>
          <p:cNvPr id="22" name="Text 20"/>
          <p:cNvSpPr txBox="1"/>
          <p:nvPr/>
        </p:nvSpPr>
        <p:spPr>
          <a:xfrm>
            <a:off x="6643116" y="4443984"/>
            <a:ext cx="4448556" cy="292608"/>
          </a:xfrm>
          <a:prstGeom prst="rect">
            <a:avLst/>
          </a:prstGeom>
          <a:noFill/>
          <a:ln/>
        </p:spPr>
        <p:txBody>
          <a:bodyPr wrap="square" lIns="0" tIns="0" rIns="0" bIns="0" rtlCol="0" anchor="ctr"/>
          <a:lstStyle/>
          <a:p>
            <a:pPr indent="0" marL="0">
              <a:buNone/>
            </a:pPr>
            <a:r>
              <a:rPr lang="en-US" sz="1250" b="1" spc="100" kern="0" dirty="0">
                <a:solidFill>
                  <a:srgbClr val="E8590C"/>
                </a:solidFill>
                <a:latin typeface="Calibri" pitchFamily="34" charset="0"/>
                <a:ea typeface="Calibri" pitchFamily="34" charset="-122"/>
                <a:cs typeface="Calibri" pitchFamily="34" charset="-120"/>
              </a:rPr>
              <a:t>EVID-06</a:t>
            </a:r>
            <a:endParaRPr lang="en-US" sz="1250" dirty="0"/>
          </a:p>
        </p:txBody>
      </p:sp>
      <p:sp>
        <p:nvSpPr>
          <p:cNvPr id="23" name="Text 21"/>
          <p:cNvSpPr txBox="1"/>
          <p:nvPr/>
        </p:nvSpPr>
        <p:spPr>
          <a:xfrm>
            <a:off x="6643116" y="4754880"/>
            <a:ext cx="4448556" cy="502920"/>
          </a:xfrm>
          <a:prstGeom prst="rect">
            <a:avLst/>
          </a:prstGeom>
          <a:noFill/>
          <a:ln/>
        </p:spPr>
        <p:txBody>
          <a:bodyPr wrap="square" lIns="0" tIns="0" rIns="0" bIns="0" rtlCol="0" anchor="t"/>
          <a:lstStyle/>
          <a:p>
            <a:pPr indent="0" marL="0">
              <a:lnSpc>
                <a:spcPct val="110000"/>
              </a:lnSpc>
              <a:buNone/>
            </a:pPr>
            <a:r>
              <a:rPr lang="en-US" sz="1500" dirty="0">
                <a:solidFill>
                  <a:srgbClr val="475467"/>
                </a:solidFill>
                <a:latin typeface="Calibri" pitchFamily="34" charset="0"/>
                <a:ea typeface="Calibri" pitchFamily="34" charset="-122"/>
                <a:cs typeface="Calibri" pitchFamily="34" charset="-120"/>
              </a:rPr>
              <a:t>Registro de validación y demostración funcional con el cliente.</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685800" y="566928"/>
            <a:ext cx="1051560" cy="475488"/>
          </a:xfrm>
          <a:prstGeom prst="roundRect">
            <a:avLst>
              <a:gd name="adj" fmla="val 19231"/>
            </a:avLst>
          </a:prstGeom>
          <a:solidFill>
            <a:srgbClr val="101828"/>
          </a:solidFill>
          <a:ln/>
        </p:spPr>
      </p:sp>
      <p:sp>
        <p:nvSpPr>
          <p:cNvPr id="3" name="Text 1"/>
          <p:cNvSpPr txBox="1"/>
          <p:nvPr/>
        </p:nvSpPr>
        <p:spPr>
          <a:xfrm>
            <a:off x="685800" y="566928"/>
            <a:ext cx="1051560" cy="475488"/>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ANEXO</a:t>
            </a:r>
            <a:endParaRPr lang="en-US" sz="1150" dirty="0"/>
          </a:p>
        </p:txBody>
      </p:sp>
      <p:sp>
        <p:nvSpPr>
          <p:cNvPr id="4" name="Text 2"/>
          <p:cNvSpPr txBox="1"/>
          <p:nvPr/>
        </p:nvSpPr>
        <p:spPr>
          <a:xfrm>
            <a:off x="1965960" y="502920"/>
            <a:ext cx="9537192" cy="475488"/>
          </a:xfrm>
          <a:prstGeom prst="rect">
            <a:avLst/>
          </a:prstGeom>
          <a:noFill/>
          <a:ln/>
        </p:spPr>
        <p:txBody>
          <a:bodyPr wrap="square" lIns="0" tIns="0" rIns="0" bIns="0" rtlCol="0" anchor="ctr"/>
          <a:lstStyle/>
          <a:p>
            <a:pPr indent="0" marL="0">
              <a:buNone/>
            </a:pPr>
            <a:r>
              <a:rPr lang="en-US" sz="3100" b="1" dirty="0">
                <a:solidFill>
                  <a:srgbClr val="101828"/>
                </a:solidFill>
                <a:latin typeface="Arial" pitchFamily="34" charset="0"/>
                <a:ea typeface="Arial" pitchFamily="34" charset="-122"/>
                <a:cs typeface="Arial" pitchFamily="34" charset="-120"/>
              </a:rPr>
              <a:t>Preguntas previstas</a:t>
            </a:r>
            <a:endParaRPr lang="en-US" sz="3100" dirty="0"/>
          </a:p>
        </p:txBody>
      </p:sp>
      <p:sp>
        <p:nvSpPr>
          <p:cNvPr id="5" name="Text 3"/>
          <p:cNvSpPr txBox="1"/>
          <p:nvPr/>
        </p:nvSpPr>
        <p:spPr>
          <a:xfrm>
            <a:off x="1965960" y="996696"/>
            <a:ext cx="9537192" cy="329184"/>
          </a:xfrm>
          <a:prstGeom prst="rect">
            <a:avLst/>
          </a:prstGeom>
          <a:noFill/>
          <a:ln/>
        </p:spPr>
        <p:txBody>
          <a:bodyPr wrap="square" lIns="0" tIns="0" rIns="0" bIns="0" rtlCol="0" anchor="ctr"/>
          <a:lstStyle/>
          <a:p>
            <a:pPr indent="0" marL="0">
              <a:buNone/>
            </a:pPr>
            <a:r>
              <a:rPr lang="en-US" sz="1450" dirty="0">
                <a:solidFill>
                  <a:srgbClr val="667085"/>
                </a:solidFill>
                <a:latin typeface="Calibri" pitchFamily="34" charset="0"/>
                <a:ea typeface="Calibri" pitchFamily="34" charset="-122"/>
                <a:cs typeface="Calibri" pitchFamily="34" charset="-120"/>
              </a:rPr>
              <a:t>Respuestas preparadas para la ronda de la comisión</a:t>
            </a:r>
            <a:endParaRPr lang="en-US" sz="1450" dirty="0"/>
          </a:p>
        </p:txBody>
      </p:sp>
      <p:sp>
        <p:nvSpPr>
          <p:cNvPr id="6" name="Shape 4"/>
          <p:cNvSpPr/>
          <p:nvPr/>
        </p:nvSpPr>
        <p:spPr>
          <a:xfrm>
            <a:off x="685800" y="1828800"/>
            <a:ext cx="5271516" cy="1874520"/>
          </a:xfrm>
          <a:prstGeom prst="roundRect">
            <a:avLst>
              <a:gd name="adj" fmla="val 4878"/>
            </a:avLst>
          </a:prstGeom>
          <a:solidFill>
            <a:srgbClr val="F6F7F9"/>
          </a:solidFill>
          <a:ln/>
        </p:spPr>
      </p:sp>
      <p:sp>
        <p:nvSpPr>
          <p:cNvPr id="7" name="Text 5"/>
          <p:cNvSpPr txBox="1"/>
          <p:nvPr/>
        </p:nvSpPr>
        <p:spPr>
          <a:xfrm>
            <a:off x="1097280" y="2103120"/>
            <a:ext cx="4448556" cy="384048"/>
          </a:xfrm>
          <a:prstGeom prst="rect">
            <a:avLst/>
          </a:prstGeom>
          <a:noFill/>
          <a:ln/>
        </p:spPr>
        <p:txBody>
          <a:bodyPr wrap="square" lIns="0" tIns="0" rIns="0" bIns="0" rtlCol="0" anchor="ctr"/>
          <a:lstStyle/>
          <a:p>
            <a:pPr indent="0" marL="0">
              <a:buNone/>
            </a:pPr>
            <a:r>
              <a:rPr lang="en-US" sz="1600" b="1" dirty="0">
                <a:solidFill>
                  <a:srgbClr val="101828"/>
                </a:solidFill>
                <a:latin typeface="Arial" pitchFamily="34" charset="0"/>
                <a:ea typeface="Arial" pitchFamily="34" charset="-122"/>
                <a:cs typeface="Arial" pitchFamily="34" charset="-120"/>
              </a:rPr>
              <a:t>¿Por qué relacional y no NoSQL?</a:t>
            </a:r>
            <a:endParaRPr lang="en-US" sz="1600" dirty="0"/>
          </a:p>
        </p:txBody>
      </p:sp>
      <p:sp>
        <p:nvSpPr>
          <p:cNvPr id="8" name="Text 6"/>
          <p:cNvSpPr txBox="1"/>
          <p:nvPr/>
        </p:nvSpPr>
        <p:spPr>
          <a:xfrm>
            <a:off x="1097280" y="2560320"/>
            <a:ext cx="4448556" cy="914400"/>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El dominio es jerárquico: locación, sector y pantalla. MariaDB aporta integridad referencial y transacciones para validar solapamientos horarios.</a:t>
            </a:r>
            <a:endParaRPr lang="en-US" sz="1450" dirty="0"/>
          </a:p>
        </p:txBody>
      </p:sp>
      <p:sp>
        <p:nvSpPr>
          <p:cNvPr id="9" name="Shape 7"/>
          <p:cNvSpPr/>
          <p:nvPr/>
        </p:nvSpPr>
        <p:spPr>
          <a:xfrm>
            <a:off x="6231636" y="1828800"/>
            <a:ext cx="5271516" cy="1874520"/>
          </a:xfrm>
          <a:prstGeom prst="roundRect">
            <a:avLst>
              <a:gd name="adj" fmla="val 4878"/>
            </a:avLst>
          </a:prstGeom>
          <a:solidFill>
            <a:srgbClr val="F6F7F9"/>
          </a:solidFill>
          <a:ln/>
        </p:spPr>
      </p:sp>
      <p:sp>
        <p:nvSpPr>
          <p:cNvPr id="10" name="Text 8"/>
          <p:cNvSpPr txBox="1"/>
          <p:nvPr/>
        </p:nvSpPr>
        <p:spPr>
          <a:xfrm>
            <a:off x="6643116" y="2103120"/>
            <a:ext cx="4448556" cy="384048"/>
          </a:xfrm>
          <a:prstGeom prst="rect">
            <a:avLst/>
          </a:prstGeom>
          <a:noFill/>
          <a:ln/>
        </p:spPr>
        <p:txBody>
          <a:bodyPr wrap="square" lIns="0" tIns="0" rIns="0" bIns="0" rtlCol="0" anchor="ctr"/>
          <a:lstStyle/>
          <a:p>
            <a:pPr indent="0" marL="0">
              <a:buNone/>
            </a:pPr>
            <a:r>
              <a:rPr lang="en-US" sz="1600" b="1" dirty="0">
                <a:solidFill>
                  <a:srgbClr val="101828"/>
                </a:solidFill>
                <a:latin typeface="Arial" pitchFamily="34" charset="0"/>
                <a:ea typeface="Arial" pitchFamily="34" charset="-122"/>
                <a:cs typeface="Arial" pitchFamily="34" charset="-120"/>
              </a:rPr>
              <a:t>¿Qué pasa si se cae internet?</a:t>
            </a:r>
            <a:endParaRPr lang="en-US" sz="1600" dirty="0"/>
          </a:p>
        </p:txBody>
      </p:sp>
      <p:sp>
        <p:nvSpPr>
          <p:cNvPr id="11" name="Text 9"/>
          <p:cNvSpPr txBox="1"/>
          <p:nvPr/>
        </p:nvSpPr>
        <p:spPr>
          <a:xfrm>
            <a:off x="6643116" y="2560320"/>
            <a:ext cx="4448556" cy="914400"/>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El Player reproduce desde su caché local con la programación y los archivos ya descargados. Nunca hace streaming directo.</a:t>
            </a:r>
            <a:endParaRPr lang="en-US" sz="1450" dirty="0"/>
          </a:p>
        </p:txBody>
      </p:sp>
      <p:sp>
        <p:nvSpPr>
          <p:cNvPr id="12" name="Shape 10"/>
          <p:cNvSpPr/>
          <p:nvPr/>
        </p:nvSpPr>
        <p:spPr>
          <a:xfrm>
            <a:off x="685800" y="3886200"/>
            <a:ext cx="5271516" cy="1874520"/>
          </a:xfrm>
          <a:prstGeom prst="roundRect">
            <a:avLst>
              <a:gd name="adj" fmla="val 4878"/>
            </a:avLst>
          </a:prstGeom>
          <a:solidFill>
            <a:srgbClr val="F6F7F9"/>
          </a:solidFill>
          <a:ln/>
        </p:spPr>
      </p:sp>
      <p:sp>
        <p:nvSpPr>
          <p:cNvPr id="13" name="Text 11"/>
          <p:cNvSpPr txBox="1"/>
          <p:nvPr/>
        </p:nvSpPr>
        <p:spPr>
          <a:xfrm>
            <a:off x="1097280" y="4160520"/>
            <a:ext cx="4448556" cy="384048"/>
          </a:xfrm>
          <a:prstGeom prst="rect">
            <a:avLst/>
          </a:prstGeom>
          <a:noFill/>
          <a:ln/>
        </p:spPr>
        <p:txBody>
          <a:bodyPr wrap="square" lIns="0" tIns="0" rIns="0" bIns="0" rtlCol="0" anchor="ctr"/>
          <a:lstStyle/>
          <a:p>
            <a:pPr indent="0" marL="0">
              <a:buNone/>
            </a:pPr>
            <a:r>
              <a:rPr lang="en-US" sz="1600" b="1" dirty="0">
                <a:solidFill>
                  <a:srgbClr val="101828"/>
                </a:solidFill>
                <a:latin typeface="Arial" pitchFamily="34" charset="0"/>
                <a:ea typeface="Arial" pitchFamily="34" charset="-122"/>
                <a:cs typeface="Arial" pitchFamily="34" charset="-120"/>
              </a:rPr>
              <a:t>¿Cómo aseguran terminar en 18 semanas?</a:t>
            </a:r>
            <a:endParaRPr lang="en-US" sz="1600" dirty="0"/>
          </a:p>
        </p:txBody>
      </p:sp>
      <p:sp>
        <p:nvSpPr>
          <p:cNvPr id="14" name="Text 12"/>
          <p:cNvSpPr txBox="1"/>
          <p:nvPr/>
        </p:nvSpPr>
        <p:spPr>
          <a:xfrm>
            <a:off x="1097280" y="4617720"/>
            <a:ext cx="4448556" cy="914400"/>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El alcance está delimitado a distribución y programación; se excluye la edición audiovisual. El Hito 2 en S10 valida el núcleo.</a:t>
            </a:r>
            <a:endParaRPr lang="en-US" sz="1450" dirty="0"/>
          </a:p>
        </p:txBody>
      </p:sp>
      <p:sp>
        <p:nvSpPr>
          <p:cNvPr id="15" name="Shape 13"/>
          <p:cNvSpPr/>
          <p:nvPr/>
        </p:nvSpPr>
        <p:spPr>
          <a:xfrm>
            <a:off x="6231636" y="3886200"/>
            <a:ext cx="5271516" cy="1874520"/>
          </a:xfrm>
          <a:prstGeom prst="roundRect">
            <a:avLst>
              <a:gd name="adj" fmla="val 4878"/>
            </a:avLst>
          </a:prstGeom>
          <a:solidFill>
            <a:srgbClr val="F6F7F9"/>
          </a:solidFill>
          <a:ln/>
        </p:spPr>
      </p:sp>
      <p:sp>
        <p:nvSpPr>
          <p:cNvPr id="16" name="Text 14"/>
          <p:cNvSpPr txBox="1"/>
          <p:nvPr/>
        </p:nvSpPr>
        <p:spPr>
          <a:xfrm>
            <a:off x="6643116" y="4160520"/>
            <a:ext cx="4448556" cy="384048"/>
          </a:xfrm>
          <a:prstGeom prst="rect">
            <a:avLst/>
          </a:prstGeom>
          <a:noFill/>
          <a:ln/>
        </p:spPr>
        <p:txBody>
          <a:bodyPr wrap="square" lIns="0" tIns="0" rIns="0" bIns="0" rtlCol="0" anchor="ctr"/>
          <a:lstStyle/>
          <a:p>
            <a:pPr indent="0" marL="0">
              <a:buNone/>
            </a:pPr>
            <a:r>
              <a:rPr lang="en-US" sz="1600" b="1" dirty="0">
                <a:solidFill>
                  <a:srgbClr val="101828"/>
                </a:solidFill>
                <a:latin typeface="Arial" pitchFamily="34" charset="0"/>
                <a:ea typeface="Arial" pitchFamily="34" charset="-122"/>
                <a:cs typeface="Arial" pitchFamily="34" charset="-120"/>
              </a:rPr>
              <a:t>¿Cómo garantizan aporte equitativo?</a:t>
            </a:r>
            <a:endParaRPr lang="en-US" sz="1600" dirty="0"/>
          </a:p>
        </p:txBody>
      </p:sp>
      <p:sp>
        <p:nvSpPr>
          <p:cNvPr id="17" name="Text 15"/>
          <p:cNvSpPr txBox="1"/>
          <p:nvPr/>
        </p:nvSpPr>
        <p:spPr>
          <a:xfrm>
            <a:off x="6643116" y="4617720"/>
            <a:ext cx="4448556" cy="914400"/>
          </a:xfrm>
          <a:prstGeom prst="rect">
            <a:avLst/>
          </a:prstGeom>
          <a:noFill/>
          <a:ln/>
        </p:spPr>
        <p:txBody>
          <a:bodyPr wrap="square" lIns="0" tIns="0" rIns="0" bIns="0" rtlCol="0" anchor="t"/>
          <a:lstStyle/>
          <a:p>
            <a:pPr indent="0" marL="0">
              <a:lnSpc>
                <a:spcPct val="112000"/>
              </a:lnSpc>
              <a:buNone/>
            </a:pPr>
            <a:r>
              <a:rPr lang="en-US" sz="1450" dirty="0">
                <a:solidFill>
                  <a:srgbClr val="475467"/>
                </a:solidFill>
                <a:latin typeface="Calibri" pitchFamily="34" charset="0"/>
                <a:ea typeface="Calibri" pitchFamily="34" charset="-122"/>
                <a:cs typeface="Calibri" pitchFamily="34" charset="-120"/>
              </a:rPr>
              <a:t>Roles por dominio técnico complementario, tareas asignadas en Obsidian y trazabilidad de commits y revisiones en GitHub.</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ACE - Defensa Fase 1</dc:title>
  <dc:subject>PptxGenJS Presentation</dc:subject>
  <dc:creator>Tomas Escalante, Matias Salas, Paulo Loyola</dc:creator>
  <cp:lastModifiedBy>Tomas Escalante, Matias Salas, Paulo Loyola</cp:lastModifiedBy>
  <cp:revision>1</cp:revision>
  <dcterms:created xsi:type="dcterms:W3CDTF">2026-09-04T09:31:33Z</dcterms:created>
  <dcterms:modified xsi:type="dcterms:W3CDTF">2026-09-04T09:31:33Z</dcterms:modified>
</cp:coreProperties>
</file>