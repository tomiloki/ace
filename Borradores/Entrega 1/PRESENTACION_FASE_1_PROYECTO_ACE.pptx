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67" r:id="rId19"/>
    <p:sldId id="257" r:id="rId9"/>
    <p:sldId id="258" r:id="rId10"/>
    <p:sldId id="259" r:id="rId11"/>
    <p:sldId id="260" r:id="rId12"/>
    <p:sldId id="261" r:id="rId13"/>
    <p:sldId id="262" r:id="rId14"/>
    <p:sldId id="268" r:id="rId20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2.xml"/><Relationship Id="rId20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Tomás Escalante (Inicio del Bloque 1 - 00:00 a 05:00)</a:t>
            </a:r>
          </a:p>
          <a:p>
            <a:r>
              <a:t>Discurso sugerido: 'Buenos días profesor(a) y compañeros. Hoy presentamos ACE (Autonomous Content Engine), un proyecto de ingeniería de software desarrollado para dar respuesta a una necesidad operativa real de la empresa Lumina Motion Studio.'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Tomás Escalante</a:t>
            </a:r>
          </a:p>
          <a:p>
            <a:r>
              <a:t>Términos clave a destacar: Cartelería digital distribuida, fragmentación operativa, software propietario sin interoperabilidad, vulnerabilidad ante indisponibilidad de enlace WAN.</a:t>
            </a:r>
          </a:p>
          <a:p>
            <a:r>
              <a:t>Foco: Explicar cómo la dependencia de pendrives y licencias de terceros genera sobrecostos y riesgos severos de pantallas en negro ante el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Tomás Escalante</a:t>
            </a:r>
          </a:p>
          <a:p>
            <a:r>
              <a:t>Términos técnicos: Arquitectura cliente-servidor desacoplada, backend API RESTful en PHP/Laravel, servidor de eventos WebSockets, agente reproductor local con caché preventivo y resiliencia offline.</a:t>
            </a:r>
          </a:p>
          <a:p>
            <a:r>
              <a:t>Foco: Demostrar cómo se desacopla la gestión en la nube de la ejecución local para garantizar tolerancia total a fallos.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Matías Salas (Inicio del Bloque 2 - 05:00 a 10:00)</a:t>
            </a:r>
          </a:p>
          <a:p>
            <a:r>
              <a:t>Discurso sugerido: 'Para articular esta solución, definimos un objetivo general medible y 5 objetivos específicos que guían cada hito de desarrollo desde el modelamiento hasta la validación en terreno.'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Matías Salas</a:t>
            </a:r>
          </a:p>
          <a:p>
            <a:r>
              <a:t>Términos técnicos: Marco de trabajo ágil Scrum, Sprints bisemanales, Product Backlog priorizado con Lumina Motion, integración continua en GitHub con Pull Requests cruzados.</a:t>
            </a:r>
          </a:p>
          <a:p>
            <a:r>
              <a:t>Foco: Demostrar organización profesional del equipo y trazabilidad objetiva del 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Matías Salas</a:t>
            </a:r>
          </a:p>
          <a:p>
            <a:r>
              <a:t>Términos técnicos: Interlocución técnica directa con Cristóbal Manzo (Jefe TI Lumina Motion), matriz de riesgos y mitigación (emuladores de hardware, validación de integridad SHA-256).</a:t>
            </a:r>
          </a:p>
          <a:p>
            <a:r>
              <a:t>Foco: Demostrar que el proyecto es 100% factible, con cliente real y planes de contingencia para cada obstáculo.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Paulo Loyola (Inicio del Bloque 3 - 10:00 a 15:00)</a:t>
            </a:r>
          </a:p>
          <a:p>
            <a:r>
              <a:t>Términos técnicos: Modelo de datos normalizado en 3FN en MariaDB, integridad referencial con llaves foráneas, transacciones ACID, interfaz de usuario responsiva en Blade/UI, gestión visual de pautas horarias.</a:t>
            </a:r>
          </a:p>
          <a:p>
            <a:r>
              <a:t>Foco: Explicar cómo se estructura la jerarquía Sitio -&gt; Sector -&gt; Pantalla y la asignación de Medios a Playlists y Programaciones.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Paulo Loyola</a:t>
            </a:r>
          </a:p>
          <a:p>
            <a:r>
              <a:t>Términos técnicos: Ruta crítica, hitos evaluativos S4 (Definición), S10 (Avance funcional), S15 (Entrega final), S17-18 (Defensa).</a:t>
            </a:r>
          </a:p>
          <a:p>
            <a:r>
              <a:t>Foco: Demostrar control riguroso de los tiempos y alineación perfecta entre el desarrollo técnico y el calendario de Duoc 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Expositor: Paulo Loyola</a:t>
            </a:r>
          </a:p>
          <a:p>
            <a:r>
              <a:t>Términos técnicos: Actas de validación UAT, especificación OpenAPI/Swagger, trazabilidad de código en GitHub, video de prueba de desconexión offline.</a:t>
            </a:r>
          </a:p>
          <a:p>
            <a:r>
              <a:t>Discurso de cierre: 'Con ACE no solo resolvemos un problema logístico de Lumina Motion, sino que demostramos la integración transversal de las competencias de nuestro perfil de egreso en Duoc UC. Quedamos atentos a sus preguntas.'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el equipo debe dominar fluidamente estos 5 términos para asegurar los 10 puntos del Indicador 11 de evaluación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Respuestas preparadas para la ronda de preguntas individuales y grupales de la comisión evaluadora.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3716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Arial"/>
              </a:defRPr>
            </a:pPr>
            <a:r>
              <a:t>ACE: Autonomous Content Engine</a:t>
            </a:r>
          </a:p>
          <a:p>
            <a:pPr>
              <a:spcBef>
                <a:spcPts val="800"/>
              </a:spcBef>
              <a:defRPr sz="1800">
                <a:solidFill>
                  <a:srgbClr val="93C5FD"/>
                </a:solidFill>
                <a:latin typeface="Arial"/>
              </a:defRPr>
            </a:pPr>
            <a:r>
              <a:t>Plataforma Centralizada de Gestión de Cartelería Digital con Resiliencia Offline</a:t>
            </a:r>
          </a:p>
          <a:p>
            <a:pPr>
              <a:spcBef>
                <a:spcPts val="6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Defensa de Proyecto APT — Fase 1 | PTY4614 Capstone | Duoc UC Sede Antonio Varas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3840480"/>
            <a:ext cx="32004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Tomás Escalante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60A5FA"/>
                </a:solidFill>
                <a:latin typeface="Arial"/>
              </a:defRPr>
            </a:pPr>
            <a:r>
              <a:t>Arquitectura, Backend &amp; Base de Datos</a:t>
            </a:r>
          </a:p>
          <a:p>
            <a:pPr>
              <a:defRPr sz="1050">
                <a:solidFill>
                  <a:srgbClr val="CBD5E1"/>
                </a:solidFill>
                <a:latin typeface="Arial"/>
              </a:defRPr>
            </a:pPr>
            <a:r>
              <a:t>Lógica Laravel, WebSockets, Modelado ER y Resiliencia de 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0" y="3840480"/>
            <a:ext cx="32004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Matías Salas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60A5FA"/>
                </a:solidFill>
                <a:latin typeface="Arial"/>
              </a:defRPr>
            </a:pPr>
            <a:r>
              <a:t>Gestión Ágil, Base de Datos &amp; Cliente</a:t>
            </a:r>
          </a:p>
          <a:p>
            <a:pPr>
              <a:defRPr sz="1050">
                <a:solidFill>
                  <a:srgbClr val="CBD5E1"/>
                </a:solidFill>
                <a:latin typeface="Arial"/>
              </a:defRPr>
            </a:pPr>
            <a:r>
              <a:t>Vinculación Lumina Motion, Migraciones MariaDB, Gestión Scrum y UAT.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19" y="3840480"/>
            <a:ext cx="3200400" cy="219456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Paulo Loyola</a:t>
            </a:r>
          </a:p>
          <a:p>
            <a:pPr>
              <a:spcBef>
                <a:spcPts val="300"/>
              </a:spcBef>
              <a:spcAft>
                <a:spcPts val="600"/>
              </a:spcAft>
              <a:defRPr sz="1200" b="1">
                <a:solidFill>
                  <a:srgbClr val="60A5FA"/>
                </a:solidFill>
                <a:latin typeface="Arial"/>
              </a:defRPr>
            </a:pPr>
            <a:r>
              <a:t>Frontend, Base de Datos &amp; Documentación</a:t>
            </a:r>
          </a:p>
          <a:p>
            <a:pPr>
              <a:defRPr sz="1050">
                <a:solidFill>
                  <a:srgbClr val="CBD5E1"/>
                </a:solidFill>
                <a:latin typeface="Arial"/>
              </a:defRPr>
            </a:pPr>
            <a:r>
              <a:t>Interfaces Blade/UI, Consultas/Migraciones MariaDB, Estandarización documental.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5912" cy="457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3366"/>
                </a:solidFill>
              </a:defRPr>
            </a:pPr>
            <a:r>
              <a:t>Estructura de la Defensa y Agenda</a:t>
            </a:r>
          </a:p>
          <a:p>
            <a:pPr>
              <a:defRPr sz="1300">
                <a:solidFill>
                  <a:srgbClr val="646464"/>
                </a:solidFill>
              </a:defRPr>
            </a:pPr>
            <a:r>
              <a:t>Hoja de Ruta de la Exposición Fase 1 — Proyecto ACE (PTY4614)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0552" cy="411480"/>
          </a:xfrm>
          <a:prstGeom prst="roundRect">
            <a:avLst/>
          </a:prstGeom>
          <a:solidFill>
            <a:srgbClr val="F0F3F6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3366"/>
                </a:solidFill>
              </a:defRPr>
            </a:pPr>
            <a:r>
              <a:t>Todo 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03366"/>
                </a:solidFill>
              </a:defRPr>
            </a:pPr>
            <a:r>
              <a:t>Bloque I: Fundamentación y Estrategia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I. Contexto y Diagnóstico del Negocio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Problemática de Lumina Motion: pendrives, licencias externas y caídas WAN.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II. Solución y Arquitectura Desacoplada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Estructura Cliente-Servidor Cache-First y resiliencia offline ante cortes.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III. Formulación de Objetivos de Ingeniería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Meta General y 6 Objetivos Específicos alineados a la industria.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IV. Metodología Ágil y Roles Disciplinares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Scrum adaptado, flujos de integración en GitHub y corresponsabilidad técnica.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03366"/>
                </a:solidFill>
              </a:defRPr>
            </a:pPr>
            <a:r>
              <a:t>Bloque II: Planificación e Ingeniería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V. Factibilidad, Matriz de Riesgos y Seguridad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Viabilidad en 18 semanas, mitigaciones, JWT y validación SHA-256.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VI. Modelo de Datos y Prototipos UI/UX (Mockups)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Esquema MariaDB 3FN, roles de acceso y wireframes de interfaces Figma.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VII. Plan de Trabajo y Carta Gantt Detallada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Desglose de 22 actividades de ingeniería e hitos evaluativos Duoc.</a:t>
            </a:r>
          </a:p>
          <a:p>
            <a:pPr>
              <a:defRPr b="1" sz="1150">
                <a:solidFill>
                  <a:srgbClr val="141E2D"/>
                </a:solidFill>
              </a:defRPr>
            </a:pPr>
            <a:r>
              <a:t>• VIII. Evidencias, Glosario Técnico y Defensa</a:t>
            </a:r>
          </a:p>
          <a:p>
            <a:pPr>
              <a:defRPr sz="1000">
                <a:solidFill>
                  <a:srgbClr val="5A646E"/>
                </a:solidFill>
              </a:defRPr>
            </a:pPr>
            <a:r>
              <a:t>   Acreditación del perfil de egreso y preparación rigurosa de preguntas.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El Dolor del Negocio: Lumina Motion Studio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Diagnóstico Operativo de la Infraestructura de Cartelería 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Tomás Escalante | Bloque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1. Operativa Fragmentada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Actualización manual: </a:t>
            </a:r>
            <a:r>
              <a:rPr>
                <a:solidFill>
                  <a:srgbClr val="334155"/>
                </a:solidFill>
              </a:rPr>
              <a:t>Gran parte del parque de pantallas se actualiza físicamente vía pendrives USB in situ.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Costos logísticos: </a:t>
            </a:r>
            <a:r>
              <a:rPr>
                <a:solidFill>
                  <a:srgbClr val="334155"/>
                </a:solidFill>
              </a:rPr>
              <a:t>Traslados continuos de técnicos ante cambios de pauta publicitaria en recintos comerciales.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Tiempo de respuesta lento: </a:t>
            </a:r>
            <a:r>
              <a:rPr>
                <a:solidFill>
                  <a:srgbClr val="334155"/>
                </a:solidFill>
              </a:rPr>
              <a:t>Horas o días para actualizar un anuncio comercial en múltiples sedes.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2. Licenciamiento Propietario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Herramientas dispares: </a:t>
            </a:r>
            <a:r>
              <a:rPr>
                <a:solidFill>
                  <a:srgbClr val="334155"/>
                </a:solidFill>
              </a:rPr>
              <a:t>Uso fragmentado de software comercial (MadMapper, Arena.im) sin integración entre sí.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Sin panel central: </a:t>
            </a:r>
            <a:r>
              <a:rPr>
                <a:solidFill>
                  <a:srgbClr val="334155"/>
                </a:solidFill>
              </a:rPr>
              <a:t>Imposibilidad de gestionar un catálogo unificado de medios y pantallas por sectores.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Costos recurrentes: </a:t>
            </a:r>
            <a:r>
              <a:rPr>
                <a:solidFill>
                  <a:srgbClr val="334155"/>
                </a:solidFill>
              </a:rPr>
              <a:t>Alto gasto en licencias externas que no resuelven la automatización de horarios.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69164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3. Falla Crítica de Red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Vulnerabilidad WAN: </a:t>
            </a:r>
            <a:r>
              <a:rPr>
                <a:solidFill>
                  <a:srgbClr val="334155"/>
                </a:solidFill>
              </a:rPr>
              <a:t>La conectividad a internet en recintos masivos (malls, eventos) es inestable y propensa a caídas.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de pantalla en negro: </a:t>
            </a:r>
            <a:r>
              <a:rPr>
                <a:solidFill>
                  <a:srgbClr val="334155"/>
                </a:solidFill>
              </a:rPr>
              <a:t>Soluciones basadas en streaming colapsan ante interrupciones de red.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Penalizaciones comerciales: </a:t>
            </a:r>
            <a:r>
              <a:rPr>
                <a:solidFill>
                  <a:srgbClr val="334155"/>
                </a:solidFill>
              </a:rPr>
              <a:t>Pérdida de ingresos y sanciones contractuales por indisponibilidad de anuncios.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691640"/>
            <a:ext cx="329184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La Solución ACE y Arquitectura Híbrida Desacoplada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Estructura Cliente-Servidor con Enfoque Cache-First y Fail-Safe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Tomás Escalante | Bloque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Servidor Central (Cloud)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Backend Robusto: </a:t>
            </a:r>
            <a:r>
              <a:rPr>
                <a:solidFill>
                  <a:srgbClr val="334155"/>
                </a:solidFill>
              </a:rPr>
              <a:t>Desarrollado en PHP 8.2+ con Laravel 11 y arquitectura MVC / API RESTful.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Persistencia Relacional: </a:t>
            </a:r>
            <a:r>
              <a:rPr>
                <a:solidFill>
                  <a:srgbClr val="334155"/>
                </a:solidFill>
              </a:rPr>
              <a:t>MariaDB normalizada en 3FN con transacciones ACID para evitar colisiones horarias.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Catálogo Multimedia: </a:t>
            </a:r>
            <a:r>
              <a:rPr>
                <a:solidFill>
                  <a:srgbClr val="334155"/>
                </a:solidFill>
              </a:rPr>
              <a:t>Cálculo automático de hash SHA-256 para verificación criptográfica de archivos.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Gestión de Pautas: Asignación jerárquica de listas de reproducción por Locación, Sector y Pantalla (roles Admin y Operador).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Canal de Sincronización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Protocolo Dual: </a:t>
            </a:r>
            <a:r>
              <a:rPr>
                <a:solidFill>
                  <a:srgbClr val="334155"/>
                </a:solidFill>
              </a:rPr>
              <a:t>REST HTTP para CRUD administrativo + WebSockets para tiempo real.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Telemetría en Vivo: </a:t>
            </a:r>
            <a:r>
              <a:rPr>
                <a:solidFill>
                  <a:srgbClr val="334155"/>
                </a:solidFill>
              </a:rPr>
              <a:t>Latidos periódicos (Heartbeats) para monitoreo de salud de pantallas.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Comandos Inmediatos: </a:t>
            </a:r>
            <a:r>
              <a:rPr>
                <a:solidFill>
                  <a:srgbClr val="334155"/>
                </a:solidFill>
              </a:rPr>
              <a:t>Publicación instantánea de cambios de parrilla a reproductores conectados.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Fallback Automático: </a:t>
            </a:r>
            <a:r>
              <a:rPr>
                <a:solidFill>
                  <a:srgbClr val="334155"/>
                </a:solidFill>
              </a:rPr>
              <a:t>Sondeo HTTP periódico si los puertos de sockets están bloqueados por firewall.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691640"/>
            <a:ext cx="32918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Nodo Reproductor Local (NUC)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Arquitectura Cache-First en NUCs: Descarga preventiva de videos al almacenamiento local; sin streaming.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Resiliencia Offline Total: </a:t>
            </a:r>
            <a:r>
              <a:rPr>
                <a:solidFill>
                  <a:srgbClr val="334155"/>
                </a:solidFill>
              </a:rPr>
              <a:t>Si se cae internet, la reproducción continúa de forma indefinida y autónoma.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Integridad SHA-256: </a:t>
            </a:r>
            <a:r>
              <a:rPr>
                <a:solidFill>
                  <a:srgbClr val="334155"/>
                </a:solidFill>
              </a:rPr>
              <a:t>Comprobación estricta de integridad antes de marcar un archivo como listo.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Modificación Local sin Internet: Panel local en el nodo reproductor NUC para conmutación manual presencial ante contingencias.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69164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Objetivos del Proyecto ACE (PTY4614)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Meta General y 6 Objetivos Específicos Alineados al Perfil de Egreso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Matías Salas | Bloque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28655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Objetivo General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Meta Principal: Desarrollar una plataforma de gestión de cartelería digital para Lumina Motion que permita administrar centralizada y remotamente pantallas, contenidos y programación en locaciones fijas, manteniendo la reproducción y permitiendo cambios locales sin internet.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00200"/>
            <a:ext cx="1063721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521208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Objetivos Específicos (Gestión y Programación)</a:t>
            </a:r>
          </a:p>
          <a:p>
            <a:pPr>
              <a:defRPr sz="1100"/>
            </a:pPr>
            <a:r>
              <a:t>OE1 (Administración y Permisos por Locación): Implementar la gestión remota de locaciones, sectores y pantallas, con acceso diferenciado (Admin y Operador por locación).</a:t>
            </a:r>
          </a:p>
          <a:p>
            <a:pPr>
              <a:defRPr sz="1100"/>
            </a:pPr>
            <a:r>
              <a:t>OE2 (Gestión de Contenidos y Playlists): Desarrollar gestión de medios y listas reutilizables con orden, tiempos de exhibición y acceso autorizado.</a:t>
            </a:r>
          </a:p>
          <a:p>
            <a:pPr>
              <a:defRPr sz="1100"/>
            </a:pPr>
            <a:r>
              <a:t>OE3 (Programación Horaria Segmentada): Implementar programación por fechas y horarios con asignación a pantallas o sectores.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24612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3200400"/>
            <a:ext cx="5212080" cy="3108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1E3A8A"/>
                </a:solidFill>
                <a:latin typeface="Arial"/>
              </a:defRPr>
            </a:pPr>
            <a:r>
              <a:t>Objetivos Específicos (Resiliencia, Telemetría y QA)</a:t>
            </a:r>
          </a:p>
          <a:p>
            <a:pPr>
              <a:defRPr sz="1100"/>
            </a:pPr>
            <a:r>
              <a:t>OE4 (Resiliencia y Edición Offline): Habilitar reproducción autónoma y modificación local de contenido y programación sin internet (con archivos en locación).</a:t>
            </a:r>
          </a:p>
          <a:p>
            <a:pPr>
              <a:defRPr sz="1100"/>
            </a:pPr>
            <a:r>
              <a:t>OE5 (Telemetría de Conectividad NUC): Incorporar consulta del estado básico de conectividad de los NUC y su última comunicación.</a:t>
            </a:r>
          </a:p>
          <a:p>
            <a:pPr>
              <a:defRPr sz="1100"/>
            </a:pPr>
            <a:r>
              <a:t>OE6 (Validación con Cliente y QA): Validar el sistema en entorno de pruebas con Lumina Motion (gestión remota, permisos y pruebas online/offline).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324612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Metodología de Trabajo y Roles Disciplinares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Marco Ágil Scrum Adaptado con Integración Continua y Trazabilidad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Matías Salas | Bloque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Ciclo Ágil Scrum Adaptado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Sprints Bisemanales: </a:t>
            </a:r>
            <a:r>
              <a:rPr>
                <a:solidFill>
                  <a:srgbClr val="334155"/>
                </a:solidFill>
              </a:rPr>
              <a:t>Ciclos de 2 semanas con entregables funcionales e incrementales.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Product Backlog: </a:t>
            </a:r>
            <a:r>
              <a:rPr>
                <a:solidFill>
                  <a:srgbClr val="334155"/>
                </a:solidFill>
              </a:rPr>
              <a:t>Priorizado según los dolores de Lumina Motion y los hitos Duoc UC.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Reuniones de Equipo: </a:t>
            </a:r>
            <a:r>
              <a:rPr>
                <a:solidFill>
                  <a:srgbClr val="334155"/>
                </a:solidFill>
              </a:rPr>
              <a:t>Sincronización semanal presencial y virtual para remover impedimentos.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Demo con Cliente: </a:t>
            </a:r>
            <a:r>
              <a:rPr>
                <a:solidFill>
                  <a:srgbClr val="334155"/>
                </a:solidFill>
              </a:rPr>
              <a:t>Validación continua de incrementos con la contraparte técnica.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Control de Calidad en GitHub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Feature Branches: </a:t>
            </a:r>
            <a:r>
              <a:rPr>
                <a:solidFill>
                  <a:srgbClr val="334155"/>
                </a:solidFill>
              </a:rPr>
              <a:t>Desarrollo aislado de funcionalidades en ramas específicas.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Pull Requests Cruzados: </a:t>
            </a:r>
            <a:r>
              <a:rPr>
                <a:solidFill>
                  <a:srgbClr val="334155"/>
                </a:solidFill>
              </a:rPr>
              <a:t>Revisión obligatoria de código (Peer Review) antes de integrar a main.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Trazabilidad Total: </a:t>
            </a:r>
            <a:r>
              <a:rPr>
                <a:solidFill>
                  <a:srgbClr val="334155"/>
                </a:solidFill>
              </a:rPr>
              <a:t>Historial transparente de aportes individuales y commits auditables.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Estándar Documental: </a:t>
            </a:r>
            <a:r>
              <a:rPr>
                <a:solidFill>
                  <a:srgbClr val="334155"/>
                </a:solidFill>
              </a:rPr>
              <a:t>Control de cambios riguroso en Markdown y repositorios de entrega.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691640"/>
            <a:ext cx="32918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Especialización de Roles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Tomás Escalante: Arquitectura distribuida, backend API Laravel, WebSockets y modelado relacional.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Matías Salas: Gestión ágil Scrum, vinculación con Lumina, construcción de migraciones y pruebas UAT.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Paulo Loyola: Interfaces Blade/UI, paneles de programación, optimización MariaDB y estándar documental.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69164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Factibilidad, Matriz de Riesgos y Modelo Operacional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Viabilidad en 18 Semanas, Mitigación de Contingencias e Impacto en Lumina Motion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Matías Salas | Bloque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003366"/>
                </a:solidFill>
                <a:latin typeface="Arial"/>
              </a:defRPr>
            </a:pPr>
            <a:r>
              <a:t>Relación con Lumina y Modelo Operacional</a:t>
            </a:r>
          </a:p>
          <a:p>
            <a:pPr>
              <a:defRPr sz="1050"/>
            </a:pPr>
            <a:r>
              <a:t>• Interlocutor Clave: Cristóbal Manzo, Jefe de Informática en Lumina Motion Studio.</a:t>
            </a:r>
          </a:p>
          <a:p>
            <a:pPr>
              <a:defRPr sz="1050"/>
            </a:pPr>
            <a:r>
              <a:t>• Acceso y Validación: Reuniones periódicas de levantamiento funcional y pruebas UAT sobre pantallas reales.</a:t>
            </a:r>
          </a:p>
          <a:p>
            <a:pPr>
              <a:defRPr sz="1050"/>
            </a:pPr>
            <a:r>
              <a:t>• Modelo Internal Tooling: Software a medida para operación interna; sustituye licencias comerciales de MadMapper/Arena.im.</a:t>
            </a:r>
          </a:p>
          <a:p>
            <a:pPr>
              <a:defRPr sz="1050"/>
            </a:pPr>
            <a:r>
              <a:t>• Impacto Financiero: Reduce a cero los viáticos y traslados técnicos in situ para actualizaciones de anuncios por USB.</a:t>
            </a:r>
          </a:p>
          <a:p>
            <a:pPr>
              <a:defRPr sz="1050"/>
            </a:pPr>
            <a:r>
              <a:t>• Viabilidad 18 Semanas: Alcance estrictamente delimitado a distribución, programación y resiliencia (sin edición audiovisual).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Matriz de Riesgos y Mitigación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1: Pérdida de red en malls </a:t>
            </a:r>
            <a:r>
              <a:rPr>
                <a:solidFill>
                  <a:srgbClr val="334155"/>
                </a:solidFill>
              </a:rPr>
              <a:t>Mitigación: Caché local obligatorio (SQLite/local storage) y reproducción autónoma.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2: Formatos de video dispares </a:t>
            </a:r>
            <a:r>
              <a:rPr>
                <a:solidFill>
                  <a:srgbClr val="334155"/>
                </a:solidFill>
              </a:rPr>
              <a:t>Mitigación: Estandarización a MP4 H.264 y validación estricta de códecs al subir.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3: Falta de pantallas para pruebas </a:t>
            </a:r>
            <a:r>
              <a:rPr>
                <a:solidFill>
                  <a:srgbClr val="334155"/>
                </a:solidFill>
              </a:rPr>
              <a:t>Mitigación: Desarrollo de emulador web de pantalla que simula resolución y heartbeats.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Riesgo 4: Corrupción durante descarga </a:t>
            </a:r>
            <a:r>
              <a:rPr>
                <a:solidFill>
                  <a:srgbClr val="334155"/>
                </a:solidFill>
              </a:rPr>
              <a:t>Mitigación: Validación mandatoria de hash criptográfico SHA-256 antes de reproducir.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Modelo de Datos Relacional (MariaDB) y Frontend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Persistencia ACID, Estructura Jerárquica e Interfaz de Gestión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Paulo Loyola | Bloque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Arquitectura de Datos (MariaDB 3FN)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Jerarquía de Ubicación: Locación (ej. Mall Costanera) → Sectores (ej. Patio Comidas) → Pantallas individuales.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Entidades de Contenido: </a:t>
            </a:r>
            <a:r>
              <a:rPr>
                <a:solidFill>
                  <a:srgbClr val="334155"/>
                </a:solidFill>
              </a:rPr>
              <a:t>Catálogo de Medios con metadatos, peso, resolución y Checksum SHA-256.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Listas y Programación: </a:t>
            </a:r>
            <a:r>
              <a:rPr>
                <a:solidFill>
                  <a:srgbClr val="334155"/>
                </a:solidFill>
              </a:rPr>
              <a:t>Playlists secuenciales asociadas a Reglas Horarias (días, horas de inicio/fin).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Integridad y Transacciones: </a:t>
            </a:r>
            <a:r>
              <a:rPr>
                <a:solidFill>
                  <a:srgbClr val="334155"/>
                </a:solidFill>
              </a:rPr>
              <a:t>Normalización 3FN con llaves foráneas estrictas y operaciones ACID que previenen solapamientos.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Roles y Permisos: Tabla usuarios_locaciones para restringir operadores a locaciones asignadas. Administrador con acceso global.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Frontend y Experiencia de Usuario (UI/UX)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Vistas Administrativas: </a:t>
            </a:r>
            <a:r>
              <a:rPr>
                <a:solidFill>
                  <a:srgbClr val="334155"/>
                </a:solidFill>
              </a:rPr>
              <a:t>Desarrolladas con Blade, HTML5/CSS3 y JavaScript responsivo.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Gestor de Pautas Visual: </a:t>
            </a:r>
            <a:r>
              <a:rPr>
                <a:solidFill>
                  <a:srgbClr val="334155"/>
                </a:solidFill>
              </a:rPr>
              <a:t>Visualización gráfica de parrillas horarias para evitar conflictos de programación.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Monitoreo de Telemetría: </a:t>
            </a:r>
            <a:r>
              <a:rPr>
                <a:solidFill>
                  <a:srgbClr val="334155"/>
                </a:solidFill>
              </a:rPr>
              <a:t>Panel de estado de pantallas en vivo con semáforo de conectividad (Online/Offline).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Modificación Local sin Internet: Panel embebido en nodo NUC para conmutación manual in situ ante contingencias.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5912" cy="4572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03366"/>
                </a:solidFill>
              </a:defRPr>
            </a:pPr>
            <a:r>
              <a:t>Prototipos Visuales de Interfaz (Mockups Figma)</a:t>
            </a:r>
          </a:p>
          <a:p>
            <a:pPr>
              <a:defRPr sz="1300">
                <a:solidFill>
                  <a:srgbClr val="646464"/>
                </a:solidFill>
              </a:defRPr>
            </a:pPr>
            <a:r>
              <a:t>Diseño UI/UX del Panel Administrativo Centralizado y Monitoreo de Pantallas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0" y="640080"/>
            <a:ext cx="2313432" cy="411480"/>
          </a:xfrm>
          <a:prstGeom prst="roundRect">
            <a:avLst/>
          </a:prstGeom>
          <a:solidFill>
            <a:srgbClr val="F0F3F6"/>
          </a:solidFill>
          <a:ln>
            <a:solidFill>
              <a:srgbClr val="C8D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3366"/>
                </a:solidFill>
              </a:defRPr>
            </a:pPr>
            <a:r>
              <a:t>Paulo Loyola | Bloque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03366"/>
                </a:solidFill>
              </a:defRPr>
            </a:pPr>
            <a:r>
              <a:t>Componentes de Interfaz UI/UX</a:t>
            </a:r>
          </a:p>
          <a:p>
            <a:pPr>
              <a:defRPr b="1" sz="1050">
                <a:solidFill>
                  <a:srgbClr val="141E2D"/>
                </a:solidFill>
              </a:defRPr>
            </a:pPr>
            <a:r>
              <a:t>• 1. Monitoreo NUC en Vivo</a:t>
            </a:r>
          </a:p>
          <a:p>
            <a:pPr>
              <a:defRPr sz="950">
                <a:solidFill>
                  <a:srgbClr val="5A646E"/>
                </a:solidFill>
              </a:defRPr>
            </a:pPr>
            <a:r>
              <a:t>   Panel de pantallas con semáforo de conectividad (Online / Offline) y última comunicación.</a:t>
            </a:r>
          </a:p>
          <a:p>
            <a:pPr>
              <a:defRPr b="1" sz="1050">
                <a:solidFill>
                  <a:srgbClr val="141E2D"/>
                </a:solidFill>
              </a:defRPr>
            </a:pPr>
            <a:r>
              <a:t>• 2. Catálogo de Medios</a:t>
            </a:r>
          </a:p>
          <a:p>
            <a:pPr>
              <a:defRPr sz="950">
                <a:solidFill>
                  <a:srgbClr val="5A646E"/>
                </a:solidFill>
              </a:defRPr>
            </a:pPr>
            <a:r>
              <a:t>   Carga de videos MP4/imágenes, cálculo SHA-256 automático y metadatos de peso/resolución.</a:t>
            </a:r>
          </a:p>
          <a:p>
            <a:pPr>
              <a:defRPr b="1" sz="1050">
                <a:solidFill>
                  <a:srgbClr val="141E2D"/>
                </a:solidFill>
              </a:defRPr>
            </a:pPr>
            <a:r>
              <a:t>• 3. Parrilla de Horarios</a:t>
            </a:r>
          </a:p>
          <a:p>
            <a:pPr>
              <a:defRPr sz="950">
                <a:solidFill>
                  <a:srgbClr val="5A646E"/>
                </a:solidFill>
              </a:defRPr>
            </a:pPr>
            <a:r>
              <a:t>   Timeline visual para programar listas de reproducción por locación y sector sin solapamientos.</a:t>
            </a:r>
          </a:p>
          <a:p>
            <a:pPr>
              <a:defRPr b="1" sz="1050">
                <a:solidFill>
                  <a:srgbClr val="141E2D"/>
                </a:solidFill>
              </a:defRPr>
            </a:pPr>
            <a:r>
              <a:t>• 4. Vistas por Rol</a:t>
            </a:r>
          </a:p>
          <a:p>
            <a:pPr>
              <a:defRPr sz="950">
                <a:solidFill>
                  <a:srgbClr val="5A646E"/>
                </a:solidFill>
              </a:defRPr>
            </a:pPr>
            <a:r>
              <a:t>   Acceso global para Administrador y vistas restringidas a locaciones asignadas para Operador.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7068312" cy="43891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003366"/>
                </a:solidFill>
              </a:defRPr>
            </a:pPr>
            <a:br/>
            <a:br/>
            <a:br/>
            <a:r>
              <a:t>🖼️ [ESPACIO RESERVADO PARA WIREFRAME / MOCKUP DE FIGMA]</a:t>
            </a:r>
          </a:p>
          <a:p>
            <a:pPr algn="ctr">
              <a:defRPr sz="1100">
                <a:solidFill>
                  <a:srgbClr val="6E7882"/>
                </a:solidFill>
              </a:defRPr>
            </a:pPr>
            <a:br/>
            <a:r>
              <a:t>Pegue o inserte aquí la captura de pantalla del prototipo de alta fidelidad diseñado en Figma.</a:t>
            </a:r>
            <a:br/>
            <a:r>
              <a:t>(Panel Web Reactivo Blade • Parrilla de Programación • Telemetría NUC en Vivo)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Plan de Trabajo y Carta Gantt — 18 Semanas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Ruta Crítica de 22 Actividades de Ingeniería e Hitos Evaluativos (PTY4614)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Paulo Loyola | Bloque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1: Definición (S1-S4)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S1-S2: </a:t>
            </a:r>
            <a:r>
              <a:rPr>
                <a:solidFill>
                  <a:srgbClr val="334155"/>
                </a:solidFill>
              </a:rPr>
              <a:t>Constitución y diagnóstico en terreno con Lumina.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S3: </a:t>
            </a:r>
            <a:r>
              <a:rPr>
                <a:solidFill>
                  <a:srgbClr val="334155"/>
                </a:solidFill>
              </a:rPr>
              <a:t>Stack tecnológico y formalización de objetivos.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S4 [HITO 1]: </a:t>
            </a:r>
            <a:r>
              <a:rPr>
                <a:solidFill>
                  <a:srgbClr val="334155"/>
                </a:solidFill>
              </a:rPr>
              <a:t>Entrega Informe Fase 1 y Exposición Grupal.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23774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2: Core (S5-S10)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S5-S6: </a:t>
            </a:r>
            <a:r>
              <a:rPr>
                <a:solidFill>
                  <a:srgbClr val="334155"/>
                </a:solidFill>
              </a:rPr>
              <a:t>Modelado MariaDB y migraciones Laravel.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S7-S8: </a:t>
            </a:r>
            <a:r>
              <a:rPr>
                <a:solidFill>
                  <a:srgbClr val="334155"/>
                </a:solidFill>
              </a:rPr>
              <a:t>API RESTful, Auth JWT y carga con SHA-256.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S9-S10 [HITO 2]: </a:t>
            </a:r>
            <a:r>
              <a:rPr>
                <a:solidFill>
                  <a:srgbClr val="334155"/>
                </a:solidFill>
              </a:rPr>
              <a:t>Playlists, UI de pautas y Demo Funcional.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1691640"/>
            <a:ext cx="23774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3: Resiliencia (S11-S15)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S11-S12: </a:t>
            </a:r>
            <a:r>
              <a:rPr>
                <a:solidFill>
                  <a:srgbClr val="334155"/>
                </a:solidFill>
              </a:rPr>
              <a:t>Servidor WebSockets y Player local.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S13-S14: </a:t>
            </a:r>
            <a:r>
              <a:rPr>
                <a:solidFill>
                  <a:srgbClr val="334155"/>
                </a:solidFill>
              </a:rPr>
              <a:t>Módulo Fail-Safe y panel web local.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S15 [HITO 3]: </a:t>
            </a:r>
            <a:r>
              <a:rPr>
                <a:solidFill>
                  <a:srgbClr val="334155"/>
                </a:solidFill>
              </a:rPr>
              <a:t>Entrega software consolidado y manuales.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91640"/>
            <a:ext cx="23774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Fase 4: Cierre (S16-S18)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S16: </a:t>
            </a:r>
            <a:r>
              <a:rPr>
                <a:solidFill>
                  <a:srgbClr val="334155"/>
                </a:solidFill>
              </a:rPr>
              <a:t>Pruebas UAT en terreno con Cristóbal Manzo.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S17 [HITO 4]: </a:t>
            </a:r>
            <a:r>
              <a:rPr>
                <a:solidFill>
                  <a:srgbClr val="334155"/>
                </a:solidFill>
              </a:rPr>
              <a:t>Ensayo y Defensa Presencial (Sesión 1).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S18 [HITO 4]: </a:t>
            </a:r>
            <a:r>
              <a:rPr>
                <a:solidFill>
                  <a:srgbClr val="334155"/>
                </a:solidFill>
              </a:rPr>
              <a:t>Defensa Final de Titulación y Cierre de Actas.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6840" y="1691640"/>
            <a:ext cx="237744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Evidencias del Proyecto y Conclusión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Acreditación Rigurosa e Integración del Perfil de Egreso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Paulo Loyola | Bloque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Evidencias Objetivas de Acreditación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EVID-01 (Gestión): </a:t>
            </a:r>
            <a:r>
              <a:rPr>
                <a:solidFill>
                  <a:srgbClr val="334155"/>
                </a:solidFill>
              </a:rPr>
              <a:t>Acta de levantamiento y alcance validada por Cristóbal Manzo (Lumina).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EVID-02 (Ingeniería DB): </a:t>
            </a:r>
            <a:r>
              <a:rPr>
                <a:solidFill>
                  <a:srgbClr val="334155"/>
                </a:solidFill>
              </a:rPr>
              <a:t>Diagrama E-R, diccionario de datos y migraciones MariaDB ejecutables.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EVID-03 (Desarrollo): </a:t>
            </a:r>
            <a:r>
              <a:rPr>
                <a:solidFill>
                  <a:srgbClr val="334155"/>
                </a:solidFill>
              </a:rPr>
              <a:t>Repositorio GitHub con commits trazables y Pull Requests cruzados.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EVID-04 (Servicios): </a:t>
            </a:r>
            <a:r>
              <a:rPr>
                <a:solidFill>
                  <a:srgbClr val="334155"/>
                </a:solidFill>
              </a:rPr>
              <a:t>Colección Postman y especificación interactiva OpenAPI / Swagger.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EVID-05 (Resiliencia): </a:t>
            </a:r>
            <a:r>
              <a:rPr>
                <a:solidFill>
                  <a:srgbClr val="334155"/>
                </a:solidFill>
              </a:rPr>
              <a:t>Matriz y video de prueba de desconexión forzada de red (Fail-Safe).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EVID-06 (Validación): </a:t>
            </a:r>
            <a:r>
              <a:rPr>
                <a:solidFill>
                  <a:srgbClr val="334155"/>
                </a:solidFill>
              </a:rPr>
              <a:t>Acta formal de recepción y pruebas de usuario (UAT) de Lumina Motion.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Conclusión y Valor Agregado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Solución Industrial Real: </a:t>
            </a:r>
            <a:r>
              <a:rPr>
                <a:solidFill>
                  <a:srgbClr val="334155"/>
                </a:solidFill>
              </a:rPr>
              <a:t>Resuelve el dolor logístico y los costos de licenciamiento de Lumina Motion.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Autonomía sin Conexión: </a:t>
            </a:r>
            <a:r>
              <a:rPr>
                <a:solidFill>
                  <a:srgbClr val="334155"/>
                </a:solidFill>
              </a:rPr>
              <a:t>Garantía de continuidad operativa ante caídas de internet en eventos masivos.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Integración Formativa: </a:t>
            </a:r>
            <a:r>
              <a:rPr>
                <a:solidFill>
                  <a:srgbClr val="334155"/>
                </a:solidFill>
              </a:rPr>
              <a:t>Articulación plena de las 4 competencias clave del perfil de egreso Duoc UC: Desarrollo Fullstack, Bases de Datos, Arquitectura y Gestión Ágil.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Discurso de Cierre: </a:t>
            </a:r>
            <a:r>
              <a:rPr>
                <a:solidFill>
                  <a:srgbClr val="334155"/>
                </a:solidFill>
              </a:rPr>
              <a:t>'Con ACE no solo resolvemos un problema logístico de Lumina Motion, sino que demostramos la integración transversal de las competencias de nuestro perfil de egreso en Duoc UC. Quedamos atentos a sus preguntas.'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Glosario Técnico Disciplinar Indispensable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Conceptos Clave para la Defensa Individual (Indicador 11 - 10 pts)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Todo 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1. Resiliencia Offline / Fail-Safe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Capacidad del nodo reproductor de continuar ejecutando la parrilla multimedia programada utilizando almacenamiento local cuando se interrumpe la conexión a internet.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2. Integridad Criptográfica (SHA-256)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Mecanismo de validación por hash que garantiza que los archivos de video descargados en el reproductor no sufrieron corrupción durante la transferencia de red antes de ser emitidos.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3. Persistencia ACID (MariaDB)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Garantía de atomicidad, consistencia, aislamiento y durabilidad en operaciones relacionales que controlan la planificación horaria sin solapamientos.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69080"/>
            <a:ext cx="32918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4. Protocolo Dual (API &amp; WebSockets)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Definición: </a:t>
            </a:r>
            <a:r>
              <a:rPr>
                <a:solidFill>
                  <a:srgbClr val="334155"/>
                </a:solidFill>
              </a:rPr>
              <a:t>HTTP REST sin estado para administración CRUD y WebSockets para telemetría bidireccional (heartbeats) y control inmediato de pantallas.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4069080"/>
            <a:ext cx="32918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5. Arquitectura Desacoplada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Definición: Separación física y lógica entre la capa de administración centralizada en la nube y los nodos ejecutores autónomos desplegados en locaciones fijas (NUCs).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4069080"/>
            <a:ext cx="32918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1072865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86868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Banco de Preguntas Típicas de la Comisión Docente</a:t>
            </a:r>
          </a:p>
          <a:p>
            <a:pPr>
              <a:spcBef>
                <a:spcPts val="200"/>
              </a:spcBef>
              <a:defRPr sz="1300">
                <a:solidFill>
                  <a:srgbClr val="64748B"/>
                </a:solidFill>
                <a:latin typeface="Arial"/>
              </a:defRPr>
            </a:pPr>
            <a:r>
              <a:t>Defensa de Decisiones Técnicas y Metodológicas de Ingeniería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26880" y="640080"/>
            <a:ext cx="2133295" cy="411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2563EB"/>
                </a:solidFill>
                <a:latin typeface="Arial"/>
              </a:defRPr>
            </a:pPr>
            <a:r>
              <a:t>Todo el Equipo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¿Por qué Laravel y MariaDB vs NoSQL?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Fundamento: El dominio de cartelería digital es estrictamente estructurado (Locaciones &gt; Sectores &gt; Pantallas &gt; Playlists). Las transacciones ACID y llaves foráneas de MariaDB previenen estados inconsistentes y solapamientos que en NoSQL exigirían validaciones manuales complejas.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¿Cómo evitan pantallas en negro en malls?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Fundamento: </a:t>
            </a:r>
            <a:r>
              <a:rPr>
                <a:solidFill>
                  <a:srgbClr val="334155"/>
                </a:solidFill>
              </a:rPr>
              <a:t>Arquitectura Cache-First: el reproductor nunca hace streaming directo. Descarga preventivamente los videos a disco local y verifica SHA-256. Ante caída de red, reproduce localmente y expone un panel web en la intranet para control manual de emergencia.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691640"/>
            <a:ext cx="5120640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4023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¿Cómo aseguran terminar en 18 semanas?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rPr b="1">
                <a:solidFill>
                  <a:srgbClr val="1E3A8A"/>
                </a:solidFill>
              </a:rPr>
              <a:t>Fundamento: </a:t>
            </a:r>
            <a:r>
              <a:rPr>
                <a:solidFill>
                  <a:srgbClr val="334155"/>
                </a:solidFill>
              </a:rPr>
              <a:t>Delimitación estricta del alcance: ACE es distribución y programación (se excluye edición de video). Scrum bisemanal con hito crítico en S10 (core API y DB operativo), dejando semanas finales para pruebas de resiliencia y UAT con Lumina.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069080"/>
            <a:ext cx="512064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201168" bIns="182880"/>
          <a:lstStyle/>
          <a:p>
            <a:pPr algn="ctr">
              <a:spcAft>
                <a:spcPts val="800"/>
              </a:spcAft>
              <a:defRPr sz="1500" b="1">
                <a:solidFill>
                  <a:srgbClr val="1E3A8A"/>
                </a:solidFill>
                <a:latin typeface="Arial"/>
              </a:defRPr>
            </a:pPr>
            <a:r>
              <a:t>¿Cómo garantizan aporte equitativo?</a:t>
            </a:r>
          </a:p>
          <a:p>
            <a:pPr>
              <a:spcAft>
                <a:spcPts val="500"/>
              </a:spcAft>
              <a:defRPr sz="1100">
                <a:latin typeface="Arial"/>
              </a:defRPr>
            </a:pPr>
            <a:r>
              <a:t>Fundamento: Distribución por dominios técnicos complementarios y corresponsabilidad en persistencia (MariaDB): Tomás (Arquitectura, Backend y BD), Matías (Gestión Ágil, Vinculación con Cliente y BD) y Paulo (Frontend, UI/UX y Documentación Técnica). Trazabilidad auditable mediante Pull Requests cruzados en GitHub.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4069080"/>
            <a:ext cx="5120640" cy="73152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