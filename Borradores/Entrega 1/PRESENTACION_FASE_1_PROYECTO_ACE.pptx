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9"/>
    <p:sldId id="257" r:id="rId9"/>
    <p:sldId id="258" r:id="rId10"/>
    <p:sldId id="259" r:id="rId11"/>
    <p:sldId id="260" r:id="rId12"/>
    <p:sldId id="261" r:id="rId13"/>
    <p:sldId id="262" r:id="rId14"/>
    <p:sldId id="268" r:id="rId20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9.xml"/><Relationship Id="rId19" Type="http://schemas.openxmlformats.org/officeDocument/2006/relationships/slide" Target="slides/slide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 (Inicio del Bloque 1 - 00:00 a 05:00)</a:t>
            </a:r>
          </a:p>
          <a:p>
            <a:r>
              <a:t>Discurso sugerido: 'Buenos días profesor(a) y compañeros. Hoy presentamos ACE (Autonomous Content Engine), un proyecto de ingeniería de software desarrollado para dar respuesta a una necesidad operativa real de la empresa Lumina Motion Studio.'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clave a destacar: Cartelería digital distribuida, fragmentación operativa, software propietario sin interoperabilidad, vulnerabilidad ante indisponibilidad de enlace WAN.</a:t>
            </a:r>
          </a:p>
          <a:p>
            <a:r>
              <a:t>Foco: Explicar cómo la dependencia de pendrives y licencias de terceros genera sobrecostos y riesgos severos de pantallas en negro ante el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técnicos: Arquitectura cliente-servidor desacoplada, backend API RESTful en PHP/Laravel, servidor de eventos WebSockets, agente reproductor local con caché preventivo y resiliencia offline.</a:t>
            </a:r>
          </a:p>
          <a:p>
            <a:r>
              <a:t>Foco: Demostrar cómo se desacopla la gestión en la nube de la ejecución local para garantizar tolerancia total a fallos.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 (Inicio del Bloque 2 - 05:00 a 10:00)</a:t>
            </a:r>
          </a:p>
          <a:p>
            <a:r>
              <a:t>Discurso sugerido: 'Para articular esta solución, definimos un objetivo general medible y 5 objetivos específicos que guían cada hito de desarrollo desde el modelamiento hasta la validación en terreno.'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Marco de trabajo ágil Scrum, Sprints bisemanales, Product Backlog priorizado con Lumina Motion, integración continua en GitHub con Pull Requests cruzados.</a:t>
            </a:r>
          </a:p>
          <a:p>
            <a:r>
              <a:t>Foco: Demostrar organización profesional del equipo y trazabilidad objetiva del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Interlocución técnica directa con Cristóbal Manzo (Jefe TI Lumina Motion), matriz de riesgos y mitigación (emuladores de hardware, validación de integridad SHA-256).</a:t>
            </a:r>
          </a:p>
          <a:p>
            <a:r>
              <a:t>Foco: Demostrar que el proyecto es 100% factible, con cliente real y planes de contingencia para cada obstáculo.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 (Inicio del Bloque 3 - 10:00 a 15:00)</a:t>
            </a:r>
          </a:p>
          <a:p>
            <a:r>
              <a:t>Términos técnicos: Modelo de datos normalizado en 3FN en MariaDB, integridad referencial con llaves foráneas, transacciones ACID, interfaz de usuario responsiva en Blade/UI, gestión visual de pautas horarias.</a:t>
            </a:r>
          </a:p>
          <a:p>
            <a:r>
              <a:t>Foco: Explicar cómo se estructura la jerarquía Sitio -&gt; Sector -&gt; Pantalla y la asignación de Medios a Playlists y Programaciones.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Ruta crítica, hitos evaluativos S4 (Definición), S10 (Avance funcional), S15 (Entrega final), S17-18 (Defensa).</a:t>
            </a:r>
          </a:p>
          <a:p>
            <a:r>
              <a:t>Foco: Demostrar control riguroso de los tiempos y alineación perfecta entre el desarrollo técnico y el calendario de Duoc 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Actas de validación UAT, especificación OpenAPI/Swagger, trazabilidad de código en GitHub, video de prueba de desconexión offline.</a:t>
            </a:r>
          </a:p>
          <a:p>
            <a:r>
              <a:t>Discurso de cierre: 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el equipo debe dominar fluidamente estos 5 términos para asegurar los 10 puntos del Indicador 11 de evaluación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Respuestas preparadas para la ronda de preguntas individuales y grupales de la comisión evaluadora.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ACE: Autonomous Content Engine</a:t>
            </a:r>
          </a:p>
          <a:p>
            <a:pPr>
              <a:spcBef>
                <a:spcPts val="800"/>
              </a:spcBef>
              <a:defRPr sz="1800">
                <a:solidFill>
                  <a:srgbClr val="93C5FD"/>
                </a:solidFill>
                <a:latin typeface="Arial"/>
              </a:defRPr>
            </a:pPr>
            <a:r>
              <a:t>Plataforma Centralizada de Gestión de Cartelería Digital con Resiliencia Offline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Defensa de Proyecto APT — Fase 1 | PTY4614 Capstone | Duoc UC Sede Antonio Varas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Tomás Escalante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Arquitectura, Backend &amp; Base de Datos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Lógica Laravel, WebSockets, Modelado ER y Resiliencia de 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Matías Salas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Gestión Ágil, Base de Datos &amp; Cliente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Vinculación Lumina Motion, Migraciones MariaDB, Gestión Scrum y UAT.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19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Paulo Loyola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Frontend, Base de Datos &amp; Documentación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Interfaces Blade/UI, Consultas/Migraciones MariaDB, Estandarización documental.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5912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Estructura de la Defensa y Agenda</a:t>
            </a:r>
          </a:p>
          <a:p>
            <a:pPr>
              <a:defRPr sz="1300">
                <a:solidFill>
                  <a:srgbClr val="646464"/>
                </a:solidFill>
              </a:defRPr>
            </a:pPr>
            <a:r>
              <a:t>Hoja de Ruta de la Exposición Fase 1 — Proyecto ACE (PTY4614)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0552" cy="411480"/>
          </a:xfrm>
          <a:prstGeom prst="roundRect">
            <a:avLst/>
          </a:prstGeom>
          <a:solidFill>
            <a:srgbClr val="F0F3F6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3366"/>
                </a:solidFill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3366"/>
                </a:solidFill>
              </a:defRPr>
            </a:pPr>
            <a:r>
              <a:t>Bloque I: Fundamentación y Estrategia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I. Contexto y Diagnóstico del Negocio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Problemática de Lumina Motion: pendrives, licencias externas y caídas WAN.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II. Solución y Arquitectura Desacoplada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Estructura Cliente-Servidor Cache-First y resiliencia offline ante cortes.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III. Formulación de Objetivos de Ingeniería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Meta General y 6 Objetivos Específicos alineados a la industria.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IV. Metodología Ágil y Roles Disciplinares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Scrum adaptado, flujos de integración en GitHub y corresponsabilidad técnica.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3366"/>
                </a:solidFill>
              </a:defRPr>
            </a:pPr>
            <a:r>
              <a:t>Bloque II: Planificación e Ingeniería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V. Factibilidad, Matriz de Riesgos y Seguridad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Viabilidad en 18 semanas, mitigaciones, JWT y validación SHA-256.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VI. Modelo de Datos y Prototipos UI/UX (Mockups)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Esquema MariaDB 3FN, roles de acceso y wireframes de interfaces Figma.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VII. Plan de Trabajo y Carta Gantt Detallada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Desglose de 22 actividades de ingeniería e hitos evaluativos Duoc.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VIII. Evidencias, Glosario Técnico y Defensa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Acreditación del perfil de egreso y preparación rigurosa de preguntas.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El Dolor del Negocio: Lumina Motion Studio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Diagnóstico Operativo de la Infraestructura de Cartelería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Operativa Fragmentada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Actualización manual: </a:t>
            </a:r>
            <a:r>
              <a:rPr>
                <a:solidFill>
                  <a:srgbClr val="334155"/>
                </a:solidFill>
              </a:rPr>
              <a:t>Gran parte del parque de pantallas se actualiza físicamente vía pendrives USB in situ.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logísticos: </a:t>
            </a:r>
            <a:r>
              <a:rPr>
                <a:solidFill>
                  <a:srgbClr val="334155"/>
                </a:solidFill>
              </a:rPr>
              <a:t>Traslados continuos de técnicos ante cambios de pauta publicitaria en recintos comerciales.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Tiempo de respuesta lento: </a:t>
            </a:r>
            <a:r>
              <a:rPr>
                <a:solidFill>
                  <a:srgbClr val="334155"/>
                </a:solidFill>
              </a:rPr>
              <a:t>Horas o días para actualizar un anuncio comercial en múltiples sedes.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Licenciamiento Propietario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Herramientas dispares: </a:t>
            </a:r>
            <a:r>
              <a:rPr>
                <a:solidFill>
                  <a:srgbClr val="334155"/>
                </a:solidFill>
              </a:rPr>
              <a:t>Uso fragmentado de software comercial (MadMapper, Arena.im) sin integración entre sí.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Sin panel central: </a:t>
            </a:r>
            <a:r>
              <a:rPr>
                <a:solidFill>
                  <a:srgbClr val="334155"/>
                </a:solidFill>
              </a:rPr>
              <a:t>Imposibilidad de gestionar un catálogo unificado de medios y pantallas por sectores.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recurrentes: </a:t>
            </a:r>
            <a:r>
              <a:rPr>
                <a:solidFill>
                  <a:srgbClr val="334155"/>
                </a:solidFill>
              </a:rPr>
              <a:t>Alto gasto en licencias externas que no resuelven la automatización de horarios.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Falla Crítica de Red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Vulnerabilidad WAN: </a:t>
            </a:r>
            <a:r>
              <a:rPr>
                <a:solidFill>
                  <a:srgbClr val="334155"/>
                </a:solidFill>
              </a:rPr>
              <a:t>La conectividad a internet en recintos masivos (malls, eventos) es inestable y propensa a caídas.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de pantalla en negro: </a:t>
            </a:r>
            <a:r>
              <a:rPr>
                <a:solidFill>
                  <a:srgbClr val="334155"/>
                </a:solidFill>
              </a:rPr>
              <a:t>Soluciones basadas en streaming colapsan ante interrupciones de red.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Penalizaciones comerciales: </a:t>
            </a:r>
            <a:r>
              <a:rPr>
                <a:solidFill>
                  <a:srgbClr val="334155"/>
                </a:solidFill>
              </a:rPr>
              <a:t>Pérdida de ingresos y sanciones contractuales por indisponibilidad de anuncios.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La Solución ACE y Arquitectura Híbrida Desacoplada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Estructura Cliente-Servidor con Enfoque Cache-First y Fail-Safe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Servidor Central (Cloud)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Backend Robusto: </a:t>
            </a:r>
            <a:r>
              <a:rPr>
                <a:solidFill>
                  <a:srgbClr val="334155"/>
                </a:solidFill>
              </a:rPr>
              <a:t>Desarrollado en PHP 8.2+ con Laravel 11 y arquitectura MVC / API RESTful.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Persistencia Relacional: </a:t>
            </a:r>
            <a:r>
              <a:rPr>
                <a:solidFill>
                  <a:srgbClr val="334155"/>
                </a:solidFill>
              </a:rPr>
              <a:t>MariaDB normalizada en 3FN con transacciones ACID para evitar colisiones horarias.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Catálogo Multimedia: </a:t>
            </a:r>
            <a:r>
              <a:rPr>
                <a:solidFill>
                  <a:srgbClr val="334155"/>
                </a:solidFill>
              </a:rPr>
              <a:t>Cálculo automático de hash SHA-256 para verificación criptográfica de archivos.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Gestión de Pautas: Asignación jerárquica de listas de reproducción por Locación, Sector y Pantalla (roles Admin y Operador).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Canal de Sincronización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Protocolo Dual: </a:t>
            </a:r>
            <a:r>
              <a:rPr>
                <a:solidFill>
                  <a:srgbClr val="334155"/>
                </a:solidFill>
              </a:rPr>
              <a:t>REST HTTP para CRUD administrativo + WebSockets para tiempo real.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Telemetría en Vivo: </a:t>
            </a:r>
            <a:r>
              <a:rPr>
                <a:solidFill>
                  <a:srgbClr val="334155"/>
                </a:solidFill>
              </a:rPr>
              <a:t>Latidos periódicos (Heartbeats) para monitoreo de salud de pantallas.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Comandos Inmediatos: </a:t>
            </a:r>
            <a:r>
              <a:rPr>
                <a:solidFill>
                  <a:srgbClr val="334155"/>
                </a:solidFill>
              </a:rPr>
              <a:t>Publicación instantánea de cambios de parrilla a reproductores conectados.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Fallback Automático: </a:t>
            </a:r>
            <a:r>
              <a:rPr>
                <a:solidFill>
                  <a:srgbClr val="334155"/>
                </a:solidFill>
              </a:rPr>
              <a:t>Sondeo HTTP periódico si los puertos de sockets están bloqueados por firewall.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Nodo Reproductor Local (NUC)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Arquitectura Cache-First en NUCs: Descarga preventiva de videos al almacenamiento local; sin streaming.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Resiliencia Offline Total: </a:t>
            </a:r>
            <a:r>
              <a:rPr>
                <a:solidFill>
                  <a:srgbClr val="334155"/>
                </a:solidFill>
              </a:rPr>
              <a:t>Si se cae internet, la reproducción continúa de forma indefinida y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SHA-256: </a:t>
            </a:r>
            <a:r>
              <a:rPr>
                <a:solidFill>
                  <a:srgbClr val="334155"/>
                </a:solidFill>
              </a:rPr>
              <a:t>Comprobación estricta de integridad antes de marcar un archivo como listo.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Panel Local de Emergencia: </a:t>
            </a:r>
            <a:r>
              <a:rPr>
                <a:solidFill>
                  <a:srgbClr val="334155"/>
                </a:solidFill>
              </a:rPr>
              <a:t>Servidor web embebido en la intranet para conmutación manual presencial.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Objetivos del Proyecto ACE (PTY4614)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Meta General y 6 Objetivos Específicos Alineados al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Objetivo General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Meta Principal: Desarrollar una plataforma de gestión de cartelería digital para Lumina Motion que permita administrar centralizada y remotamente pantallas, contenidos y programación en locaciones fijas, manteniendo la reproducción y permitiendo cambios locales sin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00200"/>
            <a:ext cx="1063721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(Gestión y Programación)</a:t>
            </a:r>
          </a:p>
          <a:p>
            <a:pPr>
              <a:defRPr sz="1100"/>
            </a:pPr>
            <a:r>
              <a:t>OE1 (Administración y Permisos por Locación): Implementar la gestión remota de locaciones, sectores y pantallas, con acceso diferenciado (Admin y Operador por locación).</a:t>
            </a:r>
          </a:p>
          <a:p>
            <a:pPr>
              <a:defRPr sz="1100"/>
            </a:pPr>
            <a:r>
              <a:t>OE2 (Gestión de Contenidos y Playlists): Desarrollar gestión de medios y listas reutilizables con orden, tiempos de exhibición y acceso autorizado.</a:t>
            </a:r>
          </a:p>
          <a:p>
            <a:pPr>
              <a:defRPr sz="1100"/>
            </a:pPr>
            <a:r>
              <a:t>OE3 (Programación Horaria Segmentada): Implementar programación por fechas y horarios con asignación a pantallas o sectores.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4612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(Resiliencia, Telemetría y QA)</a:t>
            </a:r>
          </a:p>
          <a:p>
            <a:pPr>
              <a:defRPr sz="1100"/>
            </a:pPr>
            <a:r>
              <a:t>OE4 (Resiliencia y Edición Offline): Habilitar reproducción autónoma y modificación local de contenido y programación sin internet (con archivos en locación).</a:t>
            </a:r>
          </a:p>
          <a:p>
            <a:pPr>
              <a:defRPr sz="1100"/>
            </a:pPr>
            <a:r>
              <a:t>OE5 (Telemetría de Conectividad NUC): Incorporar consulta del estado básico de conectividad de los NUC y su última comunicación.</a:t>
            </a:r>
          </a:p>
          <a:p>
            <a:pPr>
              <a:defRPr sz="1100"/>
            </a:pPr>
            <a:r>
              <a:t>OE6 (Validación con Cliente y QA): Validar el sistema en entorno de pruebas con Lumina Motion (gestión remota, permisos y pruebas online/offline).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32461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Metodología de Trabajo y Roles Disciplinares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Marco Ágil Scrum Adaptado con Integración Continua y Trazabilidad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Ciclo Ágil Scrum Adaptado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Sprints Bisemanales: </a:t>
            </a:r>
            <a:r>
              <a:rPr>
                <a:solidFill>
                  <a:srgbClr val="334155"/>
                </a:solidFill>
              </a:rPr>
              <a:t>Ciclos de 2 semanas con entregables funcionales e incrementales.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Product Backlog: </a:t>
            </a:r>
            <a:r>
              <a:rPr>
                <a:solidFill>
                  <a:srgbClr val="334155"/>
                </a:solidFill>
              </a:rPr>
              <a:t>Priorizado según los dolores de Lumina Motion y los hitos Duoc UC.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Reuniones de Equipo: </a:t>
            </a:r>
            <a:r>
              <a:rPr>
                <a:solidFill>
                  <a:srgbClr val="334155"/>
                </a:solidFill>
              </a:rPr>
              <a:t>Sincronización semanal presencial y virtual para remover impedimentos.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Demo con Cliente: </a:t>
            </a:r>
            <a:r>
              <a:rPr>
                <a:solidFill>
                  <a:srgbClr val="334155"/>
                </a:solidFill>
              </a:rPr>
              <a:t>Validación continua de incrementos con la contraparte técnica.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Control de Calidad en GitHub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Feature Branches: </a:t>
            </a:r>
            <a:r>
              <a:rPr>
                <a:solidFill>
                  <a:srgbClr val="334155"/>
                </a:solidFill>
              </a:rPr>
              <a:t>Desarrollo aislado de funcionalidades en ramas específicas.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Pull Requests Cruzados: </a:t>
            </a:r>
            <a:r>
              <a:rPr>
                <a:solidFill>
                  <a:srgbClr val="334155"/>
                </a:solidFill>
              </a:rPr>
              <a:t>Revisión obligatoria de código (Peer Review) antes de integrar a main.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Trazabilidad Total: </a:t>
            </a:r>
            <a:r>
              <a:rPr>
                <a:solidFill>
                  <a:srgbClr val="334155"/>
                </a:solidFill>
              </a:rPr>
              <a:t>Historial transparente de aportes individuales y commits auditables.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Estándar Documental: </a:t>
            </a:r>
            <a:r>
              <a:rPr>
                <a:solidFill>
                  <a:srgbClr val="334155"/>
                </a:solidFill>
              </a:rPr>
              <a:t>Control de cambios riguroso en Markdown y repositorios de entrega.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Especialización de Roles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Tomás Escalante: Arquitectura distribuida, backend API Laravel, WebSockets y modelado relacional.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Matías Salas: Gestión ágil Scrum, vinculación con Lumina, construcción de migraciones y pruebas UAT.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Paulo Loyola: Interfaces Blade/UI, paneles de programación, optimización MariaDB y estándar documental.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Vinculación con el Cliente y Matriz de Riesgos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Factibilidad en 18 Semanas y Mitigación Estratégica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Relación Técnica con Lumina Motion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Interlocutor Clave: </a:t>
            </a:r>
            <a:r>
              <a:rPr>
                <a:solidFill>
                  <a:srgbClr val="334155"/>
                </a:solidFill>
              </a:rPr>
              <a:t>Cristóbal Manzo, Jefe de Informática en Lumina Motion Studio.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Acceso Directo: </a:t>
            </a:r>
            <a:r>
              <a:rPr>
                <a:solidFill>
                  <a:srgbClr val="334155"/>
                </a:solidFill>
              </a:rPr>
              <a:t>Reuniones periódicas para levantamiento de requisitos funcionales y diseño de pautas.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Validación en Terreno: </a:t>
            </a:r>
            <a:r>
              <a:rPr>
                <a:solidFill>
                  <a:srgbClr val="334155"/>
                </a:solidFill>
              </a:rPr>
              <a:t>Pruebas UAT sobre infraestructura visual real instalada en centros comerciales.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Viabilidad 18 Semanas: </a:t>
            </a:r>
            <a:r>
              <a:rPr>
                <a:solidFill>
                  <a:srgbClr val="334155"/>
                </a:solidFill>
              </a:rPr>
              <a:t>Alcance estrictamente delimitado: plataforma de distribución y gestión (sin edición de video).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Infraestructura: </a:t>
            </a:r>
            <a:r>
              <a:rPr>
                <a:solidFill>
                  <a:srgbClr val="334155"/>
                </a:solidFill>
              </a:rPr>
              <a:t>Disponibilidad de microcomputadores Mini-PC, switches de red y monitores de prueba.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Matriz de Riesgos y Mitigación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1: Pérdida de red en malls </a:t>
            </a:r>
            <a:r>
              <a:rPr>
                <a:solidFill>
                  <a:srgbClr val="334155"/>
                </a:solidFill>
              </a:rPr>
              <a:t>Mitigación: Caché local obligatorio (SQLite/local storage) y reproducción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2: Formatos de video dispares </a:t>
            </a:r>
            <a:r>
              <a:rPr>
                <a:solidFill>
                  <a:srgbClr val="334155"/>
                </a:solidFill>
              </a:rPr>
              <a:t>Mitigación: Estandarización a MP4 H.264 y validación estricta de códecs al subir.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3: Falta de pantallas para pruebas </a:t>
            </a:r>
            <a:r>
              <a:rPr>
                <a:solidFill>
                  <a:srgbClr val="334155"/>
                </a:solidFill>
              </a:rPr>
              <a:t>Mitigación: Desarrollo de emulador web de pantalla que simula resolución y heartbeats.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4: Corrupción durante descarga </a:t>
            </a:r>
            <a:r>
              <a:rPr>
                <a:solidFill>
                  <a:srgbClr val="334155"/>
                </a:solidFill>
              </a:rPr>
              <a:t>Mitigación: Validación mandatoria de hash criptográfico SHA-256 antes de reproducir.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Modelo de Datos Relacional (MariaDB) y Frontend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Persistencia ACID, Estructura Jerárquica e Interfaz de Gestión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Arquitectura de Datos (MariaDB 3FN)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Jerarquía de Ubicación: Locación (ej. Mall Costanera) → Sectores (ej. Patio Comidas) → Pantallas individuales.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Entidades de Contenido: </a:t>
            </a:r>
            <a:r>
              <a:rPr>
                <a:solidFill>
                  <a:srgbClr val="334155"/>
                </a:solidFill>
              </a:rPr>
              <a:t>Catálogo de Medios con metadatos, peso, resolución y Checksum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Listas y Programación: </a:t>
            </a:r>
            <a:r>
              <a:rPr>
                <a:solidFill>
                  <a:srgbClr val="334155"/>
                </a:solidFill>
              </a:rPr>
              <a:t>Playlists secuenciales asociadas a Reglas Horarias (días, horas de inicio/fin).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y Transacciones: </a:t>
            </a:r>
            <a:r>
              <a:rPr>
                <a:solidFill>
                  <a:srgbClr val="334155"/>
                </a:solidFill>
              </a:rPr>
              <a:t>Normalización 3FN con llaves foráneas estrictas y operaciones ACID que previenen solapamientos.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Roles y Permisos: Tabla usuarios_locaciones para restringir operadores a locaciones asignadas. Administrador con acceso global.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Frontend y Experiencia de Usuario (UI/UX)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Vistas Administrativas: </a:t>
            </a:r>
            <a:r>
              <a:rPr>
                <a:solidFill>
                  <a:srgbClr val="334155"/>
                </a:solidFill>
              </a:rPr>
              <a:t>Desarrolladas con Blade, HTML5/CSS3 y JavaScript responsivo.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Gestor de Pautas Visual: </a:t>
            </a:r>
            <a:r>
              <a:rPr>
                <a:solidFill>
                  <a:srgbClr val="334155"/>
                </a:solidFill>
              </a:rPr>
              <a:t>Visualización gráfica de parrillas horarias para evitar conflictos de programación.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Monitoreo de Telemetría: </a:t>
            </a:r>
            <a:r>
              <a:rPr>
                <a:solidFill>
                  <a:srgbClr val="334155"/>
                </a:solidFill>
              </a:rPr>
              <a:t>Panel de estado de pantallas en vivo con semáforo de conectividad (Online/Offline).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Panel Local de Emergencia: </a:t>
            </a:r>
            <a:r>
              <a:rPr>
                <a:solidFill>
                  <a:srgbClr val="334155"/>
                </a:solidFill>
              </a:rPr>
              <a:t>Interfaz web embebida en el nodo de sitio para control manual in situ sin internet.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Banco de Preguntas Típicas de la Comisión Docente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Defensa de Decisiones Técnicas y Metodológicas de Ingeniería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¿Por qué Laravel y MariaDB vs NoSQL?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Fundamento: El dominio de cartelería digital es estrictamente estructurado (Locaciones &gt; Sectores &gt; Pantallas &gt; Playlists). Las transacciones ACID y llaves foráneas de MariaDB previenen estados inconsistentes y solapamientos que en NoSQL exigirían validaciones manuales complejas.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evitan pantallas en negro en malls?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Arquitectura Cache-First: el reproductor nunca hace streaming directo. Descarga preventivamente los videos a disco local y verifica SHA-256. Ante caída de red, reproduce localmente y expone un panel web en la intranet para control manual de emergencia.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aseguran terminar en 18 semanas?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Delimitación estricta del alcance: ACE es distribución y programación (se excluye edición de video). Scrum bisemanal con hito crítico en S10 (core API y DB operativo), dejando semanas finales para pruebas de resiliencia y UAT con Lumina.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garantizan aporte equitativo?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Fundamento: Distribución por dominios técnicos complementarios y corresponsabilidad en persistencia (MariaDB): Tomás (Arquitectura, Backend y BD), Matías (Gestión Ágil, Vinculación con Cliente y BD) y Paulo (Frontend, UI/UX y Documentación Técnica). Trazabilidad auditable mediante Pull Requests cruzados en GitHub.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069080"/>
            <a:ext cx="51206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Plan de Trabajo y Carta Gantt — 18 Semanas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Ruta Crítica e Hitos Evaluativos Académicos (PTY4614)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1: Definición (S1-S4)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S1-S2: </a:t>
            </a:r>
            <a:r>
              <a:rPr>
                <a:solidFill>
                  <a:srgbClr val="334155"/>
                </a:solidFill>
              </a:rPr>
              <a:t>Constitución y diagnóstico en terreno con Lumina.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S3: </a:t>
            </a:r>
            <a:r>
              <a:rPr>
                <a:solidFill>
                  <a:srgbClr val="334155"/>
                </a:solidFill>
              </a:rPr>
              <a:t>Stack tecnológico y formalización de objetivos.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S4 [HITO 1]: </a:t>
            </a:r>
            <a:r>
              <a:rPr>
                <a:solidFill>
                  <a:srgbClr val="334155"/>
                </a:solidFill>
              </a:rPr>
              <a:t>Entrega Informe Fase 1 y Exposición Grupal.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3774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2: Core (S5-S10)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S5-S6: </a:t>
            </a:r>
            <a:r>
              <a:rPr>
                <a:solidFill>
                  <a:srgbClr val="334155"/>
                </a:solidFill>
              </a:rPr>
              <a:t>Modelado MariaDB y migraciones Laravel.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S7-S8: </a:t>
            </a:r>
            <a:r>
              <a:rPr>
                <a:solidFill>
                  <a:srgbClr val="334155"/>
                </a:solidFill>
              </a:rPr>
              <a:t>API RESTful, Auth JWT y carga con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S9-S10 [HITO 2]: </a:t>
            </a:r>
            <a:r>
              <a:rPr>
                <a:solidFill>
                  <a:srgbClr val="334155"/>
                </a:solidFill>
              </a:rPr>
              <a:t>Playlists, UI de pautas y Demo Funcional.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691640"/>
            <a:ext cx="23774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3: Resiliencia (S11-S15)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S11-S12: </a:t>
            </a:r>
            <a:r>
              <a:rPr>
                <a:solidFill>
                  <a:srgbClr val="334155"/>
                </a:solidFill>
              </a:rPr>
              <a:t>Servidor WebSockets y Player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S13-S14: </a:t>
            </a:r>
            <a:r>
              <a:rPr>
                <a:solidFill>
                  <a:srgbClr val="334155"/>
                </a:solidFill>
              </a:rPr>
              <a:t>Módulo Fail-Safe y panel web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S15 [HITO 3]: </a:t>
            </a:r>
            <a:r>
              <a:rPr>
                <a:solidFill>
                  <a:srgbClr val="334155"/>
                </a:solidFill>
              </a:rPr>
              <a:t>Entrega software consolidado y manuales.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23774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4: Cierre (S16-S18)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S16: </a:t>
            </a:r>
            <a:r>
              <a:rPr>
                <a:solidFill>
                  <a:srgbClr val="334155"/>
                </a:solidFill>
              </a:rPr>
              <a:t>Pruebas UAT en terreno con Cristóbal Manzo.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S17 [HITO 4]: </a:t>
            </a:r>
            <a:r>
              <a:rPr>
                <a:solidFill>
                  <a:srgbClr val="334155"/>
                </a:solidFill>
              </a:rPr>
              <a:t>Ensayo y Defensa Presencial (Sesión 1).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S18 [HITO 4]: </a:t>
            </a:r>
            <a:r>
              <a:rPr>
                <a:solidFill>
                  <a:srgbClr val="334155"/>
                </a:solidFill>
              </a:rPr>
              <a:t>Defensa Final de Titulación y Cierre de Actas.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1691640"/>
            <a:ext cx="23774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Evidencias del Proyecto y Conclusión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Acreditación Rigurosa e Integración del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Evidencias Objetivas de Acreditación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EVID-01 (Gestión): </a:t>
            </a:r>
            <a:r>
              <a:rPr>
                <a:solidFill>
                  <a:srgbClr val="334155"/>
                </a:solidFill>
              </a:rPr>
              <a:t>Acta de levantamiento y alcance validada por Cristóbal Manzo (Lumina).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EVID-02 (Ingeniería DB): </a:t>
            </a:r>
            <a:r>
              <a:rPr>
                <a:solidFill>
                  <a:srgbClr val="334155"/>
                </a:solidFill>
              </a:rPr>
              <a:t>Diagrama E-R, diccionario de datos y migraciones MariaDB ejecutables.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EVID-03 (Desarrollo): </a:t>
            </a:r>
            <a:r>
              <a:rPr>
                <a:solidFill>
                  <a:srgbClr val="334155"/>
                </a:solidFill>
              </a:rPr>
              <a:t>Repositorio GitHub con commits trazables y Pull Requests cruzados.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EVID-04 (Servicios): </a:t>
            </a:r>
            <a:r>
              <a:rPr>
                <a:solidFill>
                  <a:srgbClr val="334155"/>
                </a:solidFill>
              </a:rPr>
              <a:t>Colección Postman y especificación interactiva OpenAPI / Swagger.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EVID-05 (Resiliencia): </a:t>
            </a:r>
            <a:r>
              <a:rPr>
                <a:solidFill>
                  <a:srgbClr val="334155"/>
                </a:solidFill>
              </a:rPr>
              <a:t>Matriz y video de prueba de desconexión forzada de red (Fail-Safe).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EVID-06 (Validación): </a:t>
            </a:r>
            <a:r>
              <a:rPr>
                <a:solidFill>
                  <a:srgbClr val="334155"/>
                </a:solidFill>
              </a:rPr>
              <a:t>Acta formal de recepción y pruebas de usuario (UAT) de Lumina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Conclusión y Valor Agregado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Solución Industrial Real: </a:t>
            </a:r>
            <a:r>
              <a:rPr>
                <a:solidFill>
                  <a:srgbClr val="334155"/>
                </a:solidFill>
              </a:rPr>
              <a:t>Resuelve el dolor logístico y los costos de licenciamiento de Lumina Motion.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Autonomía sin Conexión: </a:t>
            </a:r>
            <a:r>
              <a:rPr>
                <a:solidFill>
                  <a:srgbClr val="334155"/>
                </a:solidFill>
              </a:rPr>
              <a:t>Garantía de continuidad operativa ante caídas de internet en eventos masivos.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Integración Formativa: </a:t>
            </a:r>
            <a:r>
              <a:rPr>
                <a:solidFill>
                  <a:srgbClr val="334155"/>
                </a:solidFill>
              </a:rPr>
              <a:t>Articulación plena de las 4 competencias clave del perfil de egreso Duoc UC: Desarrollo Fullstack, Bases de Datos, Arquitectura y Gestión Ágil.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Discurso de Cierre: </a:t>
            </a:r>
            <a:r>
              <a:rPr>
                <a:solidFill>
                  <a:srgbClr val="334155"/>
                </a:solidFill>
              </a:rPr>
              <a:t>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Glosario Técnico Disciplinar Indispensable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Conceptos Clave para la Defensa Individual (Indicador 11 - 10 pts)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Resiliencia Offline / Fail-Safe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Capacidad del nodo reproductor de continuar ejecutando la parrilla multimedia programada utilizando almacenamiento local cuando se interrumpe la conexión a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Integridad Criptográfica (SHA-256)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Mecanismo de validación por hash que garantiza que los archivos de video descargados en el reproductor no sufrieron corrupción durante la transferencia de red antes de ser emitidos.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Persistencia ACID (MariaDB)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Garantía de atomicidad, consistencia, aislamiento y durabilidad en operaciones relacionales que controlan la planificación horaria sin solapamientos.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4. Protocolo Dual (API &amp; WebSockets)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HTTP REST sin estado para administración CRUD y WebSockets para telemetría bidireccional (heartbeats) y control inmediato de pantallas.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406908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5. Arquitectura Desacoplada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Definición: Separación física y lógica entre la capa de administración centralizada en la nube y los nodos ejecutores autónomos desplegados en locaciones fijas (NUCs).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6908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5912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Prototipos Visuales de Interfaz (Mockups Figma)</a:t>
            </a:r>
          </a:p>
          <a:p>
            <a:pPr>
              <a:defRPr sz="1300">
                <a:solidFill>
                  <a:srgbClr val="646464"/>
                </a:solidFill>
              </a:defRPr>
            </a:pPr>
            <a:r>
              <a:t>Diseño UI/UX del Panel Administrativo Centralizado y Monitoreo de Pantallas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0" y="640080"/>
            <a:ext cx="2313432" cy="411480"/>
          </a:xfrm>
          <a:prstGeom prst="roundRect">
            <a:avLst/>
          </a:prstGeom>
          <a:solidFill>
            <a:srgbClr val="F0F3F6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3366"/>
                </a:solidFill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3366"/>
                </a:solidFill>
              </a:defRPr>
            </a:pPr>
            <a:r>
              <a:t>Componentes de Interfaz UI/UX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1. Monitoreo NUC en Vivo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Panel de pantallas con semáforo de conectividad (Online / Offline) y última comunicación.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2. Catálogo de Medios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Carga de videos MP4/imágenes, cálculo SHA-256 automático y metadatos de peso/resolución.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3. Parrilla de Horarios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Timeline visual para programar listas de reproducción por locación y sector sin solapamientos.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4. Vistas por Rol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Acceso global para Administrador y vistas restringidas a locaciones asignadas para Operador.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7068312" cy="4389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03366"/>
                </a:solidFill>
              </a:defRPr>
            </a:pPr>
            <a:br/>
            <a:br/>
            <a:br/>
            <a:r>
              <a:t>🖼️ [ESPACIO RESERVADO PARA WIREFRAME / MOCKUP DE FIGMA]</a:t>
            </a:r>
          </a:p>
          <a:p>
            <a:pPr algn="ctr">
              <a:defRPr sz="1100">
                <a:solidFill>
                  <a:srgbClr val="6E7882"/>
                </a:solidFill>
              </a:defRPr>
            </a:pPr>
            <a:br/>
            <a:r>
              <a:t>Pegue o inserte aquí la captura de pantalla del prototipo de alta fidelidad diseñado en Figma.</a:t>
            </a:r>
            <a:br/>
            <a:r>
              <a:t>(Panel Web Reactivo Blade • Parrilla de Programación • Telemetría NUC en Vivo)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